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Owner-confirmed vision, 19 October 2026: financial inclusion is the main purpose. Turn routine small-business activity into a structured financial history that helps owners operate and, with consent, supports conversations with financial institutions. Global product vision does not assert global availability or lender endorsement.</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Problem framing from the original owner concept and supplied voice note. These are the product problems GreenBiz intends to address, not quantified market findings.</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audiences and ecosystem participants come from the original product specification. Specific bank and insurer relationships are a future commercial requirement, not a current partnership claim.</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Editable concept diagram. The final financial-access stage describes the intended outcome. Lenders assess applications independently. The app score is a business indicator and does not verify income or guarantee approval.</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 device operation needs no owner-operated business server. AI requires an internet connection to the managed service. Optional accounts and cloud portals have separate service requirements. Physical-device experience remains to be tested.</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Version 2.1 restores Stock at a glance, direct Sell actions, out-of-stock labels and product quick-restock controls. Existing measured-goods and AI photo-review workflows remain. AI suggestions require review before saving.</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Current implementation uses a minimum tolerance of 1 in its configured base currency. This slide describes the rule without implying that every currency is already supported. Refresh, look back up to 30 days, payment-method selection and manual fallback are available. SMS matching is evidence from a device message, not authoritative payment-provider verification.</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Live SMS, notification delivery and lock-screen behavior still require physical-device testing. The implementation hides payment amounts on the lock screen. The owner can defer sale creation and keep the payment in Payments.</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Illustrative example, not a real transaction. A linked sale and receipt must not double-count business income. Current credit-profile calculations exclude personal and foreign-currency records. Payment detail includes method, classification and transaction reference. Raw message text is available before import only.</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Version 2.1 reporting adds the restored period presets, average sale, best day/week/month, top method and payer, comparisons and a period payment list showing the newest 20 entries. Existing 7/30-day and custom ranges remain. Calendar and currency localization are future expansion work.</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Weights sum to 100%: consistency 30%, volume 25%, stability 25%, activity 20%. The 2.1 merchant profile uses 90 days of eligible business records and counts linked payments once. This is an app-generated indicator based on recorded activity, not a bureau score or lender approval. A separate legacy portal indicator remains in the app but does not define the merchant profile presented here.</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current catalogue covers one initial market and is not global lender coverage. Terms were last checked 18 October 2026 according to the supplied feature document. Affordability uses a 50%-of-recorded-revenue heuristic. Rankings are High priority, Good fit and Stretch. These are estimates, not personalized underwriting, approved offers or verified eligibility. Live bank and insurer partnerships remain outside the current release claim.</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Managed AI holds the owner-funded provider key outside the app. Selected photos or sale text are sent for their chosen task. Advice uses aggregate information, profile score and borrowing estimates. An Insurance topic is advice only, not an insurance policy, quote or insurer integration. Core manual tools remain usable when AI is unavailable.</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Android SMS parsing uses an allowlist of supported senders and message formats. Additional methods and formats in 2.1 include another supported mobile wallet and Other. Raw SMS bodies are neither saved with payment records nor synced. Optional cloud mode and bank-sharing tools require their own operated services. The current app does not contact the old developer service.</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 optional shop web dashboard, customer invoice page and consent-based bank portal reflect the original product concept. Portal code is available but the optional business portal is not publicly deployed according to supplied validation. A working portal workflow does not establish a bank partnership or authoritative payment-provider connection.</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separates a reusable global product concept from work that remains for market rollout. Version 2.1 does not establish multi-currency accounting, universal SMS coverage, global lending, fully localized calendars, regulator approval or production lender integrations. These are expansion requirements, not shipped capabilities.</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Test counts come from the supplied 2.1 validation, not a new app test run for this presentation. Valid browser run used isolated new ports. The initial run against an older app was invalid and is excluded. Physical-phone live SMS, notifications, voice and camera checks are not complete. Version 2.1 release/AAB signing and Android lint were not performed. Optional portals are not publicly deployed. This is not a Play Store production-release claim.</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Closing restatement of the product ambition. Version 2.1 provides core recordkeeping and decision-support workflows. Financial-service access depends on owner consent, suitable partners and market-specific implementation.</a:t>
            </a:r>
          </a:p>
          <a:p>
            <a:endParaRPr lang="en-US"/>
          </a:p>
          <a:p>
            <a:r>
              <a:rPr lang="en-US"/>
              <a:t>Sources: user-supplied GreenBiz 2.1 change notes, 19 October 2026; App-Website/docs/FEATURES-2.1.md; App-Website/docs/VALIDATION.md (2.1 appendix). Global framing follows the stated product direction.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3352FAF-A17B-415C-965A-573D8C80228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B4420E67-E83B-42F8-9D57-4B40720248A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45835E50-20B4-40DC-8B8E-80E4885B6878}"/>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887E567-C658-41A1-B5CE-84A889C3C56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D1180F5B-4342-49F6-852E-6046673D62E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C276D6C-C04C-44C3-8032-9AC877B7AA4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2ABB41A-5D63-4571-BD5F-42E5BB1E431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D4ABE693-BD4A-4395-B6B3-358F85B0F607}"/>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CDEDEFA-7922-41C8-A61A-D65F225F6C2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0FB0307-6CF4-4B7F-9D43-B733F69F633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0B3935"/>
            </a:gs>
          </a:gsLst>
          <a:lin ang="5400000" scaled="1"/>
          <a:tileRect/>
        </a:gradFill>
        <a:effectLst/>
      </p:bgPr>
    </p:bg>
    <p:spTree>
      <p:nvGrpSpPr>
        <p:cNvPr id="1" name=""/>
        <p:cNvGrpSpPr/>
        <p:nvPr/>
      </p:nvGrpSpPr>
      <p:grpSpPr>
        <a:xfrm>
          <a:off x="0" y="0"/>
          <a:ext cx="0" cy="0"/>
          <a:chOff x="0" y="0"/>
          <a:chExt cx="0" cy="0"/>
        </a:xfrm>
      </p:grpSpPr>
      <p:sp>
        <p:nvSpPr>
          <p:cNvPr id="10" name="Text GreenBiz">
            <a:extLst>
              <a:ext uri="{FF2B5EF4-FFF2-40B4-BE49-F238E27FC236}">
                <a16:creationId xmlns:a16="http://schemas.microsoft.com/office/drawing/2014/main" id="{5B3DF197-EC5B-2486-ACEB-555912F16F0A}"/>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11" name="Text 01 / 18">
            <a:extLst>
              <a:ext uri="{FF2B5EF4-FFF2-40B4-BE49-F238E27FC236}">
                <a16:creationId xmlns:a16="http://schemas.microsoft.com/office/drawing/2014/main" id="{FBF85647-5CCD-83BF-2FAF-759D74DB3873}"/>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01 / 18</a:t>
            </a:r>
          </a:p>
        </p:txBody>
      </p:sp>
      <p:sp>
        <p:nvSpPr>
          <p:cNvPr id="12" name="Text GreenBiz">
            <a:extLst>
              <a:ext uri="{FF2B5EF4-FFF2-40B4-BE49-F238E27FC236}">
                <a16:creationId xmlns:a16="http://schemas.microsoft.com/office/drawing/2014/main" id="{9F3081E8-7404-DB80-A830-44CE497E3DEB}"/>
              </a:ext>
            </a:extLst>
          </p:cNvPr>
          <p:cNvSpPr txBox="1"/>
          <p:nvPr/>
        </p:nvSpPr>
        <p:spPr>
          <a:xfrm>
            <a:off x="736600" y="1168400"/>
            <a:ext cx="10541000" cy="1524000"/>
          </a:xfrm>
          <a:prstGeom prst="rect">
            <a:avLst/>
          </a:prstGeom>
          <a:noFill/>
        </p:spPr>
        <p:txBody>
          <a:bodyPr vert="horz" wrap="square" lIns="0" tIns="0" rIns="0" bIns="0" rtlCol="0">
            <a:noAutofit/>
          </a:bodyPr>
          <a:lstStyle/>
          <a:p>
            <a:r>
              <a:rPr lang="en-US" sz="8200" b="1">
                <a:solidFill>
                  <a:srgbClr val="F4F8FC"/>
                </a:solidFill>
                <a:latin typeface="Segoe UI" panose="020B0502040204020203" pitchFamily="34" charset="0"/>
              </a:rPr>
              <a:t>GreenBiz</a:t>
            </a:r>
          </a:p>
        </p:txBody>
      </p:sp>
      <p:sp>
        <p:nvSpPr>
          <p:cNvPr id="13" name="Text Financial inclusion&#10;for small businesses">
            <a:extLst>
              <a:ext uri="{FF2B5EF4-FFF2-40B4-BE49-F238E27FC236}">
                <a16:creationId xmlns:a16="http://schemas.microsoft.com/office/drawing/2014/main" id="{B650B22B-DAAF-6030-1A9B-CF5D785B1B27}"/>
              </a:ext>
            </a:extLst>
          </p:cNvPr>
          <p:cNvSpPr txBox="1"/>
          <p:nvPr/>
        </p:nvSpPr>
        <p:spPr>
          <a:xfrm>
            <a:off x="787400" y="3035300"/>
            <a:ext cx="10541000" cy="1905000"/>
          </a:xfrm>
          <a:prstGeom prst="rect">
            <a:avLst/>
          </a:prstGeom>
          <a:noFill/>
        </p:spPr>
        <p:txBody>
          <a:bodyPr vert="horz" wrap="square" lIns="0" tIns="0" rIns="0" bIns="0" rtlCol="0">
            <a:noAutofit/>
          </a:bodyPr>
          <a:lstStyle/>
          <a:p>
            <a:r>
              <a:rPr lang="en-US" sz="4300" b="1">
                <a:solidFill>
                  <a:srgbClr val="4EE6C0"/>
                </a:solidFill>
                <a:latin typeface="Segoe UI" panose="020B0502040204020203" pitchFamily="34" charset="0"/>
              </a:rPr>
              <a:t>Financial inclusion</a:t>
            </a:r>
          </a:p>
          <a:p>
            <a:r>
              <a:rPr lang="en-US" sz="4300" b="1">
                <a:solidFill>
                  <a:srgbClr val="4EE6C0"/>
                </a:solidFill>
                <a:latin typeface="Segoe UI" panose="020B0502040204020203" pitchFamily="34" charset="0"/>
              </a:rPr>
              <a:t>for small businesses</a:t>
            </a:r>
          </a:p>
        </p:txBody>
      </p:sp>
      <p:sp>
        <p:nvSpPr>
          <p:cNvPr id="14" name="Text Everyday records build a financial history. G">
            <a:extLst>
              <a:ext uri="{FF2B5EF4-FFF2-40B4-BE49-F238E27FC236}">
                <a16:creationId xmlns:a16="http://schemas.microsoft.com/office/drawing/2014/main" id="{641A2E7A-66F0-35B4-19F5-1D6AA7AE4481}"/>
              </a:ext>
            </a:extLst>
          </p:cNvPr>
          <p:cNvSpPr txBox="1"/>
          <p:nvPr/>
        </p:nvSpPr>
        <p:spPr>
          <a:xfrm>
            <a:off x="812800" y="5461000"/>
            <a:ext cx="10414000" cy="825500"/>
          </a:xfrm>
          <a:prstGeom prst="rect">
            <a:avLst/>
          </a:prstGeom>
          <a:noFill/>
        </p:spPr>
        <p:txBody>
          <a:bodyPr vert="horz" wrap="square" lIns="0" tIns="0" rIns="0" bIns="0" rtlCol="0">
            <a:noAutofit/>
          </a:bodyPr>
          <a:lstStyle/>
          <a:p>
            <a:r>
              <a:rPr lang="en-US" sz="2200">
                <a:solidFill>
                  <a:srgbClr val="C2D3DE"/>
                </a:solidFill>
                <a:latin typeface="Segoe UI" panose="020B0502040204020203" pitchFamily="34" charset="0"/>
              </a:rPr>
              <a:t>Everyday records build a financial history. Global vision, version 2.1.</a:t>
            </a:r>
          </a:p>
        </p:txBody>
      </p:sp>
    </p:spTree>
    <p:extLst>
      <p:ext uri="{BB962C8B-B14F-4D97-AF65-F5344CB8AC3E}">
        <p14:creationId xmlns:p14="http://schemas.microsoft.com/office/powerpoint/2010/main" val="15615222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800"/>
                                        <p:tgtEl>
                                          <p:spTgt spid="12"/>
                                        </p:tgtEl>
                                      </p:cBhvr>
                                    </p:animEffect>
                                    <p:animScale>
                                      <p:cBhvr>
                                        <p:cTn id="8" dur="800" fill="hold">
                                          <p:stCondLst>
                                            <p:cond delay="0"/>
                                          </p:stCondLst>
                                        </p:cTn>
                                        <p:tgtEl>
                                          <p:spTgt spid="12"/>
                                        </p:tgtEl>
                                      </p:cBhvr>
                                      <p:from x="96000" y="96000"/>
                                      <p:to x="100000" y="100000"/>
                                    </p:animScale>
                                  </p:childTnLst>
                                </p:cTn>
                              </p:par>
                            </p:childTnLst>
                          </p:cTn>
                        </p:par>
                      </p:childTnLst>
                    </p:cTn>
                  </p:par>
                  <p:par>
                    <p:cTn id="9" fill="hold">
                      <p:stCondLst>
                        <p:cond delay="indefinite"/>
                      </p:stCondLst>
                      <p:childTnLst>
                        <p:par>
                          <p:cTn id="10" fill="hold">
                            <p:stCondLst>
                              <p:cond delay="0"/>
                            </p:stCondLst>
                            <p:childTnLst>
                              <p:par>
                                <p:cTn id="11" presetID="42" presetClass="entr" presetSubtype="0" accel="15000" decel="2500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600"/>
                                        <p:tgtEl>
                                          <p:spTgt spid="13"/>
                                        </p:tgtEl>
                                      </p:cBhvr>
                                    </p:animEffect>
                                    <p:anim calcmode="lin" valueType="num">
                                      <p:cBhvr>
                                        <p:cTn id="14" dur="600" fill="hold"/>
                                        <p:tgtEl>
                                          <p:spTgt spid="13"/>
                                        </p:tgtEl>
                                        <p:attrNameLst>
                                          <p:attrName>ppt_x</p:attrName>
                                        </p:attrNameLst>
                                      </p:cBhvr>
                                      <p:tavLst>
                                        <p:tav tm="0">
                                          <p:val>
                                            <p:strVal val="#ppt_x"/>
                                          </p:val>
                                        </p:tav>
                                        <p:tav tm="100000">
                                          <p:val>
                                            <p:strVal val="#ppt_x"/>
                                          </p:val>
                                        </p:tav>
                                      </p:tavLst>
                                    </p:anim>
                                    <p:anim calcmode="lin" valueType="num">
                                      <p:cBhvr>
                                        <p:cTn id="15" dur="6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accel="15000" decel="2500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3" name="Text The missing business history">
            <a:extLst>
              <a:ext uri="{FF2B5EF4-FFF2-40B4-BE49-F238E27FC236}">
                <a16:creationId xmlns:a16="http://schemas.microsoft.com/office/drawing/2014/main" id="{FB1C65A8-C489-41CA-A869-4C876AD68139}"/>
              </a:ext>
            </a:extLst>
          </p:cNvPr>
          <p:cNvSpPr txBox="1"/>
          <p:nvPr/>
        </p:nvSpPr>
        <p:spPr>
          <a:xfrm>
            <a:off x="609600" y="419100"/>
            <a:ext cx="10972800" cy="1092200"/>
          </a:xfrm>
          <a:prstGeom prst="rect">
            <a:avLst/>
          </a:prstGeom>
          <a:noFill/>
        </p:spPr>
        <p:txBody>
          <a:bodyPr vert="horz" wrap="square" lIns="0" tIns="0" rIns="0" bIns="0" rtlCol="0">
            <a:noAutofit/>
          </a:bodyPr>
          <a:lstStyle/>
          <a:p>
            <a:r>
              <a:rPr lang="en-US" sz="3400" b="1">
                <a:solidFill>
                  <a:srgbClr val="F4F8FC"/>
                </a:solidFill>
                <a:latin typeface="Segoe UI" panose="020B0502040204020203" pitchFamily="34" charset="0"/>
              </a:rPr>
              <a:t>The missing business history</a:t>
            </a:r>
          </a:p>
        </p:txBody>
      </p:sp>
      <p:sp>
        <p:nvSpPr>
          <p:cNvPr id="14" name="Text GreenBiz">
            <a:extLst>
              <a:ext uri="{FF2B5EF4-FFF2-40B4-BE49-F238E27FC236}">
                <a16:creationId xmlns:a16="http://schemas.microsoft.com/office/drawing/2014/main" id="{C054E6B3-015E-AC99-4197-3D895F946415}"/>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15" name="Text 02 / 18">
            <a:extLst>
              <a:ext uri="{FF2B5EF4-FFF2-40B4-BE49-F238E27FC236}">
                <a16:creationId xmlns:a16="http://schemas.microsoft.com/office/drawing/2014/main" id="{8B940046-5C5A-15C4-5E03-DE76A16AE848}"/>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02 / 18</a:t>
            </a:r>
          </a:p>
        </p:txBody>
      </p:sp>
      <p:sp>
        <p:nvSpPr>
          <p:cNvPr id="16" name="Text A business can be active&#10;while its history st">
            <a:extLst>
              <a:ext uri="{FF2B5EF4-FFF2-40B4-BE49-F238E27FC236}">
                <a16:creationId xmlns:a16="http://schemas.microsoft.com/office/drawing/2014/main" id="{9AC5B56F-4F4F-AEDB-561A-BCA71754B7FF}"/>
              </a:ext>
            </a:extLst>
          </p:cNvPr>
          <p:cNvSpPr txBox="1"/>
          <p:nvPr/>
        </p:nvSpPr>
        <p:spPr>
          <a:xfrm>
            <a:off x="609600" y="1892300"/>
            <a:ext cx="10541000" cy="1778000"/>
          </a:xfrm>
          <a:prstGeom prst="rect">
            <a:avLst/>
          </a:prstGeom>
          <a:noFill/>
        </p:spPr>
        <p:txBody>
          <a:bodyPr vert="horz" wrap="square" lIns="0" tIns="0" rIns="0" bIns="0" rtlCol="0">
            <a:noAutofit/>
          </a:bodyPr>
          <a:lstStyle/>
          <a:p>
            <a:r>
              <a:rPr lang="en-US" sz="4400" b="1">
                <a:solidFill>
                  <a:srgbClr val="F4F8FC"/>
                </a:solidFill>
                <a:latin typeface="Segoe UI" panose="020B0502040204020203" pitchFamily="34" charset="0"/>
              </a:rPr>
              <a:t>A business can be active</a:t>
            </a:r>
          </a:p>
          <a:p>
            <a:r>
              <a:rPr lang="en-US" sz="4400" b="1">
                <a:solidFill>
                  <a:srgbClr val="F4F8FC"/>
                </a:solidFill>
                <a:latin typeface="Segoe UI" panose="020B0502040204020203" pitchFamily="34" charset="0"/>
              </a:rPr>
              <a:t>while its history stays invisible.</a:t>
            </a:r>
          </a:p>
        </p:txBody>
      </p:sp>
      <p:sp>
        <p:nvSpPr>
          <p:cNvPr id="17" name="Text Scattered records">
            <a:extLst>
              <a:ext uri="{FF2B5EF4-FFF2-40B4-BE49-F238E27FC236}">
                <a16:creationId xmlns:a16="http://schemas.microsoft.com/office/drawing/2014/main" id="{C89A5B5A-E5FC-E05D-D473-9F4A5F3F2463}"/>
              </a:ext>
            </a:extLst>
          </p:cNvPr>
          <p:cNvSpPr txBox="1"/>
          <p:nvPr/>
        </p:nvSpPr>
        <p:spPr>
          <a:xfrm>
            <a:off x="609600" y="4229100"/>
            <a:ext cx="3390900" cy="571500"/>
          </a:xfrm>
          <a:prstGeom prst="rect">
            <a:avLst/>
          </a:prstGeom>
          <a:noFill/>
        </p:spPr>
        <p:txBody>
          <a:bodyPr vert="horz" wrap="square" lIns="0" tIns="0" rIns="0" bIns="0" rtlCol="0">
            <a:noAutofit/>
          </a:bodyPr>
          <a:lstStyle/>
          <a:p>
            <a:r>
              <a:rPr lang="en-US" sz="2700" b="1">
                <a:solidFill>
                  <a:srgbClr val="4EE6C0"/>
                </a:solidFill>
                <a:latin typeface="Segoe UI" panose="020B0502040204020203" pitchFamily="34" charset="0"/>
              </a:rPr>
              <a:t>Scattered records</a:t>
            </a:r>
          </a:p>
        </p:txBody>
      </p:sp>
      <p:sp>
        <p:nvSpPr>
          <p:cNvPr id="18" name="Text Sales and payment messages live in different ">
            <a:extLst>
              <a:ext uri="{FF2B5EF4-FFF2-40B4-BE49-F238E27FC236}">
                <a16:creationId xmlns:a16="http://schemas.microsoft.com/office/drawing/2014/main" id="{277ED897-AD34-BFFC-2352-D0B3121DC166}"/>
              </a:ext>
            </a:extLst>
          </p:cNvPr>
          <p:cNvSpPr txBox="1"/>
          <p:nvPr/>
        </p:nvSpPr>
        <p:spPr>
          <a:xfrm>
            <a:off x="609600" y="4864100"/>
            <a:ext cx="3390900" cy="13970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Sales and payment messages live in different places.</a:t>
            </a:r>
          </a:p>
        </p:txBody>
      </p:sp>
      <p:sp>
        <p:nvSpPr>
          <p:cNvPr id="19" name="Text Mixed money">
            <a:extLst>
              <a:ext uri="{FF2B5EF4-FFF2-40B4-BE49-F238E27FC236}">
                <a16:creationId xmlns:a16="http://schemas.microsoft.com/office/drawing/2014/main" id="{71899BE5-D943-F70D-B766-7878D1D40DD3}"/>
              </a:ext>
            </a:extLst>
          </p:cNvPr>
          <p:cNvSpPr txBox="1"/>
          <p:nvPr/>
        </p:nvSpPr>
        <p:spPr>
          <a:xfrm>
            <a:off x="4356100" y="4229100"/>
            <a:ext cx="3390900" cy="571500"/>
          </a:xfrm>
          <a:prstGeom prst="rect">
            <a:avLst/>
          </a:prstGeom>
          <a:noFill/>
        </p:spPr>
        <p:txBody>
          <a:bodyPr vert="horz" wrap="square" lIns="0" tIns="0" rIns="0" bIns="0" rtlCol="0">
            <a:noAutofit/>
          </a:bodyPr>
          <a:lstStyle/>
          <a:p>
            <a:r>
              <a:rPr lang="en-US" sz="2700" b="1">
                <a:solidFill>
                  <a:srgbClr val="4EE6C0"/>
                </a:solidFill>
                <a:latin typeface="Segoe UI" panose="020B0502040204020203" pitchFamily="34" charset="0"/>
              </a:rPr>
              <a:t>Mixed money</a:t>
            </a:r>
          </a:p>
        </p:txBody>
      </p:sp>
      <p:sp>
        <p:nvSpPr>
          <p:cNvPr id="20" name="Text Personal and business transactions overlap.">
            <a:extLst>
              <a:ext uri="{FF2B5EF4-FFF2-40B4-BE49-F238E27FC236}">
                <a16:creationId xmlns:a16="http://schemas.microsoft.com/office/drawing/2014/main" id="{A3745156-1715-B55F-D1F3-49F5A5C8974F}"/>
              </a:ext>
            </a:extLst>
          </p:cNvPr>
          <p:cNvSpPr txBox="1"/>
          <p:nvPr/>
        </p:nvSpPr>
        <p:spPr>
          <a:xfrm>
            <a:off x="4356100" y="4864100"/>
            <a:ext cx="3390900" cy="13970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Personal and business transactions overlap.</a:t>
            </a:r>
          </a:p>
        </p:txBody>
      </p:sp>
      <p:sp>
        <p:nvSpPr>
          <p:cNvPr id="21" name="Text Limited evidence">
            <a:extLst>
              <a:ext uri="{FF2B5EF4-FFF2-40B4-BE49-F238E27FC236}">
                <a16:creationId xmlns:a16="http://schemas.microsoft.com/office/drawing/2014/main" id="{7FF5C15B-3159-7272-2928-F836AC0028E0}"/>
              </a:ext>
            </a:extLst>
          </p:cNvPr>
          <p:cNvSpPr txBox="1"/>
          <p:nvPr/>
        </p:nvSpPr>
        <p:spPr>
          <a:xfrm>
            <a:off x="8102600" y="4229100"/>
            <a:ext cx="3390900" cy="571500"/>
          </a:xfrm>
          <a:prstGeom prst="rect">
            <a:avLst/>
          </a:prstGeom>
          <a:noFill/>
        </p:spPr>
        <p:txBody>
          <a:bodyPr vert="horz" wrap="square" lIns="0" tIns="0" rIns="0" bIns="0" rtlCol="0">
            <a:noAutofit/>
          </a:bodyPr>
          <a:lstStyle/>
          <a:p>
            <a:r>
              <a:rPr lang="en-US" sz="2700" b="1">
                <a:solidFill>
                  <a:srgbClr val="4EE6C0"/>
                </a:solidFill>
                <a:latin typeface="Segoe UI" panose="020B0502040204020203" pitchFamily="34" charset="0"/>
              </a:rPr>
              <a:t>Limited evidence</a:t>
            </a:r>
          </a:p>
        </p:txBody>
      </p:sp>
      <p:sp>
        <p:nvSpPr>
          <p:cNvPr id="22" name="Text Owners struggle to explain their business con">
            <a:extLst>
              <a:ext uri="{FF2B5EF4-FFF2-40B4-BE49-F238E27FC236}">
                <a16:creationId xmlns:a16="http://schemas.microsoft.com/office/drawing/2014/main" id="{FC9C567F-C2BE-9891-255F-9B475287F1BC}"/>
              </a:ext>
            </a:extLst>
          </p:cNvPr>
          <p:cNvSpPr txBox="1"/>
          <p:nvPr/>
        </p:nvSpPr>
        <p:spPr>
          <a:xfrm>
            <a:off x="8102600" y="4864100"/>
            <a:ext cx="3390900" cy="13970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Owners struggle to explain their business consistently.</a:t>
            </a:r>
          </a:p>
        </p:txBody>
      </p:sp>
    </p:spTree>
    <p:extLst>
      <p:ext uri="{BB962C8B-B14F-4D97-AF65-F5344CB8AC3E}">
        <p14:creationId xmlns:p14="http://schemas.microsoft.com/office/powerpoint/2010/main" val="16631686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600"/>
                                        <p:tgtEl>
                                          <p:spTgt spid="16"/>
                                        </p:tgtEl>
                                      </p:cBhvr>
                                    </p:animEffect>
                                    <p:anim calcmode="lin" valueType="num">
                                      <p:cBhvr>
                                        <p:cTn id="13" dur="600" fill="hold"/>
                                        <p:tgtEl>
                                          <p:spTgt spid="16"/>
                                        </p:tgtEl>
                                        <p:attrNameLst>
                                          <p:attrName>ppt_x</p:attrName>
                                        </p:attrNameLst>
                                      </p:cBhvr>
                                      <p:tavLst>
                                        <p:tav tm="0">
                                          <p:val>
                                            <p:strVal val="#ppt_x"/>
                                          </p:val>
                                        </p:tav>
                                        <p:tav tm="100000">
                                          <p:val>
                                            <p:strVal val="#ppt_x"/>
                                          </p:val>
                                        </p:tav>
                                      </p:tavLst>
                                    </p:anim>
                                    <p:anim calcmode="lin" valueType="num">
                                      <p:cBhvr>
                                        <p:cTn id="14" dur="6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accel="15000" decel="2500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600"/>
                                        <p:tgtEl>
                                          <p:spTgt spid="17"/>
                                        </p:tgtEl>
                                      </p:cBhvr>
                                    </p:animEffect>
                                  </p:childTnLst>
                                </p:cTn>
                              </p:par>
                              <p:par>
                                <p:cTn id="20" presetID="10" presetClass="entr" presetSubtype="0" accel="15000" decel="25000" fill="hold" grpId="0" nodeType="withEffect">
                                  <p:stCondLst>
                                    <p:cond delay="65"/>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6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accel="15000" decel="2500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600"/>
                                        <p:tgtEl>
                                          <p:spTgt spid="19"/>
                                        </p:tgtEl>
                                      </p:cBhvr>
                                    </p:animEffect>
                                  </p:childTnLst>
                                </p:cTn>
                              </p:par>
                              <p:par>
                                <p:cTn id="28" presetID="10" presetClass="entr" presetSubtype="0" accel="15000" decel="25000" fill="hold" grpId="0" nodeType="withEffect">
                                  <p:stCondLst>
                                    <p:cond delay="65"/>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6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accel="15000" decel="2500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600"/>
                                        <p:tgtEl>
                                          <p:spTgt spid="21"/>
                                        </p:tgtEl>
                                      </p:cBhvr>
                                    </p:animEffect>
                                  </p:childTnLst>
                                </p:cTn>
                              </p:par>
                              <p:par>
                                <p:cTn id="36" presetID="10" presetClass="entr" presetSubtype="0" accel="15000" decel="25000" fill="hold" grpId="0" nodeType="withEffect">
                                  <p:stCondLst>
                                    <p:cond delay="65"/>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18" grpId="0"/>
      <p:bldP spid="19" grpId="0"/>
      <p:bldP spid="20" grpId="0"/>
      <p:bldP spid="21" grpId="0"/>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20" name="Text Who GreenBiz serves">
            <a:extLst>
              <a:ext uri="{FF2B5EF4-FFF2-40B4-BE49-F238E27FC236}">
                <a16:creationId xmlns:a16="http://schemas.microsoft.com/office/drawing/2014/main" id="{2F0872AF-4EBA-F636-D770-0FCB5D39A7B1}"/>
              </a:ext>
            </a:extLst>
          </p:cNvPr>
          <p:cNvSpPr txBox="1"/>
          <p:nvPr/>
        </p:nvSpPr>
        <p:spPr>
          <a:xfrm>
            <a:off x="609600" y="419100"/>
            <a:ext cx="10972800" cy="1092200"/>
          </a:xfrm>
          <a:prstGeom prst="rect">
            <a:avLst/>
          </a:prstGeom>
          <a:noFill/>
        </p:spPr>
        <p:txBody>
          <a:bodyPr vert="horz" wrap="square" lIns="0" tIns="0" rIns="0" bIns="0" rtlCol="0">
            <a:noAutofit/>
          </a:bodyPr>
          <a:lstStyle/>
          <a:p>
            <a:r>
              <a:rPr lang="en-US" sz="3400" b="1">
                <a:solidFill>
                  <a:srgbClr val="F4F8FC"/>
                </a:solidFill>
                <a:latin typeface="Segoe UI" panose="020B0502040204020203" pitchFamily="34" charset="0"/>
              </a:rPr>
              <a:t>Who GreenBiz serves</a:t>
            </a:r>
          </a:p>
        </p:txBody>
      </p:sp>
      <p:sp>
        <p:nvSpPr>
          <p:cNvPr id="21" name="Text GreenBiz">
            <a:extLst>
              <a:ext uri="{FF2B5EF4-FFF2-40B4-BE49-F238E27FC236}">
                <a16:creationId xmlns:a16="http://schemas.microsoft.com/office/drawing/2014/main" id="{39149163-AD27-AE7E-8E0E-AFB3D4BE1CBF}"/>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22" name="Text 03 / 18">
            <a:extLst>
              <a:ext uri="{FF2B5EF4-FFF2-40B4-BE49-F238E27FC236}">
                <a16:creationId xmlns:a16="http://schemas.microsoft.com/office/drawing/2014/main" id="{F62F0E9A-C297-61F6-6DBD-B1F30D156714}"/>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03 / 18</a:t>
            </a:r>
          </a:p>
        </p:txBody>
      </p:sp>
      <p:sp>
        <p:nvSpPr>
          <p:cNvPr id="23" name="Text Small businesses across physical and online c">
            <a:extLst>
              <a:ext uri="{FF2B5EF4-FFF2-40B4-BE49-F238E27FC236}">
                <a16:creationId xmlns:a16="http://schemas.microsoft.com/office/drawing/2014/main" id="{6519061E-F83F-2596-8B2D-8F6EDA5F08DD}"/>
              </a:ext>
            </a:extLst>
          </p:cNvPr>
          <p:cNvSpPr txBox="1"/>
          <p:nvPr/>
        </p:nvSpPr>
        <p:spPr>
          <a:xfrm>
            <a:off x="609600" y="1803400"/>
            <a:ext cx="10795000" cy="1206500"/>
          </a:xfrm>
          <a:prstGeom prst="rect">
            <a:avLst/>
          </a:prstGeom>
          <a:noFill/>
        </p:spPr>
        <p:txBody>
          <a:bodyPr vert="horz" wrap="square" lIns="0" tIns="0" rIns="0" bIns="0" rtlCol="0">
            <a:noAutofit/>
          </a:bodyPr>
          <a:lstStyle/>
          <a:p>
            <a:r>
              <a:rPr lang="en-US" sz="4000" b="1">
                <a:solidFill>
                  <a:srgbClr val="F4F8FC"/>
                </a:solidFill>
                <a:latin typeface="Segoe UI" panose="020B0502040204020203" pitchFamily="34" charset="0"/>
              </a:rPr>
              <a:t>Small businesses across physical and online commerce</a:t>
            </a:r>
          </a:p>
        </p:txBody>
      </p:sp>
      <p:sp>
        <p:nvSpPr>
          <p:cNvPr id="24" name="Text Shop owners">
            <a:extLst>
              <a:ext uri="{FF2B5EF4-FFF2-40B4-BE49-F238E27FC236}">
                <a16:creationId xmlns:a16="http://schemas.microsoft.com/office/drawing/2014/main" id="{DD09C43A-1A2B-3D33-B71F-0F69653F1941}"/>
              </a:ext>
            </a:extLst>
          </p:cNvPr>
          <p:cNvSpPr txBox="1"/>
          <p:nvPr/>
        </p:nvSpPr>
        <p:spPr>
          <a:xfrm>
            <a:off x="609600" y="3505200"/>
            <a:ext cx="5016500" cy="571500"/>
          </a:xfrm>
          <a:prstGeom prst="rect">
            <a:avLst/>
          </a:prstGeom>
          <a:noFill/>
        </p:spPr>
        <p:txBody>
          <a:bodyPr vert="horz" wrap="square" lIns="0" tIns="0" rIns="0" bIns="0" rtlCol="0">
            <a:noAutofit/>
          </a:bodyPr>
          <a:lstStyle/>
          <a:p>
            <a:r>
              <a:rPr lang="en-US" sz="2700" b="1">
                <a:solidFill>
                  <a:srgbClr val="4EE6C0"/>
                </a:solidFill>
                <a:latin typeface="Segoe UI" panose="020B0502040204020203" pitchFamily="34" charset="0"/>
              </a:rPr>
              <a:t>Shop owners</a:t>
            </a:r>
          </a:p>
        </p:txBody>
      </p:sp>
      <p:sp>
        <p:nvSpPr>
          <p:cNvPr id="25" name="Text Record stock, sales and payments during an or">
            <a:extLst>
              <a:ext uri="{FF2B5EF4-FFF2-40B4-BE49-F238E27FC236}">
                <a16:creationId xmlns:a16="http://schemas.microsoft.com/office/drawing/2014/main" id="{0B4ADEDA-23E4-0F4B-4D5C-CAD291C70157}"/>
              </a:ext>
            </a:extLst>
          </p:cNvPr>
          <p:cNvSpPr txBox="1"/>
          <p:nvPr/>
        </p:nvSpPr>
        <p:spPr>
          <a:xfrm>
            <a:off x="609600" y="4140200"/>
            <a:ext cx="5016500" cy="13335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Record stock, sales and payments during an ordinary working day.</a:t>
            </a:r>
          </a:p>
        </p:txBody>
      </p:sp>
      <p:sp>
        <p:nvSpPr>
          <p:cNvPr id="26" name="Text Social and online sellers">
            <a:extLst>
              <a:ext uri="{FF2B5EF4-FFF2-40B4-BE49-F238E27FC236}">
                <a16:creationId xmlns:a16="http://schemas.microsoft.com/office/drawing/2014/main" id="{0DBAF775-9C59-4D29-1930-6BFFB85AF6DF}"/>
              </a:ext>
            </a:extLst>
          </p:cNvPr>
          <p:cNvSpPr txBox="1"/>
          <p:nvPr/>
        </p:nvSpPr>
        <p:spPr>
          <a:xfrm>
            <a:off x="6502400" y="3505200"/>
            <a:ext cx="5080000" cy="571500"/>
          </a:xfrm>
          <a:prstGeom prst="rect">
            <a:avLst/>
          </a:prstGeom>
          <a:noFill/>
        </p:spPr>
        <p:txBody>
          <a:bodyPr vert="horz" wrap="square" lIns="0" tIns="0" rIns="0" bIns="0" rtlCol="0">
            <a:noAutofit/>
          </a:bodyPr>
          <a:lstStyle/>
          <a:p>
            <a:r>
              <a:rPr lang="en-US" sz="2700" b="1">
                <a:solidFill>
                  <a:srgbClr val="4EE6C0"/>
                </a:solidFill>
                <a:latin typeface="Segoe UI" panose="020B0502040204020203" pitchFamily="34" charset="0"/>
              </a:rPr>
              <a:t>Social and online sellers</a:t>
            </a:r>
          </a:p>
        </p:txBody>
      </p:sp>
      <p:sp>
        <p:nvSpPr>
          <p:cNvPr id="27" name="Text Keep order payments and transaction reference">
            <a:extLst>
              <a:ext uri="{FF2B5EF4-FFF2-40B4-BE49-F238E27FC236}">
                <a16:creationId xmlns:a16="http://schemas.microsoft.com/office/drawing/2014/main" id="{6658177B-EBCC-3224-A217-A1653E75EBF9}"/>
              </a:ext>
            </a:extLst>
          </p:cNvPr>
          <p:cNvSpPr txBox="1"/>
          <p:nvPr/>
        </p:nvSpPr>
        <p:spPr>
          <a:xfrm>
            <a:off x="6502400" y="4140200"/>
            <a:ext cx="5080000" cy="13335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Keep order payments and transaction references connected to the sale.</a:t>
            </a:r>
          </a:p>
        </p:txBody>
      </p:sp>
      <p:sp>
        <p:nvSpPr>
          <p:cNvPr id="28" name="Text Customers receive clearer receipts. Financial">
            <a:extLst>
              <a:ext uri="{FF2B5EF4-FFF2-40B4-BE49-F238E27FC236}">
                <a16:creationId xmlns:a16="http://schemas.microsoft.com/office/drawing/2014/main" id="{F965D5B3-E166-ED83-5EFC-C02C320C43C2}"/>
              </a:ext>
            </a:extLst>
          </p:cNvPr>
          <p:cNvSpPr txBox="1"/>
          <p:nvPr/>
        </p:nvSpPr>
        <p:spPr>
          <a:xfrm>
            <a:off x="609600" y="5499100"/>
            <a:ext cx="10922000" cy="7366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Customers receive clearer receipts. Financial institutions can review owner-approved summaries.</a:t>
            </a:r>
          </a:p>
        </p:txBody>
      </p:sp>
    </p:spTree>
    <p:extLst>
      <p:ext uri="{BB962C8B-B14F-4D97-AF65-F5344CB8AC3E}">
        <p14:creationId xmlns:p14="http://schemas.microsoft.com/office/powerpoint/2010/main" val="12848463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5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600"/>
                                        <p:tgtEl>
                                          <p:spTgt spid="23"/>
                                        </p:tgtEl>
                                      </p:cBhvr>
                                    </p:animEffect>
                                    <p:anim calcmode="lin" valueType="num">
                                      <p:cBhvr>
                                        <p:cTn id="13" dur="600" fill="hold"/>
                                        <p:tgtEl>
                                          <p:spTgt spid="23"/>
                                        </p:tgtEl>
                                        <p:attrNameLst>
                                          <p:attrName>ppt_x</p:attrName>
                                        </p:attrNameLst>
                                      </p:cBhvr>
                                      <p:tavLst>
                                        <p:tav tm="0">
                                          <p:val>
                                            <p:strVal val="#ppt_x"/>
                                          </p:val>
                                        </p:tav>
                                        <p:tav tm="100000">
                                          <p:val>
                                            <p:strVal val="#ppt_x"/>
                                          </p:val>
                                        </p:tav>
                                      </p:tavLst>
                                    </p:anim>
                                    <p:anim calcmode="lin" valueType="num">
                                      <p:cBhvr>
                                        <p:cTn id="14" dur="6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accel="15000" decel="2500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600"/>
                                        <p:tgtEl>
                                          <p:spTgt spid="24"/>
                                        </p:tgtEl>
                                      </p:cBhvr>
                                    </p:animEffect>
                                    <p:anim calcmode="lin" valueType="num">
                                      <p:cBhvr>
                                        <p:cTn id="20" dur="600" fill="hold"/>
                                        <p:tgtEl>
                                          <p:spTgt spid="24"/>
                                        </p:tgtEl>
                                        <p:attrNameLst>
                                          <p:attrName>ppt_x</p:attrName>
                                        </p:attrNameLst>
                                      </p:cBhvr>
                                      <p:tavLst>
                                        <p:tav tm="0">
                                          <p:val>
                                            <p:strVal val="#ppt_x"/>
                                          </p:val>
                                        </p:tav>
                                        <p:tav tm="100000">
                                          <p:val>
                                            <p:strVal val="#ppt_x"/>
                                          </p:val>
                                        </p:tav>
                                      </p:tavLst>
                                    </p:anim>
                                    <p:anim calcmode="lin" valueType="num">
                                      <p:cBhvr>
                                        <p:cTn id="21" dur="600" fill="hold"/>
                                        <p:tgtEl>
                                          <p:spTgt spid="24"/>
                                        </p:tgtEl>
                                        <p:attrNameLst>
                                          <p:attrName>ppt_y</p:attrName>
                                        </p:attrNameLst>
                                      </p:cBhvr>
                                      <p:tavLst>
                                        <p:tav tm="0">
                                          <p:val>
                                            <p:strVal val="#ppt_y+.1"/>
                                          </p:val>
                                        </p:tav>
                                        <p:tav tm="100000">
                                          <p:val>
                                            <p:strVal val="#ppt_y"/>
                                          </p:val>
                                        </p:tav>
                                      </p:tavLst>
                                    </p:anim>
                                  </p:childTnLst>
                                </p:cTn>
                              </p:par>
                              <p:par>
                                <p:cTn id="22" presetID="42" presetClass="entr" presetSubtype="0" accel="15000" decel="25000" fill="hold" grpId="0" nodeType="withEffect">
                                  <p:stCondLst>
                                    <p:cond delay="65"/>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600"/>
                                        <p:tgtEl>
                                          <p:spTgt spid="25"/>
                                        </p:tgtEl>
                                      </p:cBhvr>
                                    </p:animEffect>
                                    <p:anim calcmode="lin" valueType="num">
                                      <p:cBhvr>
                                        <p:cTn id="25" dur="600" fill="hold"/>
                                        <p:tgtEl>
                                          <p:spTgt spid="25"/>
                                        </p:tgtEl>
                                        <p:attrNameLst>
                                          <p:attrName>ppt_x</p:attrName>
                                        </p:attrNameLst>
                                      </p:cBhvr>
                                      <p:tavLst>
                                        <p:tav tm="0">
                                          <p:val>
                                            <p:strVal val="#ppt_x"/>
                                          </p:val>
                                        </p:tav>
                                        <p:tav tm="100000">
                                          <p:val>
                                            <p:strVal val="#ppt_x"/>
                                          </p:val>
                                        </p:tav>
                                      </p:tavLst>
                                    </p:anim>
                                    <p:anim calcmode="lin" valueType="num">
                                      <p:cBhvr>
                                        <p:cTn id="26" dur="6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accel="15000" decel="2500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600"/>
                                        <p:tgtEl>
                                          <p:spTgt spid="26"/>
                                        </p:tgtEl>
                                      </p:cBhvr>
                                    </p:animEffect>
                                    <p:anim calcmode="lin" valueType="num">
                                      <p:cBhvr>
                                        <p:cTn id="32" dur="600" fill="hold"/>
                                        <p:tgtEl>
                                          <p:spTgt spid="26"/>
                                        </p:tgtEl>
                                        <p:attrNameLst>
                                          <p:attrName>ppt_x</p:attrName>
                                        </p:attrNameLst>
                                      </p:cBhvr>
                                      <p:tavLst>
                                        <p:tav tm="0">
                                          <p:val>
                                            <p:strVal val="#ppt_x"/>
                                          </p:val>
                                        </p:tav>
                                        <p:tav tm="100000">
                                          <p:val>
                                            <p:strVal val="#ppt_x"/>
                                          </p:val>
                                        </p:tav>
                                      </p:tavLst>
                                    </p:anim>
                                    <p:anim calcmode="lin" valueType="num">
                                      <p:cBhvr>
                                        <p:cTn id="33" dur="600" fill="hold"/>
                                        <p:tgtEl>
                                          <p:spTgt spid="26"/>
                                        </p:tgtEl>
                                        <p:attrNameLst>
                                          <p:attrName>ppt_y</p:attrName>
                                        </p:attrNameLst>
                                      </p:cBhvr>
                                      <p:tavLst>
                                        <p:tav tm="0">
                                          <p:val>
                                            <p:strVal val="#ppt_y+.1"/>
                                          </p:val>
                                        </p:tav>
                                        <p:tav tm="100000">
                                          <p:val>
                                            <p:strVal val="#ppt_y"/>
                                          </p:val>
                                        </p:tav>
                                      </p:tavLst>
                                    </p:anim>
                                  </p:childTnLst>
                                </p:cTn>
                              </p:par>
                              <p:par>
                                <p:cTn id="34" presetID="42" presetClass="entr" presetSubtype="0" accel="15000" decel="25000" fill="hold" grpId="0" nodeType="withEffect">
                                  <p:stCondLst>
                                    <p:cond delay="65"/>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600"/>
                                        <p:tgtEl>
                                          <p:spTgt spid="27"/>
                                        </p:tgtEl>
                                      </p:cBhvr>
                                    </p:animEffect>
                                    <p:anim calcmode="lin" valueType="num">
                                      <p:cBhvr>
                                        <p:cTn id="37" dur="600" fill="hold"/>
                                        <p:tgtEl>
                                          <p:spTgt spid="27"/>
                                        </p:tgtEl>
                                        <p:attrNameLst>
                                          <p:attrName>ppt_x</p:attrName>
                                        </p:attrNameLst>
                                      </p:cBhvr>
                                      <p:tavLst>
                                        <p:tav tm="0">
                                          <p:val>
                                            <p:strVal val="#ppt_x"/>
                                          </p:val>
                                        </p:tav>
                                        <p:tav tm="100000">
                                          <p:val>
                                            <p:strVal val="#ppt_x"/>
                                          </p:val>
                                        </p:tav>
                                      </p:tavLst>
                                    </p:anim>
                                    <p:anim calcmode="lin" valueType="num">
                                      <p:cBhvr>
                                        <p:cTn id="38" dur="6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accel="15000" decel="2500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6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P spid="24" grpId="0"/>
      <p:bldP spid="25" grpId="0"/>
      <p:bldP spid="26" grpId="0"/>
      <p:bldP spid="27" grpId="0"/>
      <p:bldP spid="2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0B3935"/>
            </a:gs>
          </a:gsLst>
          <a:lin ang="5400000" scaled="1"/>
          <a:tileRect/>
        </a:gradFill>
        <a:effectLst/>
      </p:bgPr>
    </p:bg>
    <p:spTree>
      <p:nvGrpSpPr>
        <p:cNvPr id="1" name=""/>
        <p:cNvGrpSpPr/>
        <p:nvPr/>
      </p:nvGrpSpPr>
      <p:grpSpPr>
        <a:xfrm>
          <a:off x="0" y="0"/>
          <a:ext cx="0" cy="0"/>
          <a:chOff x="0" y="0"/>
          <a:chExt cx="0" cy="0"/>
        </a:xfrm>
      </p:grpSpPr>
      <p:sp>
        <p:nvSpPr>
          <p:cNvPr id="17" name="Text How daily activity becomes useful evidence">
            <a:extLst>
              <a:ext uri="{FF2B5EF4-FFF2-40B4-BE49-F238E27FC236}">
                <a16:creationId xmlns:a16="http://schemas.microsoft.com/office/drawing/2014/main" id="{B8AD031E-D8E4-5F83-F3C6-52342E8867AF}"/>
              </a:ext>
            </a:extLst>
          </p:cNvPr>
          <p:cNvSpPr txBox="1"/>
          <p:nvPr/>
        </p:nvSpPr>
        <p:spPr>
          <a:xfrm>
            <a:off x="609600" y="419100"/>
            <a:ext cx="10972800" cy="1092200"/>
          </a:xfrm>
          <a:prstGeom prst="rect">
            <a:avLst/>
          </a:prstGeom>
          <a:noFill/>
        </p:spPr>
        <p:txBody>
          <a:bodyPr vert="horz" wrap="square" lIns="0" tIns="0" rIns="0" bIns="0" rtlCol="0">
            <a:noAutofit/>
          </a:bodyPr>
          <a:lstStyle/>
          <a:p>
            <a:r>
              <a:rPr lang="en-US" sz="3400" b="1">
                <a:solidFill>
                  <a:srgbClr val="F4F8FC"/>
                </a:solidFill>
                <a:latin typeface="Segoe UI" panose="020B0502040204020203" pitchFamily="34" charset="0"/>
              </a:rPr>
              <a:t>How daily activity becomes useful evidence</a:t>
            </a:r>
          </a:p>
        </p:txBody>
      </p:sp>
      <p:sp>
        <p:nvSpPr>
          <p:cNvPr id="18" name="Text GreenBiz">
            <a:extLst>
              <a:ext uri="{FF2B5EF4-FFF2-40B4-BE49-F238E27FC236}">
                <a16:creationId xmlns:a16="http://schemas.microsoft.com/office/drawing/2014/main" id="{D51ABE82-4AA5-E2F0-79F4-B80E9742E3E3}"/>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19" name="Text 04 / 18">
            <a:extLst>
              <a:ext uri="{FF2B5EF4-FFF2-40B4-BE49-F238E27FC236}">
                <a16:creationId xmlns:a16="http://schemas.microsoft.com/office/drawing/2014/main" id="{A8C47DDE-01B3-FF4E-45F5-03B64BB69450}"/>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04 / 18</a:t>
            </a:r>
          </a:p>
        </p:txBody>
      </p:sp>
      <p:sp>
        <p:nvSpPr>
          <p:cNvPr id="20" name="Text 01">
            <a:extLst>
              <a:ext uri="{FF2B5EF4-FFF2-40B4-BE49-F238E27FC236}">
                <a16:creationId xmlns:a16="http://schemas.microsoft.com/office/drawing/2014/main" id="{5FB9962C-6273-4562-78E9-797465D9D72C}"/>
              </a:ext>
            </a:extLst>
          </p:cNvPr>
          <p:cNvSpPr txBox="1"/>
          <p:nvPr/>
        </p:nvSpPr>
        <p:spPr>
          <a:xfrm>
            <a:off x="609600" y="1943100"/>
            <a:ext cx="2413000" cy="9525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01</a:t>
            </a:r>
          </a:p>
        </p:txBody>
      </p:sp>
      <p:sp>
        <p:nvSpPr>
          <p:cNvPr id="21" name="Text Daily activity">
            <a:extLst>
              <a:ext uri="{FF2B5EF4-FFF2-40B4-BE49-F238E27FC236}">
                <a16:creationId xmlns:a16="http://schemas.microsoft.com/office/drawing/2014/main" id="{685AE18F-2541-21A9-5B0E-1E79B4C6EF10}"/>
              </a:ext>
            </a:extLst>
          </p:cNvPr>
          <p:cNvSpPr txBox="1"/>
          <p:nvPr/>
        </p:nvSpPr>
        <p:spPr>
          <a:xfrm>
            <a:off x="609600" y="3492500"/>
            <a:ext cx="2501900" cy="8890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Daily activity</a:t>
            </a:r>
          </a:p>
        </p:txBody>
      </p:sp>
      <p:sp>
        <p:nvSpPr>
          <p:cNvPr id="22" name="Text Stock, sales and incoming payments">
            <a:extLst>
              <a:ext uri="{FF2B5EF4-FFF2-40B4-BE49-F238E27FC236}">
                <a16:creationId xmlns:a16="http://schemas.microsoft.com/office/drawing/2014/main" id="{2B4A0CC4-4182-4BA7-9CD8-975BB7558F24}"/>
              </a:ext>
            </a:extLst>
          </p:cNvPr>
          <p:cNvSpPr txBox="1"/>
          <p:nvPr/>
        </p:nvSpPr>
        <p:spPr>
          <a:xfrm>
            <a:off x="609600" y="4559300"/>
            <a:ext cx="2501900" cy="13208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Stock, sales and incoming payments</a:t>
            </a:r>
          </a:p>
        </p:txBody>
      </p:sp>
      <p:cxnSp>
        <p:nvCxnSpPr>
          <p:cNvPr id="23" name="Straight Arrow Connector 22">
            <a:extLst>
              <a:ext uri="{FF2B5EF4-FFF2-40B4-BE49-F238E27FC236}">
                <a16:creationId xmlns:a16="http://schemas.microsoft.com/office/drawing/2014/main" id="{FB5A5436-C71A-4B99-3752-A15AC4C26A49}"/>
              </a:ext>
            </a:extLst>
          </p:cNvPr>
          <p:cNvCxnSpPr/>
          <p:nvPr/>
        </p:nvCxnSpPr>
        <p:spPr>
          <a:xfrm>
            <a:off x="1828800" y="2590800"/>
            <a:ext cx="1384300" cy="0"/>
          </a:xfrm>
          <a:prstGeom prst="straightConnector1">
            <a:avLst/>
          </a:prstGeom>
          <a:ln w="19050" cap="flat" cmpd="sng" algn="ctr">
            <a:solidFill>
              <a:srgbClr val="4EE6C0">
                <a:alpha val="65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4" name="Text 02">
            <a:extLst>
              <a:ext uri="{FF2B5EF4-FFF2-40B4-BE49-F238E27FC236}">
                <a16:creationId xmlns:a16="http://schemas.microsoft.com/office/drawing/2014/main" id="{8BF063D6-F1C9-136E-D41E-670F1F2637F5}"/>
              </a:ext>
            </a:extLst>
          </p:cNvPr>
          <p:cNvSpPr txBox="1"/>
          <p:nvPr/>
        </p:nvSpPr>
        <p:spPr>
          <a:xfrm>
            <a:off x="3429000" y="1943100"/>
            <a:ext cx="2413000" cy="9525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02</a:t>
            </a:r>
          </a:p>
        </p:txBody>
      </p:sp>
      <p:sp>
        <p:nvSpPr>
          <p:cNvPr id="25" name="Text Structured records">
            <a:extLst>
              <a:ext uri="{FF2B5EF4-FFF2-40B4-BE49-F238E27FC236}">
                <a16:creationId xmlns:a16="http://schemas.microsoft.com/office/drawing/2014/main" id="{5CB44619-2DB7-E4F6-7487-2A817D301F89}"/>
              </a:ext>
            </a:extLst>
          </p:cNvPr>
          <p:cNvSpPr txBox="1"/>
          <p:nvPr/>
        </p:nvSpPr>
        <p:spPr>
          <a:xfrm>
            <a:off x="3429000" y="3492500"/>
            <a:ext cx="2501900" cy="8890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Structured records</a:t>
            </a:r>
          </a:p>
        </p:txBody>
      </p:sp>
      <p:sp>
        <p:nvSpPr>
          <p:cNvPr id="26" name="Text A sale linked to its payment and receipt">
            <a:extLst>
              <a:ext uri="{FF2B5EF4-FFF2-40B4-BE49-F238E27FC236}">
                <a16:creationId xmlns:a16="http://schemas.microsoft.com/office/drawing/2014/main" id="{402FADB1-2676-2F7B-3338-7BC97C0A33E2}"/>
              </a:ext>
            </a:extLst>
          </p:cNvPr>
          <p:cNvSpPr txBox="1"/>
          <p:nvPr/>
        </p:nvSpPr>
        <p:spPr>
          <a:xfrm>
            <a:off x="3429000" y="4559300"/>
            <a:ext cx="2501900" cy="13208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A sale linked to its payment and receipt</a:t>
            </a:r>
          </a:p>
        </p:txBody>
      </p:sp>
      <p:cxnSp>
        <p:nvCxnSpPr>
          <p:cNvPr id="27" name="Straight Arrow Connector 26">
            <a:extLst>
              <a:ext uri="{FF2B5EF4-FFF2-40B4-BE49-F238E27FC236}">
                <a16:creationId xmlns:a16="http://schemas.microsoft.com/office/drawing/2014/main" id="{E278F78A-B616-5573-CE6F-337AD476FD8F}"/>
              </a:ext>
            </a:extLst>
          </p:cNvPr>
          <p:cNvCxnSpPr/>
          <p:nvPr/>
        </p:nvCxnSpPr>
        <p:spPr>
          <a:xfrm>
            <a:off x="4648200" y="2590800"/>
            <a:ext cx="1384300" cy="0"/>
          </a:xfrm>
          <a:prstGeom prst="straightConnector1">
            <a:avLst/>
          </a:prstGeom>
          <a:ln w="19050" cap="flat" cmpd="sng" algn="ctr">
            <a:solidFill>
              <a:srgbClr val="4EE6C0">
                <a:alpha val="65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8" name="Text 03">
            <a:extLst>
              <a:ext uri="{FF2B5EF4-FFF2-40B4-BE49-F238E27FC236}">
                <a16:creationId xmlns:a16="http://schemas.microsoft.com/office/drawing/2014/main" id="{5CB39397-F577-42F7-7468-C54C798A0BB1}"/>
              </a:ext>
            </a:extLst>
          </p:cNvPr>
          <p:cNvSpPr txBox="1"/>
          <p:nvPr/>
        </p:nvSpPr>
        <p:spPr>
          <a:xfrm>
            <a:off x="6248400" y="1943100"/>
            <a:ext cx="2413000" cy="9525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03</a:t>
            </a:r>
          </a:p>
        </p:txBody>
      </p:sp>
      <p:sp>
        <p:nvSpPr>
          <p:cNvPr id="29" name="Text Business profile">
            <a:extLst>
              <a:ext uri="{FF2B5EF4-FFF2-40B4-BE49-F238E27FC236}">
                <a16:creationId xmlns:a16="http://schemas.microsoft.com/office/drawing/2014/main" id="{1F744349-CE5A-ED2F-E621-10A20BE5ED15}"/>
              </a:ext>
            </a:extLst>
          </p:cNvPr>
          <p:cNvSpPr txBox="1"/>
          <p:nvPr/>
        </p:nvSpPr>
        <p:spPr>
          <a:xfrm>
            <a:off x="6248400" y="3492500"/>
            <a:ext cx="2501900" cy="8890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Business profile</a:t>
            </a:r>
          </a:p>
        </p:txBody>
      </p:sp>
      <p:sp>
        <p:nvSpPr>
          <p:cNvPr id="30" name="Text Trends, consistency and an explainable score">
            <a:extLst>
              <a:ext uri="{FF2B5EF4-FFF2-40B4-BE49-F238E27FC236}">
                <a16:creationId xmlns:a16="http://schemas.microsoft.com/office/drawing/2014/main" id="{3603C036-0479-5D3B-9812-8BA7157EFA5C}"/>
              </a:ext>
            </a:extLst>
          </p:cNvPr>
          <p:cNvSpPr txBox="1"/>
          <p:nvPr/>
        </p:nvSpPr>
        <p:spPr>
          <a:xfrm>
            <a:off x="6248400" y="4559300"/>
            <a:ext cx="2501900" cy="13208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Trends, consistency and an explainable score</a:t>
            </a:r>
          </a:p>
        </p:txBody>
      </p:sp>
      <p:cxnSp>
        <p:nvCxnSpPr>
          <p:cNvPr id="31" name="Straight Arrow Connector 30">
            <a:extLst>
              <a:ext uri="{FF2B5EF4-FFF2-40B4-BE49-F238E27FC236}">
                <a16:creationId xmlns:a16="http://schemas.microsoft.com/office/drawing/2014/main" id="{737F69D9-80C2-05C9-C918-2EE37BDF8EEF}"/>
              </a:ext>
            </a:extLst>
          </p:cNvPr>
          <p:cNvCxnSpPr/>
          <p:nvPr/>
        </p:nvCxnSpPr>
        <p:spPr>
          <a:xfrm>
            <a:off x="7467600" y="2590800"/>
            <a:ext cx="1384300" cy="0"/>
          </a:xfrm>
          <a:prstGeom prst="straightConnector1">
            <a:avLst/>
          </a:prstGeom>
          <a:ln w="19050" cap="flat" cmpd="sng" algn="ctr">
            <a:solidFill>
              <a:srgbClr val="4EE6C0">
                <a:alpha val="65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2" name="Text 04">
            <a:extLst>
              <a:ext uri="{FF2B5EF4-FFF2-40B4-BE49-F238E27FC236}">
                <a16:creationId xmlns:a16="http://schemas.microsoft.com/office/drawing/2014/main" id="{B74EA535-4181-595D-E8BE-D07C360B3E88}"/>
              </a:ext>
            </a:extLst>
          </p:cNvPr>
          <p:cNvSpPr txBox="1"/>
          <p:nvPr/>
        </p:nvSpPr>
        <p:spPr>
          <a:xfrm>
            <a:off x="9067800" y="1943100"/>
            <a:ext cx="2413000" cy="9525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04</a:t>
            </a:r>
          </a:p>
        </p:txBody>
      </p:sp>
      <p:sp>
        <p:nvSpPr>
          <p:cNvPr id="33" name="Text Financial access">
            <a:extLst>
              <a:ext uri="{FF2B5EF4-FFF2-40B4-BE49-F238E27FC236}">
                <a16:creationId xmlns:a16="http://schemas.microsoft.com/office/drawing/2014/main" id="{94897381-FB18-24EE-BABF-84298561474A}"/>
              </a:ext>
            </a:extLst>
          </p:cNvPr>
          <p:cNvSpPr txBox="1"/>
          <p:nvPr/>
        </p:nvSpPr>
        <p:spPr>
          <a:xfrm>
            <a:off x="9067800" y="3492500"/>
            <a:ext cx="2501900" cy="8890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Financial access</a:t>
            </a:r>
          </a:p>
        </p:txBody>
      </p:sp>
      <p:sp>
        <p:nvSpPr>
          <p:cNvPr id="34" name="Text Owner-approved information for financial deci">
            <a:extLst>
              <a:ext uri="{FF2B5EF4-FFF2-40B4-BE49-F238E27FC236}">
                <a16:creationId xmlns:a16="http://schemas.microsoft.com/office/drawing/2014/main" id="{B734426F-A924-8CFB-2F63-B9B4F7023AB4}"/>
              </a:ext>
            </a:extLst>
          </p:cNvPr>
          <p:cNvSpPr txBox="1"/>
          <p:nvPr/>
        </p:nvSpPr>
        <p:spPr>
          <a:xfrm>
            <a:off x="9067800" y="4559300"/>
            <a:ext cx="2501900" cy="13208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Owner-approved information for financial decisions</a:t>
            </a:r>
          </a:p>
        </p:txBody>
      </p:sp>
    </p:spTree>
    <p:extLst>
      <p:ext uri="{BB962C8B-B14F-4D97-AF65-F5344CB8AC3E}">
        <p14:creationId xmlns:p14="http://schemas.microsoft.com/office/powerpoint/2010/main" val="14908034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5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par>
                                <p:cTn id="13" presetID="22" presetClass="entr" presetSubtype="8" fill="hold" grpId="0" nodeType="withEffect">
                                  <p:stCondLst>
                                    <p:cond delay="65"/>
                                  </p:stCondLst>
                                  <p:childTnLst>
                                    <p:set>
                                      <p:cBhvr>
                                        <p:cTn id="14" dur="1" fill="hold">
                                          <p:stCondLst>
                                            <p:cond delay="0"/>
                                          </p:stCondLst>
                                        </p:cTn>
                                        <p:tgtEl>
                                          <p:spTgt spid="21"/>
                                        </p:tgtEl>
                                        <p:attrNameLst>
                                          <p:attrName>style.visibility</p:attrName>
                                        </p:attrNameLst>
                                      </p:cBhvr>
                                      <p:to>
                                        <p:strVal val="visible"/>
                                      </p:to>
                                    </p:set>
                                    <p:animEffect transition="in" filter="wipe(left)">
                                      <p:cBhvr>
                                        <p:cTn id="15" dur="500"/>
                                        <p:tgtEl>
                                          <p:spTgt spid="21"/>
                                        </p:tgtEl>
                                      </p:cBhvr>
                                    </p:animEffect>
                                  </p:childTnLst>
                                </p:cTn>
                              </p:par>
                              <p:par>
                                <p:cTn id="16" presetID="22" presetClass="entr" presetSubtype="8" fill="hold" grpId="0" nodeType="withEffect">
                                  <p:stCondLst>
                                    <p:cond delay="130"/>
                                  </p:stCondLst>
                                  <p:childTnLst>
                                    <p:set>
                                      <p:cBhvr>
                                        <p:cTn id="17" dur="1" fill="hold">
                                          <p:stCondLst>
                                            <p:cond delay="0"/>
                                          </p:stCondLst>
                                        </p:cTn>
                                        <p:tgtEl>
                                          <p:spTgt spid="22"/>
                                        </p:tgtEl>
                                        <p:attrNameLst>
                                          <p:attrName>style.visibility</p:attrName>
                                        </p:attrNameLst>
                                      </p:cBhvr>
                                      <p:to>
                                        <p:strVal val="visible"/>
                                      </p:to>
                                    </p:set>
                                    <p:animEffect transition="in" filter="wipe(left)">
                                      <p:cBhvr>
                                        <p:cTn id="18" dur="500"/>
                                        <p:tgtEl>
                                          <p:spTgt spid="22"/>
                                        </p:tgtEl>
                                      </p:cBhvr>
                                    </p:animEffect>
                                  </p:childTnLst>
                                </p:cTn>
                              </p:par>
                              <p:par>
                                <p:cTn id="19" presetID="22" presetClass="entr" presetSubtype="8" fill="hold" nodeType="withEffect">
                                  <p:stCondLst>
                                    <p:cond delay="195"/>
                                  </p:stCondLst>
                                  <p:childTnLst>
                                    <p:set>
                                      <p:cBhvr>
                                        <p:cTn id="20" dur="1" fill="hold">
                                          <p:stCondLst>
                                            <p:cond delay="0"/>
                                          </p:stCondLst>
                                        </p:cTn>
                                        <p:tgtEl>
                                          <p:spTgt spid="23"/>
                                        </p:tgtEl>
                                        <p:attrNameLst>
                                          <p:attrName>style.visibility</p:attrName>
                                        </p:attrNameLst>
                                      </p:cBhvr>
                                      <p:to>
                                        <p:strVal val="visible"/>
                                      </p:to>
                                    </p:set>
                                    <p:animEffect transition="in" filter="wipe(left)">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left)">
                                      <p:cBhvr>
                                        <p:cTn id="26" dur="500"/>
                                        <p:tgtEl>
                                          <p:spTgt spid="24"/>
                                        </p:tgtEl>
                                      </p:cBhvr>
                                    </p:animEffect>
                                  </p:childTnLst>
                                </p:cTn>
                              </p:par>
                              <p:par>
                                <p:cTn id="27" presetID="22" presetClass="entr" presetSubtype="8" fill="hold" grpId="0" nodeType="withEffect">
                                  <p:stCondLst>
                                    <p:cond delay="65"/>
                                  </p:stCondLst>
                                  <p:childTnLst>
                                    <p:set>
                                      <p:cBhvr>
                                        <p:cTn id="28" dur="1" fill="hold">
                                          <p:stCondLst>
                                            <p:cond delay="0"/>
                                          </p:stCondLst>
                                        </p:cTn>
                                        <p:tgtEl>
                                          <p:spTgt spid="25"/>
                                        </p:tgtEl>
                                        <p:attrNameLst>
                                          <p:attrName>style.visibility</p:attrName>
                                        </p:attrNameLst>
                                      </p:cBhvr>
                                      <p:to>
                                        <p:strVal val="visible"/>
                                      </p:to>
                                    </p:set>
                                    <p:animEffect transition="in" filter="wipe(left)">
                                      <p:cBhvr>
                                        <p:cTn id="29" dur="500"/>
                                        <p:tgtEl>
                                          <p:spTgt spid="25"/>
                                        </p:tgtEl>
                                      </p:cBhvr>
                                    </p:animEffect>
                                  </p:childTnLst>
                                </p:cTn>
                              </p:par>
                              <p:par>
                                <p:cTn id="30" presetID="22" presetClass="entr" presetSubtype="8" fill="hold" grpId="0" nodeType="withEffect">
                                  <p:stCondLst>
                                    <p:cond delay="130"/>
                                  </p:stCondLst>
                                  <p:childTnLst>
                                    <p:set>
                                      <p:cBhvr>
                                        <p:cTn id="31" dur="1" fill="hold">
                                          <p:stCondLst>
                                            <p:cond delay="0"/>
                                          </p:stCondLst>
                                        </p:cTn>
                                        <p:tgtEl>
                                          <p:spTgt spid="26"/>
                                        </p:tgtEl>
                                        <p:attrNameLst>
                                          <p:attrName>style.visibility</p:attrName>
                                        </p:attrNameLst>
                                      </p:cBhvr>
                                      <p:to>
                                        <p:strVal val="visible"/>
                                      </p:to>
                                    </p:set>
                                    <p:animEffect transition="in" filter="wipe(left)">
                                      <p:cBhvr>
                                        <p:cTn id="32" dur="500"/>
                                        <p:tgtEl>
                                          <p:spTgt spid="26"/>
                                        </p:tgtEl>
                                      </p:cBhvr>
                                    </p:animEffect>
                                  </p:childTnLst>
                                </p:cTn>
                              </p:par>
                              <p:par>
                                <p:cTn id="33" presetID="22" presetClass="entr" presetSubtype="8" fill="hold" nodeType="withEffect">
                                  <p:stCondLst>
                                    <p:cond delay="195"/>
                                  </p:stCondLst>
                                  <p:childTnLst>
                                    <p:set>
                                      <p:cBhvr>
                                        <p:cTn id="34" dur="1" fill="hold">
                                          <p:stCondLst>
                                            <p:cond delay="0"/>
                                          </p:stCondLst>
                                        </p:cTn>
                                        <p:tgtEl>
                                          <p:spTgt spid="27"/>
                                        </p:tgtEl>
                                        <p:attrNameLst>
                                          <p:attrName>style.visibility</p:attrName>
                                        </p:attrNameLst>
                                      </p:cBhvr>
                                      <p:to>
                                        <p:strVal val="visible"/>
                                      </p:to>
                                    </p:set>
                                    <p:animEffect transition="in" filter="wipe(left)">
                                      <p:cBhvr>
                                        <p:cTn id="35" dur="500"/>
                                        <p:tgtEl>
                                          <p:spTgt spid="2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wipe(left)">
                                      <p:cBhvr>
                                        <p:cTn id="40" dur="500"/>
                                        <p:tgtEl>
                                          <p:spTgt spid="28"/>
                                        </p:tgtEl>
                                      </p:cBhvr>
                                    </p:animEffect>
                                  </p:childTnLst>
                                </p:cTn>
                              </p:par>
                              <p:par>
                                <p:cTn id="41" presetID="22" presetClass="entr" presetSubtype="8" fill="hold" grpId="0" nodeType="withEffect">
                                  <p:stCondLst>
                                    <p:cond delay="65"/>
                                  </p:stCondLst>
                                  <p:childTnLst>
                                    <p:set>
                                      <p:cBhvr>
                                        <p:cTn id="42" dur="1" fill="hold">
                                          <p:stCondLst>
                                            <p:cond delay="0"/>
                                          </p:stCondLst>
                                        </p:cTn>
                                        <p:tgtEl>
                                          <p:spTgt spid="29"/>
                                        </p:tgtEl>
                                        <p:attrNameLst>
                                          <p:attrName>style.visibility</p:attrName>
                                        </p:attrNameLst>
                                      </p:cBhvr>
                                      <p:to>
                                        <p:strVal val="visible"/>
                                      </p:to>
                                    </p:set>
                                    <p:animEffect transition="in" filter="wipe(left)">
                                      <p:cBhvr>
                                        <p:cTn id="43" dur="500"/>
                                        <p:tgtEl>
                                          <p:spTgt spid="29"/>
                                        </p:tgtEl>
                                      </p:cBhvr>
                                    </p:animEffect>
                                  </p:childTnLst>
                                </p:cTn>
                              </p:par>
                              <p:par>
                                <p:cTn id="44" presetID="22" presetClass="entr" presetSubtype="8" fill="hold" grpId="0" nodeType="withEffect">
                                  <p:stCondLst>
                                    <p:cond delay="130"/>
                                  </p:stCondLst>
                                  <p:childTnLst>
                                    <p:set>
                                      <p:cBhvr>
                                        <p:cTn id="45" dur="1" fill="hold">
                                          <p:stCondLst>
                                            <p:cond delay="0"/>
                                          </p:stCondLst>
                                        </p:cTn>
                                        <p:tgtEl>
                                          <p:spTgt spid="30"/>
                                        </p:tgtEl>
                                        <p:attrNameLst>
                                          <p:attrName>style.visibility</p:attrName>
                                        </p:attrNameLst>
                                      </p:cBhvr>
                                      <p:to>
                                        <p:strVal val="visible"/>
                                      </p:to>
                                    </p:set>
                                    <p:animEffect transition="in" filter="wipe(left)">
                                      <p:cBhvr>
                                        <p:cTn id="46" dur="500"/>
                                        <p:tgtEl>
                                          <p:spTgt spid="30"/>
                                        </p:tgtEl>
                                      </p:cBhvr>
                                    </p:animEffect>
                                  </p:childTnLst>
                                </p:cTn>
                              </p:par>
                              <p:par>
                                <p:cTn id="47" presetID="22" presetClass="entr" presetSubtype="8" fill="hold" nodeType="withEffect">
                                  <p:stCondLst>
                                    <p:cond delay="195"/>
                                  </p:stCondLst>
                                  <p:childTnLst>
                                    <p:set>
                                      <p:cBhvr>
                                        <p:cTn id="48" dur="1" fill="hold">
                                          <p:stCondLst>
                                            <p:cond delay="0"/>
                                          </p:stCondLst>
                                        </p:cTn>
                                        <p:tgtEl>
                                          <p:spTgt spid="31"/>
                                        </p:tgtEl>
                                        <p:attrNameLst>
                                          <p:attrName>style.visibility</p:attrName>
                                        </p:attrNameLst>
                                      </p:cBhvr>
                                      <p:to>
                                        <p:strVal val="visible"/>
                                      </p:to>
                                    </p:set>
                                    <p:animEffect transition="in" filter="wipe(left)">
                                      <p:cBhvr>
                                        <p:cTn id="49" dur="500"/>
                                        <p:tgtEl>
                                          <p:spTgt spid="31"/>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wipe(left)">
                                      <p:cBhvr>
                                        <p:cTn id="54" dur="500"/>
                                        <p:tgtEl>
                                          <p:spTgt spid="32"/>
                                        </p:tgtEl>
                                      </p:cBhvr>
                                    </p:animEffect>
                                  </p:childTnLst>
                                </p:cTn>
                              </p:par>
                              <p:par>
                                <p:cTn id="55" presetID="22" presetClass="entr" presetSubtype="8" fill="hold" grpId="0" nodeType="withEffect">
                                  <p:stCondLst>
                                    <p:cond delay="65"/>
                                  </p:stCondLst>
                                  <p:childTnLst>
                                    <p:set>
                                      <p:cBhvr>
                                        <p:cTn id="56" dur="1" fill="hold">
                                          <p:stCondLst>
                                            <p:cond delay="0"/>
                                          </p:stCondLst>
                                        </p:cTn>
                                        <p:tgtEl>
                                          <p:spTgt spid="33"/>
                                        </p:tgtEl>
                                        <p:attrNameLst>
                                          <p:attrName>style.visibility</p:attrName>
                                        </p:attrNameLst>
                                      </p:cBhvr>
                                      <p:to>
                                        <p:strVal val="visible"/>
                                      </p:to>
                                    </p:set>
                                    <p:animEffect transition="in" filter="wipe(left)">
                                      <p:cBhvr>
                                        <p:cTn id="57" dur="500"/>
                                        <p:tgtEl>
                                          <p:spTgt spid="33"/>
                                        </p:tgtEl>
                                      </p:cBhvr>
                                    </p:animEffect>
                                  </p:childTnLst>
                                </p:cTn>
                              </p:par>
                              <p:par>
                                <p:cTn id="58" presetID="22" presetClass="entr" presetSubtype="8" fill="hold" grpId="0" nodeType="withEffect">
                                  <p:stCondLst>
                                    <p:cond delay="130"/>
                                  </p:stCondLst>
                                  <p:childTnLst>
                                    <p:set>
                                      <p:cBhvr>
                                        <p:cTn id="59" dur="1" fill="hold">
                                          <p:stCondLst>
                                            <p:cond delay="0"/>
                                          </p:stCondLst>
                                        </p:cTn>
                                        <p:tgtEl>
                                          <p:spTgt spid="34"/>
                                        </p:tgtEl>
                                        <p:attrNameLst>
                                          <p:attrName>style.visibility</p:attrName>
                                        </p:attrNameLst>
                                      </p:cBhvr>
                                      <p:to>
                                        <p:strVal val="visible"/>
                                      </p:to>
                                    </p:set>
                                    <p:animEffect transition="in" filter="wipe(left)">
                                      <p:cBhvr>
                                        <p:cTn id="6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1" grpId="0"/>
      <p:bldP spid="22" grpId="0"/>
      <p:bldP spid="24" grpId="0"/>
      <p:bldP spid="25" grpId="0"/>
      <p:bldP spid="26" grpId="0"/>
      <p:bldP spid="28" grpId="0"/>
      <p:bldP spid="29" grpId="0"/>
      <p:bldP spid="30" grpId="0"/>
      <p:bldP spid="32" grpId="0"/>
      <p:bldP spid="33" grpId="0"/>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4" name="Text A simple daily routine">
            <a:extLst>
              <a:ext uri="{FF2B5EF4-FFF2-40B4-BE49-F238E27FC236}">
                <a16:creationId xmlns:a16="http://schemas.microsoft.com/office/drawing/2014/main" id="{82A34D87-409E-84B4-32B3-760F51490EBC}"/>
              </a:ext>
            </a:extLst>
          </p:cNvPr>
          <p:cNvSpPr txBox="1"/>
          <p:nvPr/>
        </p:nvSpPr>
        <p:spPr>
          <a:xfrm>
            <a:off x="609600" y="419100"/>
            <a:ext cx="10972800" cy="1092200"/>
          </a:xfrm>
          <a:prstGeom prst="rect">
            <a:avLst/>
          </a:prstGeom>
          <a:noFill/>
        </p:spPr>
        <p:txBody>
          <a:bodyPr vert="horz" wrap="square" lIns="0" tIns="0" rIns="0" bIns="0" rtlCol="0">
            <a:noAutofit/>
          </a:bodyPr>
          <a:lstStyle/>
          <a:p>
            <a:r>
              <a:rPr lang="en-US" sz="3400" b="1">
                <a:solidFill>
                  <a:srgbClr val="F4F8FC"/>
                </a:solidFill>
                <a:latin typeface="Segoe UI" panose="020B0502040204020203" pitchFamily="34" charset="0"/>
              </a:rPr>
              <a:t>A simple daily routine</a:t>
            </a:r>
          </a:p>
        </p:txBody>
      </p:sp>
      <p:sp>
        <p:nvSpPr>
          <p:cNvPr id="15" name="Text GreenBiz">
            <a:extLst>
              <a:ext uri="{FF2B5EF4-FFF2-40B4-BE49-F238E27FC236}">
                <a16:creationId xmlns:a16="http://schemas.microsoft.com/office/drawing/2014/main" id="{13AED39D-E5B6-04CA-B1D6-5D336DD9A889}"/>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16" name="Text 05 / 18">
            <a:extLst>
              <a:ext uri="{FF2B5EF4-FFF2-40B4-BE49-F238E27FC236}">
                <a16:creationId xmlns:a16="http://schemas.microsoft.com/office/drawing/2014/main" id="{AA688451-4B8F-C7E7-ABD1-C32B5CD1FFBE}"/>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05 / 18</a:t>
            </a:r>
          </a:p>
        </p:txBody>
      </p:sp>
      <p:sp>
        <p:nvSpPr>
          <p:cNvPr id="17" name="Text 01">
            <a:extLst>
              <a:ext uri="{FF2B5EF4-FFF2-40B4-BE49-F238E27FC236}">
                <a16:creationId xmlns:a16="http://schemas.microsoft.com/office/drawing/2014/main" id="{EBCF9072-FBB2-9555-F994-1C60EFF81858}"/>
              </a:ext>
            </a:extLst>
          </p:cNvPr>
          <p:cNvSpPr txBox="1"/>
          <p:nvPr/>
        </p:nvSpPr>
        <p:spPr>
          <a:xfrm>
            <a:off x="609600" y="1879600"/>
            <a:ext cx="952500" cy="711200"/>
          </a:xfrm>
          <a:prstGeom prst="rect">
            <a:avLst/>
          </a:prstGeom>
          <a:noFill/>
        </p:spPr>
        <p:txBody>
          <a:bodyPr vert="horz" wrap="square" lIns="0" tIns="0" rIns="0" bIns="0" rtlCol="0">
            <a:noAutofit/>
          </a:bodyPr>
          <a:lstStyle/>
          <a:p>
            <a:r>
              <a:rPr lang="en-US" sz="3800" b="1">
                <a:solidFill>
                  <a:srgbClr val="4EE6C0"/>
                </a:solidFill>
                <a:latin typeface="Segoe UI" panose="020B0502040204020203" pitchFamily="34" charset="0"/>
              </a:rPr>
              <a:t>01</a:t>
            </a:r>
          </a:p>
        </p:txBody>
      </p:sp>
      <p:sp>
        <p:nvSpPr>
          <p:cNvPr id="18" name="Text Open the shop">
            <a:extLst>
              <a:ext uri="{FF2B5EF4-FFF2-40B4-BE49-F238E27FC236}">
                <a16:creationId xmlns:a16="http://schemas.microsoft.com/office/drawing/2014/main" id="{52BDD7FC-2B3B-A87D-5FFA-1C50BD860A7B}"/>
              </a:ext>
            </a:extLst>
          </p:cNvPr>
          <p:cNvSpPr txBox="1"/>
          <p:nvPr/>
        </p:nvSpPr>
        <p:spPr>
          <a:xfrm>
            <a:off x="1866900" y="1879600"/>
            <a:ext cx="9271000" cy="4826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Open the shop</a:t>
            </a:r>
          </a:p>
        </p:txBody>
      </p:sp>
      <p:sp>
        <p:nvSpPr>
          <p:cNvPr id="19" name="Text Use the core device tools without setting up ">
            <a:extLst>
              <a:ext uri="{FF2B5EF4-FFF2-40B4-BE49-F238E27FC236}">
                <a16:creationId xmlns:a16="http://schemas.microsoft.com/office/drawing/2014/main" id="{E7DD99E3-8CC8-CFA9-2362-6046DEF88DD9}"/>
              </a:ext>
            </a:extLst>
          </p:cNvPr>
          <p:cNvSpPr txBox="1"/>
          <p:nvPr/>
        </p:nvSpPr>
        <p:spPr>
          <a:xfrm>
            <a:off x="1866900" y="2438400"/>
            <a:ext cx="9271000" cy="6858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Use the core device tools without setting up a business server.</a:t>
            </a:r>
          </a:p>
        </p:txBody>
      </p:sp>
      <p:sp>
        <p:nvSpPr>
          <p:cNvPr id="20" name="Text 02">
            <a:extLst>
              <a:ext uri="{FF2B5EF4-FFF2-40B4-BE49-F238E27FC236}">
                <a16:creationId xmlns:a16="http://schemas.microsoft.com/office/drawing/2014/main" id="{F1BEA959-44FF-9E9F-7DC1-35C752D93767}"/>
              </a:ext>
            </a:extLst>
          </p:cNvPr>
          <p:cNvSpPr txBox="1"/>
          <p:nvPr/>
        </p:nvSpPr>
        <p:spPr>
          <a:xfrm>
            <a:off x="609600" y="3187700"/>
            <a:ext cx="952500" cy="711200"/>
          </a:xfrm>
          <a:prstGeom prst="rect">
            <a:avLst/>
          </a:prstGeom>
          <a:noFill/>
        </p:spPr>
        <p:txBody>
          <a:bodyPr vert="horz" wrap="square" lIns="0" tIns="0" rIns="0" bIns="0" rtlCol="0">
            <a:noAutofit/>
          </a:bodyPr>
          <a:lstStyle/>
          <a:p>
            <a:r>
              <a:rPr lang="en-US" sz="3800" b="1">
                <a:solidFill>
                  <a:srgbClr val="4EE6C0"/>
                </a:solidFill>
                <a:latin typeface="Segoe UI" panose="020B0502040204020203" pitchFamily="34" charset="0"/>
              </a:rPr>
              <a:t>02</a:t>
            </a:r>
          </a:p>
        </p:txBody>
      </p:sp>
      <p:sp>
        <p:nvSpPr>
          <p:cNvPr id="21" name="Text Record the work">
            <a:extLst>
              <a:ext uri="{FF2B5EF4-FFF2-40B4-BE49-F238E27FC236}">
                <a16:creationId xmlns:a16="http://schemas.microsoft.com/office/drawing/2014/main" id="{7491E7AA-7DEA-AD48-F3C5-C0DF72872861}"/>
              </a:ext>
            </a:extLst>
          </p:cNvPr>
          <p:cNvSpPr txBox="1"/>
          <p:nvPr/>
        </p:nvSpPr>
        <p:spPr>
          <a:xfrm>
            <a:off x="1866900" y="3187700"/>
            <a:ext cx="9271000" cy="4826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Record the work</a:t>
            </a:r>
          </a:p>
        </p:txBody>
      </p:sp>
      <p:sp>
        <p:nvSpPr>
          <p:cNvPr id="22" name="Text Add stock, make a sale and review the payment">
            <a:extLst>
              <a:ext uri="{FF2B5EF4-FFF2-40B4-BE49-F238E27FC236}">
                <a16:creationId xmlns:a16="http://schemas.microsoft.com/office/drawing/2014/main" id="{C4A6B855-4133-A5A2-AEBF-20DBC30DFCFA}"/>
              </a:ext>
            </a:extLst>
          </p:cNvPr>
          <p:cNvSpPr txBox="1"/>
          <p:nvPr/>
        </p:nvSpPr>
        <p:spPr>
          <a:xfrm>
            <a:off x="1866900" y="3746500"/>
            <a:ext cx="9271000" cy="6858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Add stock, make a sale and review the payment.</a:t>
            </a:r>
          </a:p>
        </p:txBody>
      </p:sp>
      <p:sp>
        <p:nvSpPr>
          <p:cNvPr id="23" name="Text 03">
            <a:extLst>
              <a:ext uri="{FF2B5EF4-FFF2-40B4-BE49-F238E27FC236}">
                <a16:creationId xmlns:a16="http://schemas.microsoft.com/office/drawing/2014/main" id="{32041326-A663-3927-83B7-1CB6D4E54386}"/>
              </a:ext>
            </a:extLst>
          </p:cNvPr>
          <p:cNvSpPr txBox="1"/>
          <p:nvPr/>
        </p:nvSpPr>
        <p:spPr>
          <a:xfrm>
            <a:off x="609600" y="4495800"/>
            <a:ext cx="952500" cy="711200"/>
          </a:xfrm>
          <a:prstGeom prst="rect">
            <a:avLst/>
          </a:prstGeom>
          <a:noFill/>
        </p:spPr>
        <p:txBody>
          <a:bodyPr vert="horz" wrap="square" lIns="0" tIns="0" rIns="0" bIns="0" rtlCol="0">
            <a:noAutofit/>
          </a:bodyPr>
          <a:lstStyle/>
          <a:p>
            <a:r>
              <a:rPr lang="en-US" sz="3800" b="1">
                <a:solidFill>
                  <a:srgbClr val="4EE6C0"/>
                </a:solidFill>
                <a:latin typeface="Segoe UI" panose="020B0502040204020203" pitchFamily="34" charset="0"/>
              </a:rPr>
              <a:t>03</a:t>
            </a:r>
          </a:p>
        </p:txBody>
      </p:sp>
      <p:sp>
        <p:nvSpPr>
          <p:cNvPr id="24" name="Text Review the day">
            <a:extLst>
              <a:ext uri="{FF2B5EF4-FFF2-40B4-BE49-F238E27FC236}">
                <a16:creationId xmlns:a16="http://schemas.microsoft.com/office/drawing/2014/main" id="{4E38778D-C78F-7E6D-7258-B81972F9D347}"/>
              </a:ext>
            </a:extLst>
          </p:cNvPr>
          <p:cNvSpPr txBox="1"/>
          <p:nvPr/>
        </p:nvSpPr>
        <p:spPr>
          <a:xfrm>
            <a:off x="1866900" y="4495800"/>
            <a:ext cx="9271000" cy="4826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Review the day</a:t>
            </a:r>
          </a:p>
        </p:txBody>
      </p:sp>
      <p:sp>
        <p:nvSpPr>
          <p:cNvPr id="25" name="Text See the receipt, report and updated business ">
            <a:extLst>
              <a:ext uri="{FF2B5EF4-FFF2-40B4-BE49-F238E27FC236}">
                <a16:creationId xmlns:a16="http://schemas.microsoft.com/office/drawing/2014/main" id="{6F58C9B5-0CD8-0807-E435-70F62418C809}"/>
              </a:ext>
            </a:extLst>
          </p:cNvPr>
          <p:cNvSpPr txBox="1"/>
          <p:nvPr/>
        </p:nvSpPr>
        <p:spPr>
          <a:xfrm>
            <a:off x="1866900" y="5054600"/>
            <a:ext cx="9271000" cy="6858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See the receipt, report and updated business profile.</a:t>
            </a:r>
          </a:p>
        </p:txBody>
      </p:sp>
      <p:sp>
        <p:nvSpPr>
          <p:cNvPr id="26" name="Text Subtle transitions, responsive touch feedback">
            <a:extLst>
              <a:ext uri="{FF2B5EF4-FFF2-40B4-BE49-F238E27FC236}">
                <a16:creationId xmlns:a16="http://schemas.microsoft.com/office/drawing/2014/main" id="{B5305CDC-4D96-1D80-1A6D-EB3CE4FC1970}"/>
              </a:ext>
            </a:extLst>
          </p:cNvPr>
          <p:cNvSpPr txBox="1"/>
          <p:nvPr/>
        </p:nvSpPr>
        <p:spPr>
          <a:xfrm>
            <a:off x="609600" y="5956300"/>
            <a:ext cx="10972800" cy="381000"/>
          </a:xfrm>
          <a:prstGeom prst="rect">
            <a:avLst/>
          </a:prstGeom>
          <a:noFill/>
        </p:spPr>
        <p:txBody>
          <a:bodyPr vert="horz" wrap="square" lIns="0" tIns="0" rIns="0" bIns="0" rtlCol="0">
            <a:noAutofit/>
          </a:bodyPr>
          <a:lstStyle/>
          <a:p>
            <a:r>
              <a:rPr lang="en-US" sz="1700">
                <a:solidFill>
                  <a:srgbClr val="8EA7BA"/>
                </a:solidFill>
                <a:latin typeface="Segoe UI" panose="020B0502040204020203" pitchFamily="34" charset="0"/>
              </a:rPr>
              <a:t>Subtle transitions, responsive touch feedback and reduced-motion support</a:t>
            </a:r>
          </a:p>
        </p:txBody>
      </p:sp>
    </p:spTree>
    <p:extLst>
      <p:ext uri="{BB962C8B-B14F-4D97-AF65-F5344CB8AC3E}">
        <p14:creationId xmlns:p14="http://schemas.microsoft.com/office/powerpoint/2010/main" val="15598114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anim calcmode="lin" valueType="num">
                                      <p:cBhvr>
                                        <p:cTn id="13" dur="600" fill="hold"/>
                                        <p:tgtEl>
                                          <p:spTgt spid="17"/>
                                        </p:tgtEl>
                                        <p:attrNameLst>
                                          <p:attrName>ppt_x</p:attrName>
                                        </p:attrNameLst>
                                      </p:cBhvr>
                                      <p:tavLst>
                                        <p:tav tm="0">
                                          <p:val>
                                            <p:strVal val="#ppt_x"/>
                                          </p:val>
                                        </p:tav>
                                        <p:tav tm="100000">
                                          <p:val>
                                            <p:strVal val="#ppt_x"/>
                                          </p:val>
                                        </p:tav>
                                      </p:tavLst>
                                    </p:anim>
                                    <p:anim calcmode="lin" valueType="num">
                                      <p:cBhvr>
                                        <p:cTn id="14" dur="6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65"/>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600"/>
                                        <p:tgtEl>
                                          <p:spTgt spid="18"/>
                                        </p:tgtEl>
                                      </p:cBhvr>
                                    </p:animEffect>
                                    <p:anim calcmode="lin" valueType="num">
                                      <p:cBhvr>
                                        <p:cTn id="18" dur="600" fill="hold"/>
                                        <p:tgtEl>
                                          <p:spTgt spid="18"/>
                                        </p:tgtEl>
                                        <p:attrNameLst>
                                          <p:attrName>ppt_x</p:attrName>
                                        </p:attrNameLst>
                                      </p:cBhvr>
                                      <p:tavLst>
                                        <p:tav tm="0">
                                          <p:val>
                                            <p:strVal val="#ppt_x"/>
                                          </p:val>
                                        </p:tav>
                                        <p:tav tm="100000">
                                          <p:val>
                                            <p:strVal val="#ppt_x"/>
                                          </p:val>
                                        </p:tav>
                                      </p:tavLst>
                                    </p:anim>
                                    <p:anim calcmode="lin" valueType="num">
                                      <p:cBhvr>
                                        <p:cTn id="19" dur="600" fill="hold"/>
                                        <p:tgtEl>
                                          <p:spTgt spid="18"/>
                                        </p:tgtEl>
                                        <p:attrNameLst>
                                          <p:attrName>ppt_y</p:attrName>
                                        </p:attrNameLst>
                                      </p:cBhvr>
                                      <p:tavLst>
                                        <p:tav tm="0">
                                          <p:val>
                                            <p:strVal val="#ppt_y+.1"/>
                                          </p:val>
                                        </p:tav>
                                        <p:tav tm="100000">
                                          <p:val>
                                            <p:strVal val="#ppt_y"/>
                                          </p:val>
                                        </p:tav>
                                      </p:tavLst>
                                    </p:anim>
                                  </p:childTnLst>
                                </p:cTn>
                              </p:par>
                              <p:par>
                                <p:cTn id="20" presetID="42" presetClass="entr" presetSubtype="0" accel="15000" decel="25000" fill="hold" grpId="0" nodeType="withEffect">
                                  <p:stCondLst>
                                    <p:cond delay="13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600"/>
                                        <p:tgtEl>
                                          <p:spTgt spid="19"/>
                                        </p:tgtEl>
                                      </p:cBhvr>
                                    </p:animEffect>
                                    <p:anim calcmode="lin" valueType="num">
                                      <p:cBhvr>
                                        <p:cTn id="23" dur="600" fill="hold"/>
                                        <p:tgtEl>
                                          <p:spTgt spid="19"/>
                                        </p:tgtEl>
                                        <p:attrNameLst>
                                          <p:attrName>ppt_x</p:attrName>
                                        </p:attrNameLst>
                                      </p:cBhvr>
                                      <p:tavLst>
                                        <p:tav tm="0">
                                          <p:val>
                                            <p:strVal val="#ppt_x"/>
                                          </p:val>
                                        </p:tav>
                                        <p:tav tm="100000">
                                          <p:val>
                                            <p:strVal val="#ppt_x"/>
                                          </p:val>
                                        </p:tav>
                                      </p:tavLst>
                                    </p:anim>
                                    <p:anim calcmode="lin" valueType="num">
                                      <p:cBhvr>
                                        <p:cTn id="24" dur="6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accel="15000" decel="2500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600"/>
                                        <p:tgtEl>
                                          <p:spTgt spid="20"/>
                                        </p:tgtEl>
                                      </p:cBhvr>
                                    </p:animEffect>
                                    <p:anim calcmode="lin" valueType="num">
                                      <p:cBhvr>
                                        <p:cTn id="30" dur="600" fill="hold"/>
                                        <p:tgtEl>
                                          <p:spTgt spid="20"/>
                                        </p:tgtEl>
                                        <p:attrNameLst>
                                          <p:attrName>ppt_x</p:attrName>
                                        </p:attrNameLst>
                                      </p:cBhvr>
                                      <p:tavLst>
                                        <p:tav tm="0">
                                          <p:val>
                                            <p:strVal val="#ppt_x"/>
                                          </p:val>
                                        </p:tav>
                                        <p:tav tm="100000">
                                          <p:val>
                                            <p:strVal val="#ppt_x"/>
                                          </p:val>
                                        </p:tav>
                                      </p:tavLst>
                                    </p:anim>
                                    <p:anim calcmode="lin" valueType="num">
                                      <p:cBhvr>
                                        <p:cTn id="31" dur="600" fill="hold"/>
                                        <p:tgtEl>
                                          <p:spTgt spid="20"/>
                                        </p:tgtEl>
                                        <p:attrNameLst>
                                          <p:attrName>ppt_y</p:attrName>
                                        </p:attrNameLst>
                                      </p:cBhvr>
                                      <p:tavLst>
                                        <p:tav tm="0">
                                          <p:val>
                                            <p:strVal val="#ppt_y+.1"/>
                                          </p:val>
                                        </p:tav>
                                        <p:tav tm="100000">
                                          <p:val>
                                            <p:strVal val="#ppt_y"/>
                                          </p:val>
                                        </p:tav>
                                      </p:tavLst>
                                    </p:anim>
                                  </p:childTnLst>
                                </p:cTn>
                              </p:par>
                              <p:par>
                                <p:cTn id="32" presetID="42" presetClass="entr" presetSubtype="0" accel="15000" decel="25000" fill="hold" grpId="0" nodeType="withEffect">
                                  <p:stCondLst>
                                    <p:cond delay="65"/>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600"/>
                                        <p:tgtEl>
                                          <p:spTgt spid="21"/>
                                        </p:tgtEl>
                                      </p:cBhvr>
                                    </p:animEffect>
                                    <p:anim calcmode="lin" valueType="num">
                                      <p:cBhvr>
                                        <p:cTn id="35" dur="600" fill="hold"/>
                                        <p:tgtEl>
                                          <p:spTgt spid="21"/>
                                        </p:tgtEl>
                                        <p:attrNameLst>
                                          <p:attrName>ppt_x</p:attrName>
                                        </p:attrNameLst>
                                      </p:cBhvr>
                                      <p:tavLst>
                                        <p:tav tm="0">
                                          <p:val>
                                            <p:strVal val="#ppt_x"/>
                                          </p:val>
                                        </p:tav>
                                        <p:tav tm="100000">
                                          <p:val>
                                            <p:strVal val="#ppt_x"/>
                                          </p:val>
                                        </p:tav>
                                      </p:tavLst>
                                    </p:anim>
                                    <p:anim calcmode="lin" valueType="num">
                                      <p:cBhvr>
                                        <p:cTn id="36" dur="600" fill="hold"/>
                                        <p:tgtEl>
                                          <p:spTgt spid="21"/>
                                        </p:tgtEl>
                                        <p:attrNameLst>
                                          <p:attrName>ppt_y</p:attrName>
                                        </p:attrNameLst>
                                      </p:cBhvr>
                                      <p:tavLst>
                                        <p:tav tm="0">
                                          <p:val>
                                            <p:strVal val="#ppt_y+.1"/>
                                          </p:val>
                                        </p:tav>
                                        <p:tav tm="100000">
                                          <p:val>
                                            <p:strVal val="#ppt_y"/>
                                          </p:val>
                                        </p:tav>
                                      </p:tavLst>
                                    </p:anim>
                                  </p:childTnLst>
                                </p:cTn>
                              </p:par>
                              <p:par>
                                <p:cTn id="37" presetID="42" presetClass="entr" presetSubtype="0" accel="15000" decel="25000" fill="hold" grpId="0" nodeType="withEffect">
                                  <p:stCondLst>
                                    <p:cond delay="13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600"/>
                                        <p:tgtEl>
                                          <p:spTgt spid="22"/>
                                        </p:tgtEl>
                                      </p:cBhvr>
                                    </p:animEffect>
                                    <p:anim calcmode="lin" valueType="num">
                                      <p:cBhvr>
                                        <p:cTn id="40" dur="600" fill="hold"/>
                                        <p:tgtEl>
                                          <p:spTgt spid="22"/>
                                        </p:tgtEl>
                                        <p:attrNameLst>
                                          <p:attrName>ppt_x</p:attrName>
                                        </p:attrNameLst>
                                      </p:cBhvr>
                                      <p:tavLst>
                                        <p:tav tm="0">
                                          <p:val>
                                            <p:strVal val="#ppt_x"/>
                                          </p:val>
                                        </p:tav>
                                        <p:tav tm="100000">
                                          <p:val>
                                            <p:strVal val="#ppt_x"/>
                                          </p:val>
                                        </p:tav>
                                      </p:tavLst>
                                    </p:anim>
                                    <p:anim calcmode="lin" valueType="num">
                                      <p:cBhvr>
                                        <p:cTn id="41" dur="6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accel="15000" decel="25000" fill="hold" grpId="0"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600"/>
                                        <p:tgtEl>
                                          <p:spTgt spid="23"/>
                                        </p:tgtEl>
                                      </p:cBhvr>
                                    </p:animEffect>
                                    <p:anim calcmode="lin" valueType="num">
                                      <p:cBhvr>
                                        <p:cTn id="47" dur="600" fill="hold"/>
                                        <p:tgtEl>
                                          <p:spTgt spid="23"/>
                                        </p:tgtEl>
                                        <p:attrNameLst>
                                          <p:attrName>ppt_x</p:attrName>
                                        </p:attrNameLst>
                                      </p:cBhvr>
                                      <p:tavLst>
                                        <p:tav tm="0">
                                          <p:val>
                                            <p:strVal val="#ppt_x"/>
                                          </p:val>
                                        </p:tav>
                                        <p:tav tm="100000">
                                          <p:val>
                                            <p:strVal val="#ppt_x"/>
                                          </p:val>
                                        </p:tav>
                                      </p:tavLst>
                                    </p:anim>
                                    <p:anim calcmode="lin" valueType="num">
                                      <p:cBhvr>
                                        <p:cTn id="48" dur="600" fill="hold"/>
                                        <p:tgtEl>
                                          <p:spTgt spid="23"/>
                                        </p:tgtEl>
                                        <p:attrNameLst>
                                          <p:attrName>ppt_y</p:attrName>
                                        </p:attrNameLst>
                                      </p:cBhvr>
                                      <p:tavLst>
                                        <p:tav tm="0">
                                          <p:val>
                                            <p:strVal val="#ppt_y+.1"/>
                                          </p:val>
                                        </p:tav>
                                        <p:tav tm="100000">
                                          <p:val>
                                            <p:strVal val="#ppt_y"/>
                                          </p:val>
                                        </p:tav>
                                      </p:tavLst>
                                    </p:anim>
                                  </p:childTnLst>
                                </p:cTn>
                              </p:par>
                              <p:par>
                                <p:cTn id="49" presetID="42" presetClass="entr" presetSubtype="0" accel="15000" decel="25000" fill="hold" grpId="0" nodeType="withEffect">
                                  <p:stCondLst>
                                    <p:cond delay="65"/>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600"/>
                                        <p:tgtEl>
                                          <p:spTgt spid="24"/>
                                        </p:tgtEl>
                                      </p:cBhvr>
                                    </p:animEffect>
                                    <p:anim calcmode="lin" valueType="num">
                                      <p:cBhvr>
                                        <p:cTn id="52" dur="600" fill="hold"/>
                                        <p:tgtEl>
                                          <p:spTgt spid="24"/>
                                        </p:tgtEl>
                                        <p:attrNameLst>
                                          <p:attrName>ppt_x</p:attrName>
                                        </p:attrNameLst>
                                      </p:cBhvr>
                                      <p:tavLst>
                                        <p:tav tm="0">
                                          <p:val>
                                            <p:strVal val="#ppt_x"/>
                                          </p:val>
                                        </p:tav>
                                        <p:tav tm="100000">
                                          <p:val>
                                            <p:strVal val="#ppt_x"/>
                                          </p:val>
                                        </p:tav>
                                      </p:tavLst>
                                    </p:anim>
                                    <p:anim calcmode="lin" valueType="num">
                                      <p:cBhvr>
                                        <p:cTn id="53" dur="600" fill="hold"/>
                                        <p:tgtEl>
                                          <p:spTgt spid="24"/>
                                        </p:tgtEl>
                                        <p:attrNameLst>
                                          <p:attrName>ppt_y</p:attrName>
                                        </p:attrNameLst>
                                      </p:cBhvr>
                                      <p:tavLst>
                                        <p:tav tm="0">
                                          <p:val>
                                            <p:strVal val="#ppt_y+.1"/>
                                          </p:val>
                                        </p:tav>
                                        <p:tav tm="100000">
                                          <p:val>
                                            <p:strVal val="#ppt_y"/>
                                          </p:val>
                                        </p:tav>
                                      </p:tavLst>
                                    </p:anim>
                                  </p:childTnLst>
                                </p:cTn>
                              </p:par>
                              <p:par>
                                <p:cTn id="54" presetID="42" presetClass="entr" presetSubtype="0" accel="15000" decel="25000" fill="hold" grpId="0" nodeType="withEffect">
                                  <p:stCondLst>
                                    <p:cond delay="13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600"/>
                                        <p:tgtEl>
                                          <p:spTgt spid="25"/>
                                        </p:tgtEl>
                                      </p:cBhvr>
                                    </p:animEffect>
                                    <p:anim calcmode="lin" valueType="num">
                                      <p:cBhvr>
                                        <p:cTn id="57" dur="600" fill="hold"/>
                                        <p:tgtEl>
                                          <p:spTgt spid="25"/>
                                        </p:tgtEl>
                                        <p:attrNameLst>
                                          <p:attrName>ppt_x</p:attrName>
                                        </p:attrNameLst>
                                      </p:cBhvr>
                                      <p:tavLst>
                                        <p:tav tm="0">
                                          <p:val>
                                            <p:strVal val="#ppt_x"/>
                                          </p:val>
                                        </p:tav>
                                        <p:tav tm="100000">
                                          <p:val>
                                            <p:strVal val="#ppt_x"/>
                                          </p:val>
                                        </p:tav>
                                      </p:tavLst>
                                    </p:anim>
                                    <p:anim calcmode="lin" valueType="num">
                                      <p:cBhvr>
                                        <p:cTn id="58" dur="6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0" presetClass="entr" presetSubtype="0" accel="15000" decel="2500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6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19" grpId="0"/>
      <p:bldP spid="20" grpId="0"/>
      <p:bldP spid="21" grpId="0"/>
      <p:bldP spid="22" grpId="0"/>
      <p:bldP spid="23" grpId="0"/>
      <p:bldP spid="24" grpId="0"/>
      <p:bldP spid="25"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4" name="Text Stock that stays connected to sales">
            <a:extLst>
              <a:ext uri="{FF2B5EF4-FFF2-40B4-BE49-F238E27FC236}">
                <a16:creationId xmlns:a16="http://schemas.microsoft.com/office/drawing/2014/main" id="{0500FC13-ACED-7AAC-5261-C48076531092}"/>
              </a:ext>
            </a:extLst>
          </p:cNvPr>
          <p:cNvSpPr txBox="1"/>
          <p:nvPr/>
        </p:nvSpPr>
        <p:spPr>
          <a:xfrm>
            <a:off x="609600" y="419100"/>
            <a:ext cx="10972800" cy="1092200"/>
          </a:xfrm>
          <a:prstGeom prst="rect">
            <a:avLst/>
          </a:prstGeom>
          <a:noFill/>
        </p:spPr>
        <p:txBody>
          <a:bodyPr vert="horz" wrap="square" lIns="0" tIns="0" rIns="0" bIns="0" rtlCol="0">
            <a:noAutofit/>
          </a:bodyPr>
          <a:lstStyle/>
          <a:p>
            <a:r>
              <a:rPr lang="en-US" sz="3400" b="1">
                <a:solidFill>
                  <a:srgbClr val="F4F8FC"/>
                </a:solidFill>
                <a:latin typeface="Segoe UI" panose="020B0502040204020203" pitchFamily="34" charset="0"/>
              </a:rPr>
              <a:t>Stock that stays connected to sales</a:t>
            </a:r>
          </a:p>
        </p:txBody>
      </p:sp>
      <p:sp>
        <p:nvSpPr>
          <p:cNvPr id="15" name="Text GreenBiz">
            <a:extLst>
              <a:ext uri="{FF2B5EF4-FFF2-40B4-BE49-F238E27FC236}">
                <a16:creationId xmlns:a16="http://schemas.microsoft.com/office/drawing/2014/main" id="{A1F77AC5-C127-04C0-71C5-80395C7C7EF6}"/>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16" name="Text 06 / 18">
            <a:extLst>
              <a:ext uri="{FF2B5EF4-FFF2-40B4-BE49-F238E27FC236}">
                <a16:creationId xmlns:a16="http://schemas.microsoft.com/office/drawing/2014/main" id="{3AF7DAED-4A59-54E2-6664-672727E8987B}"/>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06 / 18</a:t>
            </a:r>
          </a:p>
        </p:txBody>
      </p:sp>
      <p:sp>
        <p:nvSpPr>
          <p:cNvPr id="17" name="Text Inventory becomes part of the daily workflow">
            <a:extLst>
              <a:ext uri="{FF2B5EF4-FFF2-40B4-BE49-F238E27FC236}">
                <a16:creationId xmlns:a16="http://schemas.microsoft.com/office/drawing/2014/main" id="{2862D227-7495-C486-5D91-177D14E211C7}"/>
              </a:ext>
            </a:extLst>
          </p:cNvPr>
          <p:cNvSpPr txBox="1"/>
          <p:nvPr/>
        </p:nvSpPr>
        <p:spPr>
          <a:xfrm>
            <a:off x="609600" y="1841500"/>
            <a:ext cx="10033000" cy="1295400"/>
          </a:xfrm>
          <a:prstGeom prst="rect">
            <a:avLst/>
          </a:prstGeom>
          <a:noFill/>
        </p:spPr>
        <p:txBody>
          <a:bodyPr vert="horz" wrap="square" lIns="0" tIns="0" rIns="0" bIns="0" rtlCol="0">
            <a:noAutofit/>
          </a:bodyPr>
          <a:lstStyle/>
          <a:p>
            <a:r>
              <a:rPr lang="en-US" sz="4200" b="1">
                <a:solidFill>
                  <a:srgbClr val="F4F8FC"/>
                </a:solidFill>
                <a:latin typeface="Segoe UI" panose="020B0502040204020203" pitchFamily="34" charset="0"/>
              </a:rPr>
              <a:t>Inventory becomes part of the daily workflow</a:t>
            </a:r>
          </a:p>
        </p:txBody>
      </p:sp>
      <p:sp>
        <p:nvSpPr>
          <p:cNvPr id="18" name="Text Easy stock entry">
            <a:extLst>
              <a:ext uri="{FF2B5EF4-FFF2-40B4-BE49-F238E27FC236}">
                <a16:creationId xmlns:a16="http://schemas.microsoft.com/office/drawing/2014/main" id="{A35B1143-D7F3-8D10-7F0A-306DCAF0D119}"/>
              </a:ext>
            </a:extLst>
          </p:cNvPr>
          <p:cNvSpPr txBox="1"/>
          <p:nvPr/>
        </p:nvSpPr>
        <p:spPr>
          <a:xfrm>
            <a:off x="609600" y="3644900"/>
            <a:ext cx="4953000" cy="571500"/>
          </a:xfrm>
          <a:prstGeom prst="rect">
            <a:avLst/>
          </a:prstGeom>
          <a:noFill/>
        </p:spPr>
        <p:txBody>
          <a:bodyPr vert="horz" wrap="square" lIns="0" tIns="0" rIns="0" bIns="0" rtlCol="0">
            <a:noAutofit/>
          </a:bodyPr>
          <a:lstStyle/>
          <a:p>
            <a:r>
              <a:rPr lang="en-US" sz="2700" b="1">
                <a:solidFill>
                  <a:srgbClr val="4EE6C0"/>
                </a:solidFill>
                <a:latin typeface="Segoe UI" panose="020B0502040204020203" pitchFamily="34" charset="0"/>
              </a:rPr>
              <a:t>Easy stock entry</a:t>
            </a:r>
          </a:p>
        </p:txBody>
      </p:sp>
      <p:sp>
        <p:nvSpPr>
          <p:cNvPr id="19" name="Text Add measured quantities manually or review AI">
            <a:extLst>
              <a:ext uri="{FF2B5EF4-FFF2-40B4-BE49-F238E27FC236}">
                <a16:creationId xmlns:a16="http://schemas.microsoft.com/office/drawing/2014/main" id="{A80239F2-251C-00D7-18DF-58F7CFBEE6AF}"/>
              </a:ext>
            </a:extLst>
          </p:cNvPr>
          <p:cNvSpPr txBox="1"/>
          <p:nvPr/>
        </p:nvSpPr>
        <p:spPr>
          <a:xfrm>
            <a:off x="609600" y="4279900"/>
            <a:ext cx="4953000" cy="13335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Add measured quantities manually or review AI suggestions from a photo.</a:t>
            </a:r>
          </a:p>
        </p:txBody>
      </p:sp>
      <p:sp>
        <p:nvSpPr>
          <p:cNvPr id="20" name="Text Fast stock control">
            <a:extLst>
              <a:ext uri="{FF2B5EF4-FFF2-40B4-BE49-F238E27FC236}">
                <a16:creationId xmlns:a16="http://schemas.microsoft.com/office/drawing/2014/main" id="{8DC08048-F0D2-8AC2-8D89-0FCB01169B00}"/>
              </a:ext>
            </a:extLst>
          </p:cNvPr>
          <p:cNvSpPr txBox="1"/>
          <p:nvPr/>
        </p:nvSpPr>
        <p:spPr>
          <a:xfrm>
            <a:off x="6527800" y="3644900"/>
            <a:ext cx="5054600" cy="571500"/>
          </a:xfrm>
          <a:prstGeom prst="rect">
            <a:avLst/>
          </a:prstGeom>
          <a:noFill/>
        </p:spPr>
        <p:txBody>
          <a:bodyPr vert="horz" wrap="square" lIns="0" tIns="0" rIns="0" bIns="0" rtlCol="0">
            <a:noAutofit/>
          </a:bodyPr>
          <a:lstStyle/>
          <a:p>
            <a:r>
              <a:rPr lang="en-US" sz="2700" b="1">
                <a:solidFill>
                  <a:srgbClr val="4EE6C0"/>
                </a:solidFill>
                <a:latin typeface="Segoe UI" panose="020B0502040204020203" pitchFamily="34" charset="0"/>
              </a:rPr>
              <a:t>Fast stock control</a:t>
            </a:r>
          </a:p>
        </p:txBody>
      </p:sp>
      <p:sp>
        <p:nvSpPr>
          <p:cNvPr id="21" name="Text See stock value, low stock and out-of-stock i">
            <a:extLst>
              <a:ext uri="{FF2B5EF4-FFF2-40B4-BE49-F238E27FC236}">
                <a16:creationId xmlns:a16="http://schemas.microsoft.com/office/drawing/2014/main" id="{41857F25-39FC-615D-EF09-9592C81072C1}"/>
              </a:ext>
            </a:extLst>
          </p:cNvPr>
          <p:cNvSpPr txBox="1"/>
          <p:nvPr/>
        </p:nvSpPr>
        <p:spPr>
          <a:xfrm>
            <a:off x="6527800" y="4279900"/>
            <a:ext cx="5054600" cy="13335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See stock value, low stock and out-of-stock items. Sell or restock directly.</a:t>
            </a:r>
          </a:p>
        </p:txBody>
      </p:sp>
      <p:sp>
        <p:nvSpPr>
          <p:cNvPr id="22" name="Text Quick restock controls: −1, +1, +5, +10">
            <a:extLst>
              <a:ext uri="{FF2B5EF4-FFF2-40B4-BE49-F238E27FC236}">
                <a16:creationId xmlns:a16="http://schemas.microsoft.com/office/drawing/2014/main" id="{F461B1B1-DCCE-EB3D-2159-6EF00D90340D}"/>
              </a:ext>
            </a:extLst>
          </p:cNvPr>
          <p:cNvSpPr txBox="1"/>
          <p:nvPr/>
        </p:nvSpPr>
        <p:spPr>
          <a:xfrm>
            <a:off x="609600" y="5676900"/>
            <a:ext cx="10972800" cy="508000"/>
          </a:xfrm>
          <a:prstGeom prst="rect">
            <a:avLst/>
          </a:prstGeom>
          <a:noFill/>
        </p:spPr>
        <p:txBody>
          <a:bodyPr vert="horz" wrap="square" lIns="0" tIns="0" rIns="0" bIns="0" rtlCol="0">
            <a:noAutofit/>
          </a:bodyPr>
          <a:lstStyle/>
          <a:p>
            <a:r>
              <a:rPr lang="en-US" sz="2500" b="1">
                <a:solidFill>
                  <a:srgbClr val="4EE6C0"/>
                </a:solidFill>
                <a:latin typeface="Segoe UI" panose="020B0502040204020203" pitchFamily="34" charset="0"/>
              </a:rPr>
              <a:t>Quick restock controls: −1, +1, +5, +10</a:t>
            </a:r>
          </a:p>
        </p:txBody>
      </p:sp>
    </p:spTree>
    <p:extLst>
      <p:ext uri="{BB962C8B-B14F-4D97-AF65-F5344CB8AC3E}">
        <p14:creationId xmlns:p14="http://schemas.microsoft.com/office/powerpoint/2010/main" val="6367112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anim calcmode="lin" valueType="num">
                                      <p:cBhvr>
                                        <p:cTn id="13" dur="600" fill="hold"/>
                                        <p:tgtEl>
                                          <p:spTgt spid="17"/>
                                        </p:tgtEl>
                                        <p:attrNameLst>
                                          <p:attrName>ppt_x</p:attrName>
                                        </p:attrNameLst>
                                      </p:cBhvr>
                                      <p:tavLst>
                                        <p:tav tm="0">
                                          <p:val>
                                            <p:strVal val="#ppt_x"/>
                                          </p:val>
                                        </p:tav>
                                        <p:tav tm="100000">
                                          <p:val>
                                            <p:strVal val="#ppt_x"/>
                                          </p:val>
                                        </p:tav>
                                      </p:tavLst>
                                    </p:anim>
                                    <p:anim calcmode="lin" valueType="num">
                                      <p:cBhvr>
                                        <p:cTn id="14" dur="6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accel="15000" decel="2500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600"/>
                                        <p:tgtEl>
                                          <p:spTgt spid="18"/>
                                        </p:tgtEl>
                                      </p:cBhvr>
                                    </p:animEffect>
                                    <p:anim calcmode="lin" valueType="num">
                                      <p:cBhvr>
                                        <p:cTn id="20" dur="600" fill="hold"/>
                                        <p:tgtEl>
                                          <p:spTgt spid="18"/>
                                        </p:tgtEl>
                                        <p:attrNameLst>
                                          <p:attrName>ppt_x</p:attrName>
                                        </p:attrNameLst>
                                      </p:cBhvr>
                                      <p:tavLst>
                                        <p:tav tm="0">
                                          <p:val>
                                            <p:strVal val="#ppt_x"/>
                                          </p:val>
                                        </p:tav>
                                        <p:tav tm="100000">
                                          <p:val>
                                            <p:strVal val="#ppt_x"/>
                                          </p:val>
                                        </p:tav>
                                      </p:tavLst>
                                    </p:anim>
                                    <p:anim calcmode="lin" valueType="num">
                                      <p:cBhvr>
                                        <p:cTn id="21" dur="600" fill="hold"/>
                                        <p:tgtEl>
                                          <p:spTgt spid="18"/>
                                        </p:tgtEl>
                                        <p:attrNameLst>
                                          <p:attrName>ppt_y</p:attrName>
                                        </p:attrNameLst>
                                      </p:cBhvr>
                                      <p:tavLst>
                                        <p:tav tm="0">
                                          <p:val>
                                            <p:strVal val="#ppt_y+.1"/>
                                          </p:val>
                                        </p:tav>
                                        <p:tav tm="100000">
                                          <p:val>
                                            <p:strVal val="#ppt_y"/>
                                          </p:val>
                                        </p:tav>
                                      </p:tavLst>
                                    </p:anim>
                                  </p:childTnLst>
                                </p:cTn>
                              </p:par>
                              <p:par>
                                <p:cTn id="22" presetID="42" presetClass="entr" presetSubtype="0" accel="15000" decel="25000" fill="hold" grpId="0" nodeType="withEffect">
                                  <p:stCondLst>
                                    <p:cond delay="65"/>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600"/>
                                        <p:tgtEl>
                                          <p:spTgt spid="19"/>
                                        </p:tgtEl>
                                      </p:cBhvr>
                                    </p:animEffect>
                                    <p:anim calcmode="lin" valueType="num">
                                      <p:cBhvr>
                                        <p:cTn id="25" dur="600" fill="hold"/>
                                        <p:tgtEl>
                                          <p:spTgt spid="19"/>
                                        </p:tgtEl>
                                        <p:attrNameLst>
                                          <p:attrName>ppt_x</p:attrName>
                                        </p:attrNameLst>
                                      </p:cBhvr>
                                      <p:tavLst>
                                        <p:tav tm="0">
                                          <p:val>
                                            <p:strVal val="#ppt_x"/>
                                          </p:val>
                                        </p:tav>
                                        <p:tav tm="100000">
                                          <p:val>
                                            <p:strVal val="#ppt_x"/>
                                          </p:val>
                                        </p:tav>
                                      </p:tavLst>
                                    </p:anim>
                                    <p:anim calcmode="lin" valueType="num">
                                      <p:cBhvr>
                                        <p:cTn id="26" dur="6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accel="15000" decel="2500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600"/>
                                        <p:tgtEl>
                                          <p:spTgt spid="20"/>
                                        </p:tgtEl>
                                      </p:cBhvr>
                                    </p:animEffect>
                                    <p:anim calcmode="lin" valueType="num">
                                      <p:cBhvr>
                                        <p:cTn id="32" dur="600" fill="hold"/>
                                        <p:tgtEl>
                                          <p:spTgt spid="20"/>
                                        </p:tgtEl>
                                        <p:attrNameLst>
                                          <p:attrName>ppt_x</p:attrName>
                                        </p:attrNameLst>
                                      </p:cBhvr>
                                      <p:tavLst>
                                        <p:tav tm="0">
                                          <p:val>
                                            <p:strVal val="#ppt_x"/>
                                          </p:val>
                                        </p:tav>
                                        <p:tav tm="100000">
                                          <p:val>
                                            <p:strVal val="#ppt_x"/>
                                          </p:val>
                                        </p:tav>
                                      </p:tavLst>
                                    </p:anim>
                                    <p:anim calcmode="lin" valueType="num">
                                      <p:cBhvr>
                                        <p:cTn id="33" dur="600" fill="hold"/>
                                        <p:tgtEl>
                                          <p:spTgt spid="20"/>
                                        </p:tgtEl>
                                        <p:attrNameLst>
                                          <p:attrName>ppt_y</p:attrName>
                                        </p:attrNameLst>
                                      </p:cBhvr>
                                      <p:tavLst>
                                        <p:tav tm="0">
                                          <p:val>
                                            <p:strVal val="#ppt_y+.1"/>
                                          </p:val>
                                        </p:tav>
                                        <p:tav tm="100000">
                                          <p:val>
                                            <p:strVal val="#ppt_y"/>
                                          </p:val>
                                        </p:tav>
                                      </p:tavLst>
                                    </p:anim>
                                  </p:childTnLst>
                                </p:cTn>
                              </p:par>
                              <p:par>
                                <p:cTn id="34" presetID="42" presetClass="entr" presetSubtype="0" accel="15000" decel="25000" fill="hold" grpId="0" nodeType="withEffect">
                                  <p:stCondLst>
                                    <p:cond delay="65"/>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600"/>
                                        <p:tgtEl>
                                          <p:spTgt spid="21"/>
                                        </p:tgtEl>
                                      </p:cBhvr>
                                    </p:animEffect>
                                    <p:anim calcmode="lin" valueType="num">
                                      <p:cBhvr>
                                        <p:cTn id="37" dur="600" fill="hold"/>
                                        <p:tgtEl>
                                          <p:spTgt spid="21"/>
                                        </p:tgtEl>
                                        <p:attrNameLst>
                                          <p:attrName>ppt_x</p:attrName>
                                        </p:attrNameLst>
                                      </p:cBhvr>
                                      <p:tavLst>
                                        <p:tav tm="0">
                                          <p:val>
                                            <p:strVal val="#ppt_x"/>
                                          </p:val>
                                        </p:tav>
                                        <p:tav tm="100000">
                                          <p:val>
                                            <p:strVal val="#ppt_x"/>
                                          </p:val>
                                        </p:tav>
                                      </p:tavLst>
                                    </p:anim>
                                    <p:anim calcmode="lin" valueType="num">
                                      <p:cBhvr>
                                        <p:cTn id="38" dur="6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accel="15000" decel="2500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19" grpId="0"/>
      <p:bldP spid="20" grpId="0"/>
      <p:bldP spid="21"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3" name="Text Payment matching at checkout">
            <a:extLst>
              <a:ext uri="{FF2B5EF4-FFF2-40B4-BE49-F238E27FC236}">
                <a16:creationId xmlns:a16="http://schemas.microsoft.com/office/drawing/2014/main" id="{4B55B814-38FE-D978-3EA3-BB66151A616A}"/>
              </a:ext>
            </a:extLst>
          </p:cNvPr>
          <p:cNvSpPr txBox="1"/>
          <p:nvPr/>
        </p:nvSpPr>
        <p:spPr>
          <a:xfrm>
            <a:off x="609600" y="419100"/>
            <a:ext cx="10972800" cy="1092200"/>
          </a:xfrm>
          <a:prstGeom prst="rect">
            <a:avLst/>
          </a:prstGeom>
          <a:noFill/>
        </p:spPr>
        <p:txBody>
          <a:bodyPr vert="horz" wrap="square" lIns="0" tIns="0" rIns="0" bIns="0" rtlCol="0">
            <a:noAutofit/>
          </a:bodyPr>
          <a:lstStyle/>
          <a:p>
            <a:r>
              <a:rPr lang="en-US" sz="3400" b="1">
                <a:solidFill>
                  <a:srgbClr val="F4F8FC"/>
                </a:solidFill>
                <a:latin typeface="Segoe UI" panose="020B0502040204020203" pitchFamily="34" charset="0"/>
              </a:rPr>
              <a:t>Payment matching at checkout</a:t>
            </a:r>
          </a:p>
        </p:txBody>
      </p:sp>
      <p:sp>
        <p:nvSpPr>
          <p:cNvPr id="14" name="Text GreenBiz">
            <a:extLst>
              <a:ext uri="{FF2B5EF4-FFF2-40B4-BE49-F238E27FC236}">
                <a16:creationId xmlns:a16="http://schemas.microsoft.com/office/drawing/2014/main" id="{C02EA66D-435B-59E5-F51D-31E66929EBB9}"/>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15" name="Text 07 / 18">
            <a:extLst>
              <a:ext uri="{FF2B5EF4-FFF2-40B4-BE49-F238E27FC236}">
                <a16:creationId xmlns:a16="http://schemas.microsoft.com/office/drawing/2014/main" id="{DAA992A4-D062-5ECF-747D-F025EC922954}"/>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07 / 18</a:t>
            </a:r>
          </a:p>
        </p:txBody>
      </p:sp>
      <p:graphicFrame>
        <p:nvGraphicFramePr>
          <p:cNvPr id="16" name="Editable evidence table">
            <a:extLst>
              <a:ext uri="{FF2B5EF4-FFF2-40B4-BE49-F238E27FC236}">
                <a16:creationId xmlns:a16="http://schemas.microsoft.com/office/drawing/2014/main" id="{943758D3-7156-52BA-BFAA-D53A344F3D23}"/>
              </a:ext>
            </a:extLst>
          </p:cNvPr>
          <p:cNvGraphicFramePr>
            <a:graphicFrameLocks noGrp="1"/>
          </p:cNvGraphicFramePr>
          <p:nvPr>
            <p:extLst>
              <p:ext uri="{D42A27DB-BD31-4B8C-83A1-F6EECF244321}">
                <p14:modId xmlns:p14="http://schemas.microsoft.com/office/powerpoint/2010/main" val="611310274"/>
              </p:ext>
            </p:extLst>
          </p:nvPr>
        </p:nvGraphicFramePr>
        <p:xfrm>
          <a:off x="609600" y="1790700"/>
          <a:ext cx="10972800" cy="34925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333777348"/>
                    </a:ext>
                  </a:extLst>
                </a:gridCol>
                <a:gridCol w="7772400">
                  <a:extLst>
                    <a:ext uri="{9D8B030D-6E8A-4147-A177-3AD203B41FA5}">
                      <a16:colId xmlns:a16="http://schemas.microsoft.com/office/drawing/2014/main" val="157906879"/>
                    </a:ext>
                  </a:extLst>
                </a:gridCol>
              </a:tblGrid>
              <a:tr h="698500">
                <a:tc>
                  <a:txBody>
                    <a:bodyPr/>
                    <a:lstStyle/>
                    <a:p>
                      <a:r>
                        <a:rPr lang="en-US" sz="1800" b="1">
                          <a:solidFill>
                            <a:srgbClr val="F4F8FC"/>
                          </a:solidFill>
                          <a:latin typeface="Segoe UI" panose="020B0502040204020203" pitchFamily="34" charset="0"/>
                        </a:rPr>
                        <a:t>At checkout</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tc>
                  <a:txBody>
                    <a:bodyPr/>
                    <a:lstStyle/>
                    <a:p>
                      <a:r>
                        <a:rPr lang="en-US" sz="1800" b="1">
                          <a:solidFill>
                            <a:srgbClr val="F4F8FC"/>
                          </a:solidFill>
                          <a:latin typeface="Segoe UI" panose="020B0502040204020203" pitchFamily="34" charset="0"/>
                        </a:rPr>
                        <a:t>Version 2.1 behavior</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extLst>
                  <a:ext uri="{0D108BD9-81ED-4DB2-BD59-A6C34878D82A}">
                    <a16:rowId xmlns:a16="http://schemas.microsoft.com/office/drawing/2014/main" val="124003239"/>
                  </a:ext>
                </a:extLst>
              </a:tr>
              <a:tr h="698500">
                <a:tc>
                  <a:txBody>
                    <a:bodyPr/>
                    <a:lstStyle/>
                    <a:p>
                      <a:r>
                        <a:rPr lang="en-US" sz="1800" b="0">
                          <a:solidFill>
                            <a:srgbClr val="F4F8FC"/>
                          </a:solidFill>
                          <a:latin typeface="Segoe UI" panose="020B0502040204020203" pitchFamily="34" charset="0"/>
                        </a:rPr>
                        <a:t>Suggested matches</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Recent payments first, then closest amount</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extLst>
                  <a:ext uri="{0D108BD9-81ED-4DB2-BD59-A6C34878D82A}">
                    <a16:rowId xmlns:a16="http://schemas.microsoft.com/office/drawing/2014/main" val="1214696270"/>
                  </a:ext>
                </a:extLst>
              </a:tr>
              <a:tr h="698500">
                <a:tc>
                  <a:txBody>
                    <a:bodyPr/>
                    <a:lstStyle/>
                    <a:p>
                      <a:r>
                        <a:rPr lang="en-US" sz="1800" b="0">
                          <a:solidFill>
                            <a:srgbClr val="F4F8FC"/>
                          </a:solidFill>
                          <a:latin typeface="Segoe UI" panose="020B0502040204020203" pitchFamily="34" charset="0"/>
                        </a:rPr>
                        <a:t>Small charge difference</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tc>
                  <a:txBody>
                    <a:bodyPr/>
                    <a:lstStyle/>
                    <a:p>
                      <a:r>
                        <a:rPr lang="en-US" sz="1800" b="0">
                          <a:solidFill>
                            <a:srgbClr val="F4F8FC"/>
                          </a:solidFill>
                          <a:latin typeface="Segoe UI" panose="020B0502040204020203" pitchFamily="34" charset="0"/>
                        </a:rPr>
                        <a:t>Within 2% of the bill, with a minimum allowance</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extLst>
                  <a:ext uri="{0D108BD9-81ED-4DB2-BD59-A6C34878D82A}">
                    <a16:rowId xmlns:a16="http://schemas.microsoft.com/office/drawing/2014/main" val="773799251"/>
                  </a:ext>
                </a:extLst>
              </a:tr>
              <a:tr h="698500">
                <a:tc>
                  <a:txBody>
                    <a:bodyPr/>
                    <a:lstStyle/>
                    <a:p>
                      <a:r>
                        <a:rPr lang="en-US" sz="1800" b="0">
                          <a:solidFill>
                            <a:srgbClr val="F4F8FC"/>
                          </a:solidFill>
                          <a:latin typeface="Segoe UI" panose="020B0502040204020203" pitchFamily="34" charset="0"/>
                        </a:rPr>
                        <a:t>Payment outside the band</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Ask before saving the sale and payment separately</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extLst>
                  <a:ext uri="{0D108BD9-81ED-4DB2-BD59-A6C34878D82A}">
                    <a16:rowId xmlns:a16="http://schemas.microsoft.com/office/drawing/2014/main" val="3593064524"/>
                  </a:ext>
                </a:extLst>
              </a:tr>
              <a:tr h="698500">
                <a:tc>
                  <a:txBody>
                    <a:bodyPr/>
                    <a:lstStyle/>
                    <a:p>
                      <a:r>
                        <a:rPr lang="en-US" sz="1800" b="0">
                          <a:solidFill>
                            <a:srgbClr val="F4F8FC"/>
                          </a:solidFill>
                          <a:latin typeface="Segoe UI" panose="020B0502040204020203" pitchFamily="34" charset="0"/>
                        </a:rPr>
                        <a:t>No payment message</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tc>
                  <a:txBody>
                    <a:bodyPr/>
                    <a:lstStyle/>
                    <a:p>
                      <a:r>
                        <a:rPr lang="en-US" sz="1800" b="0">
                          <a:solidFill>
                            <a:srgbClr val="F4F8FC"/>
                          </a:solidFill>
                          <a:latin typeface="Segoe UI" panose="020B0502040204020203" pitchFamily="34" charset="0"/>
                        </a:rPr>
                        <a:t>Record the chosen payment method manually</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extLst>
                  <a:ext uri="{0D108BD9-81ED-4DB2-BD59-A6C34878D82A}">
                    <a16:rowId xmlns:a16="http://schemas.microsoft.com/office/drawing/2014/main" val="1742555310"/>
                  </a:ext>
                </a:extLst>
              </a:tr>
            </a:tbl>
          </a:graphicData>
        </a:graphic>
      </p:graphicFrame>
      <p:sp>
        <p:nvSpPr>
          <p:cNvPr id="17" name="Text The sale keeps its total. The payment keeps t">
            <a:extLst>
              <a:ext uri="{FF2B5EF4-FFF2-40B4-BE49-F238E27FC236}">
                <a16:creationId xmlns:a16="http://schemas.microsoft.com/office/drawing/2014/main" id="{8A2D79A0-AABF-D6F0-20EB-9F6C08AA25C2}"/>
              </a:ext>
            </a:extLst>
          </p:cNvPr>
          <p:cNvSpPr txBox="1"/>
          <p:nvPr/>
        </p:nvSpPr>
        <p:spPr>
          <a:xfrm>
            <a:off x="609600" y="5664200"/>
            <a:ext cx="10972800" cy="6858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The sale keeps its total. The payment keeps the amount received.</a:t>
            </a:r>
          </a:p>
        </p:txBody>
      </p:sp>
    </p:spTree>
    <p:extLst>
      <p:ext uri="{BB962C8B-B14F-4D97-AF65-F5344CB8AC3E}">
        <p14:creationId xmlns:p14="http://schemas.microsoft.com/office/powerpoint/2010/main" val="11583350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accel="15000" decel="2500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600"/>
                                        <p:tgtEl>
                                          <p:spTgt spid="17"/>
                                        </p:tgtEl>
                                      </p:cBhvr>
                                    </p:animEffect>
                                    <p:anim calcmode="lin" valueType="num">
                                      <p:cBhvr>
                                        <p:cTn id="18" dur="600" fill="hold"/>
                                        <p:tgtEl>
                                          <p:spTgt spid="17"/>
                                        </p:tgtEl>
                                        <p:attrNameLst>
                                          <p:attrName>ppt_x</p:attrName>
                                        </p:attrNameLst>
                                      </p:cBhvr>
                                      <p:tavLst>
                                        <p:tav tm="0">
                                          <p:val>
                                            <p:strVal val="#ppt_x"/>
                                          </p:val>
                                        </p:tav>
                                        <p:tav tm="100000">
                                          <p:val>
                                            <p:strVal val="#ppt_x"/>
                                          </p:val>
                                        </p:tav>
                                      </p:tavLst>
                                    </p:anim>
                                    <p:anim calcmode="lin" valueType="num">
                                      <p:cBhvr>
                                        <p:cTn id="19" dur="6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4" name="Text A payment can start a sale">
            <a:extLst>
              <a:ext uri="{FF2B5EF4-FFF2-40B4-BE49-F238E27FC236}">
                <a16:creationId xmlns:a16="http://schemas.microsoft.com/office/drawing/2014/main" id="{D580984C-87B0-F4D8-18E0-C50FC90E3C68}"/>
              </a:ext>
            </a:extLst>
          </p:cNvPr>
          <p:cNvSpPr txBox="1"/>
          <p:nvPr/>
        </p:nvSpPr>
        <p:spPr>
          <a:xfrm>
            <a:off x="609600" y="419100"/>
            <a:ext cx="10972800" cy="1092200"/>
          </a:xfrm>
          <a:prstGeom prst="rect">
            <a:avLst/>
          </a:prstGeom>
          <a:noFill/>
        </p:spPr>
        <p:txBody>
          <a:bodyPr vert="horz" wrap="square" lIns="0" tIns="0" rIns="0" bIns="0" rtlCol="0">
            <a:noAutofit/>
          </a:bodyPr>
          <a:lstStyle/>
          <a:p>
            <a:r>
              <a:rPr lang="en-US" sz="3400" b="1">
                <a:solidFill>
                  <a:srgbClr val="F4F8FC"/>
                </a:solidFill>
                <a:latin typeface="Segoe UI" panose="020B0502040204020203" pitchFamily="34" charset="0"/>
              </a:rPr>
              <a:t>A payment can start a sale</a:t>
            </a:r>
          </a:p>
        </p:txBody>
      </p:sp>
      <p:sp>
        <p:nvSpPr>
          <p:cNvPr id="15" name="Text GreenBiz">
            <a:extLst>
              <a:ext uri="{FF2B5EF4-FFF2-40B4-BE49-F238E27FC236}">
                <a16:creationId xmlns:a16="http://schemas.microsoft.com/office/drawing/2014/main" id="{E33D0EE2-CB6F-C4DF-651C-20EF69472056}"/>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16" name="Text 08 / 18">
            <a:extLst>
              <a:ext uri="{FF2B5EF4-FFF2-40B4-BE49-F238E27FC236}">
                <a16:creationId xmlns:a16="http://schemas.microsoft.com/office/drawing/2014/main" id="{F932F4D1-8521-6646-A79C-A876EF1093BB}"/>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08 / 18</a:t>
            </a:r>
          </a:p>
        </p:txBody>
      </p:sp>
      <p:sp>
        <p:nvSpPr>
          <p:cNvPr id="17" name="Text 01">
            <a:extLst>
              <a:ext uri="{FF2B5EF4-FFF2-40B4-BE49-F238E27FC236}">
                <a16:creationId xmlns:a16="http://schemas.microsoft.com/office/drawing/2014/main" id="{D24846C7-050C-B27A-15FF-483C34A15473}"/>
              </a:ext>
            </a:extLst>
          </p:cNvPr>
          <p:cNvSpPr txBox="1"/>
          <p:nvPr/>
        </p:nvSpPr>
        <p:spPr>
          <a:xfrm>
            <a:off x="609600" y="2032000"/>
            <a:ext cx="3302000" cy="990600"/>
          </a:xfrm>
          <a:prstGeom prst="rect">
            <a:avLst/>
          </a:prstGeom>
          <a:noFill/>
        </p:spPr>
        <p:txBody>
          <a:bodyPr vert="horz" wrap="square" lIns="0" tIns="0" rIns="0" bIns="0" rtlCol="0">
            <a:noAutofit/>
          </a:bodyPr>
          <a:lstStyle/>
          <a:p>
            <a:r>
              <a:rPr lang="en-US" sz="5800" b="1">
                <a:solidFill>
                  <a:srgbClr val="4EE6C0"/>
                </a:solidFill>
                <a:latin typeface="Segoe UI" panose="020B0502040204020203" pitchFamily="34" charset="0"/>
              </a:rPr>
              <a:t>01</a:t>
            </a:r>
          </a:p>
        </p:txBody>
      </p:sp>
      <p:sp>
        <p:nvSpPr>
          <p:cNvPr id="18" name="Text Payment arrives">
            <a:extLst>
              <a:ext uri="{FF2B5EF4-FFF2-40B4-BE49-F238E27FC236}">
                <a16:creationId xmlns:a16="http://schemas.microsoft.com/office/drawing/2014/main" id="{18B76BB2-1E15-52F0-0946-6BBABAD8205E}"/>
              </a:ext>
            </a:extLst>
          </p:cNvPr>
          <p:cNvSpPr txBox="1"/>
          <p:nvPr/>
        </p:nvSpPr>
        <p:spPr>
          <a:xfrm>
            <a:off x="609600" y="3632200"/>
            <a:ext cx="3302000" cy="685800"/>
          </a:xfrm>
          <a:prstGeom prst="rect">
            <a:avLst/>
          </a:prstGeom>
          <a:noFill/>
        </p:spPr>
        <p:txBody>
          <a:bodyPr vert="horz" wrap="square" lIns="0" tIns="0" rIns="0" bIns="0" rtlCol="0">
            <a:noAutofit/>
          </a:bodyPr>
          <a:lstStyle/>
          <a:p>
            <a:r>
              <a:rPr lang="en-US" sz="2800" b="1">
                <a:solidFill>
                  <a:srgbClr val="F4F8FC"/>
                </a:solidFill>
                <a:latin typeface="Segoe UI" panose="020B0502040204020203" pitchFamily="34" charset="0"/>
              </a:rPr>
              <a:t>Payment arrives</a:t>
            </a:r>
          </a:p>
        </p:txBody>
      </p:sp>
      <p:sp>
        <p:nvSpPr>
          <p:cNvPr id="19" name="Text An Android notification identifies the method">
            <a:extLst>
              <a:ext uri="{FF2B5EF4-FFF2-40B4-BE49-F238E27FC236}">
                <a16:creationId xmlns:a16="http://schemas.microsoft.com/office/drawing/2014/main" id="{DDD5A90D-403C-ED0E-CF16-EC62E7BF77FC}"/>
              </a:ext>
            </a:extLst>
          </p:cNvPr>
          <p:cNvSpPr txBox="1"/>
          <p:nvPr/>
        </p:nvSpPr>
        <p:spPr>
          <a:xfrm>
            <a:off x="609600" y="4483100"/>
            <a:ext cx="3302000" cy="14478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An Android notification identifies the method and amount.</a:t>
            </a:r>
          </a:p>
        </p:txBody>
      </p:sp>
      <p:cxnSp>
        <p:nvCxnSpPr>
          <p:cNvPr id="20" name="Straight Arrow Connector 19">
            <a:extLst>
              <a:ext uri="{FF2B5EF4-FFF2-40B4-BE49-F238E27FC236}">
                <a16:creationId xmlns:a16="http://schemas.microsoft.com/office/drawing/2014/main" id="{92B96F73-234E-94B1-00FF-9628496853FE}"/>
              </a:ext>
            </a:extLst>
          </p:cNvPr>
          <p:cNvCxnSpPr/>
          <p:nvPr/>
        </p:nvCxnSpPr>
        <p:spPr>
          <a:xfrm>
            <a:off x="1905000" y="2654300"/>
            <a:ext cx="2235200" cy="0"/>
          </a:xfrm>
          <a:prstGeom prst="straightConnector1">
            <a:avLst/>
          </a:prstGeom>
          <a:ln w="19050" cap="flat" cmpd="sng" algn="ctr">
            <a:solidFill>
              <a:srgbClr val="4EE6C0">
                <a:alpha val="65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1" name="Text 02">
            <a:extLst>
              <a:ext uri="{FF2B5EF4-FFF2-40B4-BE49-F238E27FC236}">
                <a16:creationId xmlns:a16="http://schemas.microsoft.com/office/drawing/2014/main" id="{066190CD-180B-30FE-E204-14CD4288E895}"/>
              </a:ext>
            </a:extLst>
          </p:cNvPr>
          <p:cNvSpPr txBox="1"/>
          <p:nvPr/>
        </p:nvSpPr>
        <p:spPr>
          <a:xfrm>
            <a:off x="4356100" y="2032000"/>
            <a:ext cx="3302000" cy="990600"/>
          </a:xfrm>
          <a:prstGeom prst="rect">
            <a:avLst/>
          </a:prstGeom>
          <a:noFill/>
        </p:spPr>
        <p:txBody>
          <a:bodyPr vert="horz" wrap="square" lIns="0" tIns="0" rIns="0" bIns="0" rtlCol="0">
            <a:noAutofit/>
          </a:bodyPr>
          <a:lstStyle/>
          <a:p>
            <a:r>
              <a:rPr lang="en-US" sz="5800" b="1">
                <a:solidFill>
                  <a:srgbClr val="4EE6C0"/>
                </a:solidFill>
                <a:latin typeface="Segoe UI" panose="020B0502040204020203" pitchFamily="34" charset="0"/>
              </a:rPr>
              <a:t>02</a:t>
            </a:r>
          </a:p>
        </p:txBody>
      </p:sp>
      <p:sp>
        <p:nvSpPr>
          <p:cNvPr id="22" name="Text Owner reviews">
            <a:extLst>
              <a:ext uri="{FF2B5EF4-FFF2-40B4-BE49-F238E27FC236}">
                <a16:creationId xmlns:a16="http://schemas.microsoft.com/office/drawing/2014/main" id="{A76F2F36-C2D6-29C4-24D3-4371A867BED7}"/>
              </a:ext>
            </a:extLst>
          </p:cNvPr>
          <p:cNvSpPr txBox="1"/>
          <p:nvPr/>
        </p:nvSpPr>
        <p:spPr>
          <a:xfrm>
            <a:off x="4356100" y="3632200"/>
            <a:ext cx="3302000" cy="685800"/>
          </a:xfrm>
          <a:prstGeom prst="rect">
            <a:avLst/>
          </a:prstGeom>
          <a:noFill/>
        </p:spPr>
        <p:txBody>
          <a:bodyPr vert="horz" wrap="square" lIns="0" tIns="0" rIns="0" bIns="0" rtlCol="0">
            <a:noAutofit/>
          </a:bodyPr>
          <a:lstStyle/>
          <a:p>
            <a:r>
              <a:rPr lang="en-US" sz="2800" b="1">
                <a:solidFill>
                  <a:srgbClr val="F4F8FC"/>
                </a:solidFill>
                <a:latin typeface="Segoe UI" panose="020B0502040204020203" pitchFamily="34" charset="0"/>
              </a:rPr>
              <a:t>Owner reviews</a:t>
            </a:r>
          </a:p>
        </p:txBody>
      </p:sp>
      <p:sp>
        <p:nvSpPr>
          <p:cNvPr id="23" name="Text A prompt offers Create a sale. The selling sc">
            <a:extLst>
              <a:ext uri="{FF2B5EF4-FFF2-40B4-BE49-F238E27FC236}">
                <a16:creationId xmlns:a16="http://schemas.microsoft.com/office/drawing/2014/main" id="{026DFC8F-40D0-0C61-5C63-9CCCE7DA22C9}"/>
              </a:ext>
            </a:extLst>
          </p:cNvPr>
          <p:cNvSpPr txBox="1"/>
          <p:nvPr/>
        </p:nvSpPr>
        <p:spPr>
          <a:xfrm>
            <a:off x="4356100" y="4483100"/>
            <a:ext cx="3302000" cy="14478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A prompt offers Create a sale. The selling screen can offer Attach.</a:t>
            </a:r>
          </a:p>
        </p:txBody>
      </p:sp>
      <p:cxnSp>
        <p:nvCxnSpPr>
          <p:cNvPr id="24" name="Straight Arrow Connector 23">
            <a:extLst>
              <a:ext uri="{FF2B5EF4-FFF2-40B4-BE49-F238E27FC236}">
                <a16:creationId xmlns:a16="http://schemas.microsoft.com/office/drawing/2014/main" id="{121F2E3C-A8C8-C362-8692-C9471B36D07F}"/>
              </a:ext>
            </a:extLst>
          </p:cNvPr>
          <p:cNvCxnSpPr/>
          <p:nvPr/>
        </p:nvCxnSpPr>
        <p:spPr>
          <a:xfrm>
            <a:off x="5651500" y="2654300"/>
            <a:ext cx="2235200" cy="0"/>
          </a:xfrm>
          <a:prstGeom prst="straightConnector1">
            <a:avLst/>
          </a:prstGeom>
          <a:ln w="19050" cap="flat" cmpd="sng" algn="ctr">
            <a:solidFill>
              <a:srgbClr val="4EE6C0">
                <a:alpha val="65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5" name="Text 03">
            <a:extLst>
              <a:ext uri="{FF2B5EF4-FFF2-40B4-BE49-F238E27FC236}">
                <a16:creationId xmlns:a16="http://schemas.microsoft.com/office/drawing/2014/main" id="{A1B675C5-BA7B-5DD4-A1E7-8263A8EB88BE}"/>
              </a:ext>
            </a:extLst>
          </p:cNvPr>
          <p:cNvSpPr txBox="1"/>
          <p:nvPr/>
        </p:nvSpPr>
        <p:spPr>
          <a:xfrm>
            <a:off x="8102600" y="2032000"/>
            <a:ext cx="3302000" cy="990600"/>
          </a:xfrm>
          <a:prstGeom prst="rect">
            <a:avLst/>
          </a:prstGeom>
          <a:noFill/>
        </p:spPr>
        <p:txBody>
          <a:bodyPr vert="horz" wrap="square" lIns="0" tIns="0" rIns="0" bIns="0" rtlCol="0">
            <a:noAutofit/>
          </a:bodyPr>
          <a:lstStyle/>
          <a:p>
            <a:r>
              <a:rPr lang="en-US" sz="5800" b="1">
                <a:solidFill>
                  <a:srgbClr val="4EE6C0"/>
                </a:solidFill>
                <a:latin typeface="Segoe UI" panose="020B0502040204020203" pitchFamily="34" charset="0"/>
              </a:rPr>
              <a:t>03</a:t>
            </a:r>
          </a:p>
        </p:txBody>
      </p:sp>
      <p:sp>
        <p:nvSpPr>
          <p:cNvPr id="26" name="Text Sale completes">
            <a:extLst>
              <a:ext uri="{FF2B5EF4-FFF2-40B4-BE49-F238E27FC236}">
                <a16:creationId xmlns:a16="http://schemas.microsoft.com/office/drawing/2014/main" id="{A417B50B-5A90-7E10-2592-0952C3991F8C}"/>
              </a:ext>
            </a:extLst>
          </p:cNvPr>
          <p:cNvSpPr txBox="1"/>
          <p:nvPr/>
        </p:nvSpPr>
        <p:spPr>
          <a:xfrm>
            <a:off x="8102600" y="3632200"/>
            <a:ext cx="3302000" cy="685800"/>
          </a:xfrm>
          <a:prstGeom prst="rect">
            <a:avLst/>
          </a:prstGeom>
          <a:noFill/>
        </p:spPr>
        <p:txBody>
          <a:bodyPr vert="horz" wrap="square" lIns="0" tIns="0" rIns="0" bIns="0" rtlCol="0">
            <a:noAutofit/>
          </a:bodyPr>
          <a:lstStyle/>
          <a:p>
            <a:r>
              <a:rPr lang="en-US" sz="2800" b="1">
                <a:solidFill>
                  <a:srgbClr val="F4F8FC"/>
                </a:solidFill>
                <a:latin typeface="Segoe UI" panose="020B0502040204020203" pitchFamily="34" charset="0"/>
              </a:rPr>
              <a:t>Sale completes</a:t>
            </a:r>
          </a:p>
        </p:txBody>
      </p:sp>
      <p:sp>
        <p:nvSpPr>
          <p:cNvPr id="27" name="Text The receipt shows items, customer, method, Tr">
            <a:extLst>
              <a:ext uri="{FF2B5EF4-FFF2-40B4-BE49-F238E27FC236}">
                <a16:creationId xmlns:a16="http://schemas.microsoft.com/office/drawing/2014/main" id="{82B94FAE-7467-B268-94DC-A1E3B2DD7D3D}"/>
              </a:ext>
            </a:extLst>
          </p:cNvPr>
          <p:cNvSpPr txBox="1"/>
          <p:nvPr/>
        </p:nvSpPr>
        <p:spPr>
          <a:xfrm>
            <a:off x="8102600" y="4483100"/>
            <a:ext cx="3302000" cy="14478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The receipt shows items, customer, method, TrxID and updated score.</a:t>
            </a:r>
          </a:p>
        </p:txBody>
      </p:sp>
    </p:spTree>
    <p:extLst>
      <p:ext uri="{BB962C8B-B14F-4D97-AF65-F5344CB8AC3E}">
        <p14:creationId xmlns:p14="http://schemas.microsoft.com/office/powerpoint/2010/main" val="6486613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par>
                                <p:cTn id="13" presetID="22" presetClass="entr" presetSubtype="8" fill="hold" grpId="0" nodeType="withEffect">
                                  <p:stCondLst>
                                    <p:cond delay="65"/>
                                  </p:stCondLst>
                                  <p:childTnLst>
                                    <p:set>
                                      <p:cBhvr>
                                        <p:cTn id="14" dur="1" fill="hold">
                                          <p:stCondLst>
                                            <p:cond delay="0"/>
                                          </p:stCondLst>
                                        </p:cTn>
                                        <p:tgtEl>
                                          <p:spTgt spid="18"/>
                                        </p:tgtEl>
                                        <p:attrNameLst>
                                          <p:attrName>style.visibility</p:attrName>
                                        </p:attrNameLst>
                                      </p:cBhvr>
                                      <p:to>
                                        <p:strVal val="visible"/>
                                      </p:to>
                                    </p:set>
                                    <p:animEffect transition="in" filter="wipe(left)">
                                      <p:cBhvr>
                                        <p:cTn id="15" dur="500"/>
                                        <p:tgtEl>
                                          <p:spTgt spid="18"/>
                                        </p:tgtEl>
                                      </p:cBhvr>
                                    </p:animEffect>
                                  </p:childTnLst>
                                </p:cTn>
                              </p:par>
                              <p:par>
                                <p:cTn id="16" presetID="22" presetClass="entr" presetSubtype="8" fill="hold" grpId="0" nodeType="withEffect">
                                  <p:stCondLst>
                                    <p:cond delay="130"/>
                                  </p:stCondLst>
                                  <p:childTnLst>
                                    <p:set>
                                      <p:cBhvr>
                                        <p:cTn id="17" dur="1" fill="hold">
                                          <p:stCondLst>
                                            <p:cond delay="0"/>
                                          </p:stCondLst>
                                        </p:cTn>
                                        <p:tgtEl>
                                          <p:spTgt spid="19"/>
                                        </p:tgtEl>
                                        <p:attrNameLst>
                                          <p:attrName>style.visibility</p:attrName>
                                        </p:attrNameLst>
                                      </p:cBhvr>
                                      <p:to>
                                        <p:strVal val="visible"/>
                                      </p:to>
                                    </p:set>
                                    <p:animEffect transition="in" filter="wipe(left)">
                                      <p:cBhvr>
                                        <p:cTn id="18" dur="500"/>
                                        <p:tgtEl>
                                          <p:spTgt spid="19"/>
                                        </p:tgtEl>
                                      </p:cBhvr>
                                    </p:animEffect>
                                  </p:childTnLst>
                                </p:cTn>
                              </p:par>
                              <p:par>
                                <p:cTn id="19" presetID="22" presetClass="entr" presetSubtype="8" fill="hold" nodeType="withEffect">
                                  <p:stCondLst>
                                    <p:cond delay="195"/>
                                  </p:stCondLst>
                                  <p:childTnLst>
                                    <p:set>
                                      <p:cBhvr>
                                        <p:cTn id="20" dur="1" fill="hold">
                                          <p:stCondLst>
                                            <p:cond delay="0"/>
                                          </p:stCondLst>
                                        </p:cTn>
                                        <p:tgtEl>
                                          <p:spTgt spid="20"/>
                                        </p:tgtEl>
                                        <p:attrNameLst>
                                          <p:attrName>style.visibility</p:attrName>
                                        </p:attrNameLst>
                                      </p:cBhvr>
                                      <p:to>
                                        <p:strVal val="visible"/>
                                      </p:to>
                                    </p:set>
                                    <p:animEffect transition="in" filter="wipe(left)">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wipe(left)">
                                      <p:cBhvr>
                                        <p:cTn id="26" dur="500"/>
                                        <p:tgtEl>
                                          <p:spTgt spid="21"/>
                                        </p:tgtEl>
                                      </p:cBhvr>
                                    </p:animEffect>
                                  </p:childTnLst>
                                </p:cTn>
                              </p:par>
                              <p:par>
                                <p:cTn id="27" presetID="22" presetClass="entr" presetSubtype="8" fill="hold" grpId="0" nodeType="withEffect">
                                  <p:stCondLst>
                                    <p:cond delay="65"/>
                                  </p:stCondLst>
                                  <p:childTnLst>
                                    <p:set>
                                      <p:cBhvr>
                                        <p:cTn id="28" dur="1" fill="hold">
                                          <p:stCondLst>
                                            <p:cond delay="0"/>
                                          </p:stCondLst>
                                        </p:cTn>
                                        <p:tgtEl>
                                          <p:spTgt spid="22"/>
                                        </p:tgtEl>
                                        <p:attrNameLst>
                                          <p:attrName>style.visibility</p:attrName>
                                        </p:attrNameLst>
                                      </p:cBhvr>
                                      <p:to>
                                        <p:strVal val="visible"/>
                                      </p:to>
                                    </p:set>
                                    <p:animEffect transition="in" filter="wipe(left)">
                                      <p:cBhvr>
                                        <p:cTn id="29" dur="500"/>
                                        <p:tgtEl>
                                          <p:spTgt spid="22"/>
                                        </p:tgtEl>
                                      </p:cBhvr>
                                    </p:animEffect>
                                  </p:childTnLst>
                                </p:cTn>
                              </p:par>
                              <p:par>
                                <p:cTn id="30" presetID="22" presetClass="entr" presetSubtype="8" fill="hold" grpId="0" nodeType="withEffect">
                                  <p:stCondLst>
                                    <p:cond delay="13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par>
                                <p:cTn id="33" presetID="22" presetClass="entr" presetSubtype="8" fill="hold" nodeType="withEffect">
                                  <p:stCondLst>
                                    <p:cond delay="195"/>
                                  </p:stCondLst>
                                  <p:childTnLst>
                                    <p:set>
                                      <p:cBhvr>
                                        <p:cTn id="34" dur="1" fill="hold">
                                          <p:stCondLst>
                                            <p:cond delay="0"/>
                                          </p:stCondLst>
                                        </p:cTn>
                                        <p:tgtEl>
                                          <p:spTgt spid="24"/>
                                        </p:tgtEl>
                                        <p:attrNameLst>
                                          <p:attrName>style.visibility</p:attrName>
                                        </p:attrNameLst>
                                      </p:cBhvr>
                                      <p:to>
                                        <p:strVal val="visible"/>
                                      </p:to>
                                    </p:set>
                                    <p:animEffect transition="in" filter="wipe(left)">
                                      <p:cBhvr>
                                        <p:cTn id="35" dur="500"/>
                                        <p:tgtEl>
                                          <p:spTgt spid="2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left)">
                                      <p:cBhvr>
                                        <p:cTn id="40" dur="500"/>
                                        <p:tgtEl>
                                          <p:spTgt spid="25"/>
                                        </p:tgtEl>
                                      </p:cBhvr>
                                    </p:animEffect>
                                  </p:childTnLst>
                                </p:cTn>
                              </p:par>
                              <p:par>
                                <p:cTn id="41" presetID="22" presetClass="entr" presetSubtype="8" fill="hold" grpId="0" nodeType="withEffect">
                                  <p:stCondLst>
                                    <p:cond delay="65"/>
                                  </p:stCondLst>
                                  <p:childTnLst>
                                    <p:set>
                                      <p:cBhvr>
                                        <p:cTn id="42" dur="1" fill="hold">
                                          <p:stCondLst>
                                            <p:cond delay="0"/>
                                          </p:stCondLst>
                                        </p:cTn>
                                        <p:tgtEl>
                                          <p:spTgt spid="26"/>
                                        </p:tgtEl>
                                        <p:attrNameLst>
                                          <p:attrName>style.visibility</p:attrName>
                                        </p:attrNameLst>
                                      </p:cBhvr>
                                      <p:to>
                                        <p:strVal val="visible"/>
                                      </p:to>
                                    </p:set>
                                    <p:animEffect transition="in" filter="wipe(left)">
                                      <p:cBhvr>
                                        <p:cTn id="43" dur="500"/>
                                        <p:tgtEl>
                                          <p:spTgt spid="26"/>
                                        </p:tgtEl>
                                      </p:cBhvr>
                                    </p:animEffect>
                                  </p:childTnLst>
                                </p:cTn>
                              </p:par>
                              <p:par>
                                <p:cTn id="44" presetID="22" presetClass="entr" presetSubtype="8" fill="hold" grpId="0" nodeType="withEffect">
                                  <p:stCondLst>
                                    <p:cond delay="130"/>
                                  </p:stCondLst>
                                  <p:childTnLst>
                                    <p:set>
                                      <p:cBhvr>
                                        <p:cTn id="45" dur="1" fill="hold">
                                          <p:stCondLst>
                                            <p:cond delay="0"/>
                                          </p:stCondLst>
                                        </p:cTn>
                                        <p:tgtEl>
                                          <p:spTgt spid="27"/>
                                        </p:tgtEl>
                                        <p:attrNameLst>
                                          <p:attrName>style.visibility</p:attrName>
                                        </p:attrNameLst>
                                      </p:cBhvr>
                                      <p:to>
                                        <p:strVal val="visible"/>
                                      </p:to>
                                    </p:set>
                                    <p:animEffect transition="in" filter="wipe(left)">
                                      <p:cBhvr>
                                        <p:cTn id="4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19" grpId="0"/>
      <p:bldP spid="21" grpId="0"/>
      <p:bldP spid="22" grpId="0"/>
      <p:bldP spid="23" grpId="0"/>
      <p:bldP spid="25" grpId="0"/>
      <p:bldP spid="26" grpId="0"/>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9" name="Text One linked payment, one income entry">
            <a:extLst>
              <a:ext uri="{FF2B5EF4-FFF2-40B4-BE49-F238E27FC236}">
                <a16:creationId xmlns:a16="http://schemas.microsoft.com/office/drawing/2014/main" id="{C0EC1AAE-4C44-000D-5C30-166C81FD0C82}"/>
              </a:ext>
            </a:extLst>
          </p:cNvPr>
          <p:cNvSpPr txBox="1"/>
          <p:nvPr/>
        </p:nvSpPr>
        <p:spPr>
          <a:xfrm>
            <a:off x="609600" y="419100"/>
            <a:ext cx="10972800" cy="1092200"/>
          </a:xfrm>
          <a:prstGeom prst="rect">
            <a:avLst/>
          </a:prstGeom>
          <a:noFill/>
        </p:spPr>
        <p:txBody>
          <a:bodyPr vert="horz" wrap="square" lIns="0" tIns="0" rIns="0" bIns="0" rtlCol="0">
            <a:noAutofit/>
          </a:bodyPr>
          <a:lstStyle/>
          <a:p>
            <a:r>
              <a:rPr lang="en-US" sz="3400" b="1">
                <a:solidFill>
                  <a:srgbClr val="F4F8FC"/>
                </a:solidFill>
                <a:latin typeface="Segoe UI" panose="020B0502040204020203" pitchFamily="34" charset="0"/>
              </a:rPr>
              <a:t>One linked payment, one income entry</a:t>
            </a:r>
          </a:p>
        </p:txBody>
      </p:sp>
      <p:sp>
        <p:nvSpPr>
          <p:cNvPr id="10" name="Text GreenBiz">
            <a:extLst>
              <a:ext uri="{FF2B5EF4-FFF2-40B4-BE49-F238E27FC236}">
                <a16:creationId xmlns:a16="http://schemas.microsoft.com/office/drawing/2014/main" id="{704E5BB4-B922-65FC-3C7C-93CB8367CC6B}"/>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11" name="Text 09 / 18">
            <a:extLst>
              <a:ext uri="{FF2B5EF4-FFF2-40B4-BE49-F238E27FC236}">
                <a16:creationId xmlns:a16="http://schemas.microsoft.com/office/drawing/2014/main" id="{0B79AAD1-CEBF-34B0-3161-A42F5196F3FF}"/>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09 / 18</a:t>
            </a:r>
          </a:p>
        </p:txBody>
      </p:sp>
      <p:sp>
        <p:nvSpPr>
          <p:cNvPr id="12" name="Text Illustrative amounts in one currency">
            <a:extLst>
              <a:ext uri="{FF2B5EF4-FFF2-40B4-BE49-F238E27FC236}">
                <a16:creationId xmlns:a16="http://schemas.microsoft.com/office/drawing/2014/main" id="{B607753E-7FA6-28B7-DBC0-F4FECD9FA023}"/>
              </a:ext>
            </a:extLst>
          </p:cNvPr>
          <p:cNvSpPr txBox="1"/>
          <p:nvPr/>
        </p:nvSpPr>
        <p:spPr>
          <a:xfrm>
            <a:off x="609600" y="1676400"/>
            <a:ext cx="10972800" cy="381000"/>
          </a:xfrm>
          <a:prstGeom prst="rect">
            <a:avLst/>
          </a:prstGeom>
          <a:noFill/>
        </p:spPr>
        <p:txBody>
          <a:bodyPr vert="horz" wrap="square" lIns="0" tIns="0" rIns="0" bIns="0" rtlCol="0">
            <a:noAutofit/>
          </a:bodyPr>
          <a:lstStyle/>
          <a:p>
            <a:r>
              <a:rPr lang="en-US">
                <a:solidFill>
                  <a:srgbClr val="8EA7BA"/>
                </a:solidFill>
                <a:latin typeface="Segoe UI" panose="020B0502040204020203" pitchFamily="34" charset="0"/>
              </a:rPr>
              <a:t>Illustrative amounts in one currency</a:t>
            </a:r>
          </a:p>
        </p:txBody>
      </p:sp>
      <p:graphicFrame>
        <p:nvGraphicFramePr>
          <p:cNvPr id="13" name="Editable evidence table">
            <a:extLst>
              <a:ext uri="{FF2B5EF4-FFF2-40B4-BE49-F238E27FC236}">
                <a16:creationId xmlns:a16="http://schemas.microsoft.com/office/drawing/2014/main" id="{43AC7E4B-FE6D-ED9D-37ED-F4C6DBE57647}"/>
              </a:ext>
            </a:extLst>
          </p:cNvPr>
          <p:cNvGraphicFramePr>
            <a:graphicFrameLocks noGrp="1"/>
          </p:cNvGraphicFramePr>
          <p:nvPr>
            <p:extLst>
              <p:ext uri="{D42A27DB-BD31-4B8C-83A1-F6EECF244321}">
                <p14:modId xmlns:p14="http://schemas.microsoft.com/office/powerpoint/2010/main" val="23692762"/>
              </p:ext>
            </p:extLst>
          </p:nvPr>
        </p:nvGraphicFramePr>
        <p:xfrm>
          <a:off x="609600" y="2374900"/>
          <a:ext cx="10972800" cy="2857500"/>
        </p:xfrm>
        <a:graphic>
          <a:graphicData uri="http://schemas.openxmlformats.org/drawingml/2006/table">
            <a:tbl>
              <a:tblPr firstRow="1" bandRow="1">
                <a:tableStyleId>{5C22544A-7EE6-4342-B048-85BDC9FD1C3A}</a:tableStyleId>
              </a:tblPr>
              <a:tblGrid>
                <a:gridCol w="3136900">
                  <a:extLst>
                    <a:ext uri="{9D8B030D-6E8A-4147-A177-3AD203B41FA5}">
                      <a16:colId xmlns:a16="http://schemas.microsoft.com/office/drawing/2014/main" val="1025209672"/>
                    </a:ext>
                  </a:extLst>
                </a:gridCol>
                <a:gridCol w="1714500">
                  <a:extLst>
                    <a:ext uri="{9D8B030D-6E8A-4147-A177-3AD203B41FA5}">
                      <a16:colId xmlns:a16="http://schemas.microsoft.com/office/drawing/2014/main" val="636546536"/>
                    </a:ext>
                  </a:extLst>
                </a:gridCol>
                <a:gridCol w="6121400">
                  <a:extLst>
                    <a:ext uri="{9D8B030D-6E8A-4147-A177-3AD203B41FA5}">
                      <a16:colId xmlns:a16="http://schemas.microsoft.com/office/drawing/2014/main" val="2235294896"/>
                    </a:ext>
                  </a:extLst>
                </a:gridCol>
              </a:tblGrid>
              <a:tr h="714375">
                <a:tc>
                  <a:txBody>
                    <a:bodyPr/>
                    <a:lstStyle/>
                    <a:p>
                      <a:r>
                        <a:rPr lang="en-US" sz="1800" b="1">
                          <a:solidFill>
                            <a:srgbClr val="F4F8FC"/>
                          </a:solidFill>
                          <a:latin typeface="Segoe UI" panose="020B0502040204020203" pitchFamily="34" charset="0"/>
                        </a:rPr>
                        <a:t>Record</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tc>
                  <a:txBody>
                    <a:bodyPr/>
                    <a:lstStyle/>
                    <a:p>
                      <a:r>
                        <a:rPr lang="en-US" sz="1800" b="1">
                          <a:solidFill>
                            <a:srgbClr val="F4F8FC"/>
                          </a:solidFill>
                          <a:latin typeface="Segoe UI" panose="020B0502040204020203" pitchFamily="34" charset="0"/>
                        </a:rPr>
                        <a:t>Amount</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tc>
                  <a:txBody>
                    <a:bodyPr/>
                    <a:lstStyle/>
                    <a:p>
                      <a:r>
                        <a:rPr lang="en-US" sz="1800" b="1">
                          <a:solidFill>
                            <a:srgbClr val="F4F8FC"/>
                          </a:solidFill>
                          <a:latin typeface="Segoe UI" panose="020B0502040204020203" pitchFamily="34" charset="0"/>
                        </a:rPr>
                        <a:t>How reports use it</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extLst>
                  <a:ext uri="{0D108BD9-81ED-4DB2-BD59-A6C34878D82A}">
                    <a16:rowId xmlns:a16="http://schemas.microsoft.com/office/drawing/2014/main" val="545559476"/>
                  </a:ext>
                </a:extLst>
              </a:tr>
              <a:tr h="714375">
                <a:tc>
                  <a:txBody>
                    <a:bodyPr/>
                    <a:lstStyle/>
                    <a:p>
                      <a:r>
                        <a:rPr lang="en-US" sz="1800" b="0">
                          <a:solidFill>
                            <a:srgbClr val="F4F8FC"/>
                          </a:solidFill>
                          <a:latin typeface="Segoe UI" panose="020B0502040204020203" pitchFamily="34" charset="0"/>
                        </a:rPr>
                        <a:t>Sale total</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100</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Sales activity and items sold</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extLst>
                  <a:ext uri="{0D108BD9-81ED-4DB2-BD59-A6C34878D82A}">
                    <a16:rowId xmlns:a16="http://schemas.microsoft.com/office/drawing/2014/main" val="2767803935"/>
                  </a:ext>
                </a:extLst>
              </a:tr>
              <a:tr h="714375">
                <a:tc>
                  <a:txBody>
                    <a:bodyPr/>
                    <a:lstStyle/>
                    <a:p>
                      <a:r>
                        <a:rPr lang="en-US" sz="1800" b="0">
                          <a:solidFill>
                            <a:srgbClr val="F4F8FC"/>
                          </a:solidFill>
                          <a:latin typeface="Segoe UI" panose="020B0502040204020203" pitchFamily="34" charset="0"/>
                        </a:rPr>
                        <a:t>Linked payment</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tc>
                  <a:txBody>
                    <a:bodyPr/>
                    <a:lstStyle/>
                    <a:p>
                      <a:r>
                        <a:rPr lang="en-US" sz="1800" b="0">
                          <a:solidFill>
                            <a:srgbClr val="F4F8FC"/>
                          </a:solidFill>
                          <a:latin typeface="Segoe UI" panose="020B0502040204020203" pitchFamily="34" charset="0"/>
                        </a:rPr>
                        <a:t>102</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tc>
                  <a:txBody>
                    <a:bodyPr/>
                    <a:lstStyle/>
                    <a:p>
                      <a:r>
                        <a:rPr lang="en-US" sz="1800" b="0">
                          <a:solidFill>
                            <a:srgbClr val="F4F8FC"/>
                          </a:solidFill>
                          <a:latin typeface="Segoe UI" panose="020B0502040204020203" pitchFamily="34" charset="0"/>
                        </a:rPr>
                        <a:t>Cash received, counted once</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extLst>
                  <a:ext uri="{0D108BD9-81ED-4DB2-BD59-A6C34878D82A}">
                    <a16:rowId xmlns:a16="http://schemas.microsoft.com/office/drawing/2014/main" val="464861328"/>
                  </a:ext>
                </a:extLst>
              </a:tr>
              <a:tr h="714375">
                <a:tc>
                  <a:txBody>
                    <a:bodyPr/>
                    <a:lstStyle/>
                    <a:p>
                      <a:r>
                        <a:rPr lang="en-US" sz="1800" b="0">
                          <a:solidFill>
                            <a:srgbClr val="F4F8FC"/>
                          </a:solidFill>
                          <a:latin typeface="Segoe UI" panose="020B0502040204020203" pitchFamily="34" charset="0"/>
                        </a:rPr>
                        <a:t>Charge difference</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+2</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Visible difference, within the matching rule</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extLst>
                  <a:ext uri="{0D108BD9-81ED-4DB2-BD59-A6C34878D82A}">
                    <a16:rowId xmlns:a16="http://schemas.microsoft.com/office/drawing/2014/main" val="3040709982"/>
                  </a:ext>
                </a:extLst>
              </a:tr>
            </a:tbl>
          </a:graphicData>
        </a:graphic>
      </p:graphicFrame>
      <p:sp>
        <p:nvSpPr>
          <p:cNvPr id="14" name="Text Business and personal filters keep the histor">
            <a:extLst>
              <a:ext uri="{FF2B5EF4-FFF2-40B4-BE49-F238E27FC236}">
                <a16:creationId xmlns:a16="http://schemas.microsoft.com/office/drawing/2014/main" id="{6436C228-CC9D-5447-4A5D-43F3E65F8759}"/>
              </a:ext>
            </a:extLst>
          </p:cNvPr>
          <p:cNvSpPr txBox="1"/>
          <p:nvPr/>
        </p:nvSpPr>
        <p:spPr>
          <a:xfrm>
            <a:off x="609600" y="5651500"/>
            <a:ext cx="10972800" cy="736600"/>
          </a:xfrm>
          <a:prstGeom prst="rect">
            <a:avLst/>
          </a:prstGeom>
          <a:noFill/>
        </p:spPr>
        <p:txBody>
          <a:bodyPr vert="horz" wrap="square" lIns="0" tIns="0" rIns="0" bIns="0" rtlCol="0">
            <a:noAutofit/>
          </a:bodyPr>
          <a:lstStyle/>
          <a:p>
            <a:r>
              <a:rPr lang="en-US" sz="2700" b="1">
                <a:solidFill>
                  <a:srgbClr val="4EE6C0"/>
                </a:solidFill>
                <a:latin typeface="Segoe UI" panose="020B0502040204020203" pitchFamily="34" charset="0"/>
              </a:rPr>
              <a:t>Business and personal filters keep the history understandable.</a:t>
            </a:r>
          </a:p>
        </p:txBody>
      </p:sp>
    </p:spTree>
    <p:extLst>
      <p:ext uri="{BB962C8B-B14F-4D97-AF65-F5344CB8AC3E}">
        <p14:creationId xmlns:p14="http://schemas.microsoft.com/office/powerpoint/2010/main" val="244246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6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accel="15000" decel="2500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600"/>
                                        <p:tgtEl>
                                          <p:spTgt spid="14"/>
                                        </p:tgtEl>
                                      </p:cBhvr>
                                    </p:animEffect>
                                    <p:anim calcmode="lin" valueType="num">
                                      <p:cBhvr>
                                        <p:cTn id="23" dur="600" fill="hold"/>
                                        <p:tgtEl>
                                          <p:spTgt spid="14"/>
                                        </p:tgtEl>
                                        <p:attrNameLst>
                                          <p:attrName>ppt_x</p:attrName>
                                        </p:attrNameLst>
                                      </p:cBhvr>
                                      <p:tavLst>
                                        <p:tav tm="0">
                                          <p:val>
                                            <p:strVal val="#ppt_x"/>
                                          </p:val>
                                        </p:tav>
                                        <p:tav tm="100000">
                                          <p:val>
                                            <p:strVal val="#ppt_x"/>
                                          </p:val>
                                        </p:tav>
                                      </p:tavLst>
                                    </p:anim>
                                    <p:anim calcmode="lin" valueType="num">
                                      <p:cBhvr>
                                        <p:cTn id="24" dur="6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4" name="Text Reports that explain the business">
            <a:extLst>
              <a:ext uri="{FF2B5EF4-FFF2-40B4-BE49-F238E27FC236}">
                <a16:creationId xmlns:a16="http://schemas.microsoft.com/office/drawing/2014/main" id="{D746E302-0386-FF85-5C3C-2EBD9EE8C8E0}"/>
              </a:ext>
            </a:extLst>
          </p:cNvPr>
          <p:cNvSpPr txBox="1"/>
          <p:nvPr/>
        </p:nvSpPr>
        <p:spPr>
          <a:xfrm>
            <a:off x="609600" y="419100"/>
            <a:ext cx="10972800" cy="1092200"/>
          </a:xfrm>
          <a:prstGeom prst="rect">
            <a:avLst/>
          </a:prstGeom>
          <a:noFill/>
        </p:spPr>
        <p:txBody>
          <a:bodyPr vert="horz" wrap="square" lIns="0" tIns="0" rIns="0" bIns="0" rtlCol="0">
            <a:noAutofit/>
          </a:bodyPr>
          <a:lstStyle/>
          <a:p>
            <a:r>
              <a:rPr lang="en-US" sz="3400" b="1">
                <a:solidFill>
                  <a:srgbClr val="F4F8FC"/>
                </a:solidFill>
                <a:latin typeface="Segoe UI" panose="020B0502040204020203" pitchFamily="34" charset="0"/>
              </a:rPr>
              <a:t>Reports that explain the business</a:t>
            </a:r>
          </a:p>
        </p:txBody>
      </p:sp>
      <p:sp>
        <p:nvSpPr>
          <p:cNvPr id="15" name="Text GreenBiz">
            <a:extLst>
              <a:ext uri="{FF2B5EF4-FFF2-40B4-BE49-F238E27FC236}">
                <a16:creationId xmlns:a16="http://schemas.microsoft.com/office/drawing/2014/main" id="{9530D59F-3955-261F-E390-856EF2036F15}"/>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16" name="Text 10 / 18">
            <a:extLst>
              <a:ext uri="{FF2B5EF4-FFF2-40B4-BE49-F238E27FC236}">
                <a16:creationId xmlns:a16="http://schemas.microsoft.com/office/drawing/2014/main" id="{50CF1E34-C7BC-80A7-3D46-61130003F68F}"/>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10 / 18</a:t>
            </a:r>
          </a:p>
        </p:txBody>
      </p:sp>
      <p:sp>
        <p:nvSpPr>
          <p:cNvPr id="17" name="Text A clearer view of performance over time">
            <a:extLst>
              <a:ext uri="{FF2B5EF4-FFF2-40B4-BE49-F238E27FC236}">
                <a16:creationId xmlns:a16="http://schemas.microsoft.com/office/drawing/2014/main" id="{AC2DB5F0-BE3B-6501-F0E0-B2A0545017D2}"/>
              </a:ext>
            </a:extLst>
          </p:cNvPr>
          <p:cNvSpPr txBox="1"/>
          <p:nvPr/>
        </p:nvSpPr>
        <p:spPr>
          <a:xfrm>
            <a:off x="609600" y="1816100"/>
            <a:ext cx="10795000" cy="1270000"/>
          </a:xfrm>
          <a:prstGeom prst="rect">
            <a:avLst/>
          </a:prstGeom>
          <a:noFill/>
        </p:spPr>
        <p:txBody>
          <a:bodyPr vert="horz" wrap="square" lIns="0" tIns="0" rIns="0" bIns="0" rtlCol="0">
            <a:noAutofit/>
          </a:bodyPr>
          <a:lstStyle/>
          <a:p>
            <a:r>
              <a:rPr lang="en-US" sz="4200" b="1">
                <a:solidFill>
                  <a:srgbClr val="F4F8FC"/>
                </a:solidFill>
                <a:latin typeface="Segoe UI" panose="020B0502040204020203" pitchFamily="34" charset="0"/>
              </a:rPr>
              <a:t>A clearer view of performance over time</a:t>
            </a:r>
          </a:p>
        </p:txBody>
      </p:sp>
      <p:sp>
        <p:nvSpPr>
          <p:cNvPr id="18" name="Text Flexible periods">
            <a:extLst>
              <a:ext uri="{FF2B5EF4-FFF2-40B4-BE49-F238E27FC236}">
                <a16:creationId xmlns:a16="http://schemas.microsoft.com/office/drawing/2014/main" id="{78AA61D8-9D78-FFB2-0E8D-0251CD08AB45}"/>
              </a:ext>
            </a:extLst>
          </p:cNvPr>
          <p:cNvSpPr txBox="1"/>
          <p:nvPr/>
        </p:nvSpPr>
        <p:spPr>
          <a:xfrm>
            <a:off x="609600" y="3606800"/>
            <a:ext cx="5016500" cy="571500"/>
          </a:xfrm>
          <a:prstGeom prst="rect">
            <a:avLst/>
          </a:prstGeom>
          <a:noFill/>
        </p:spPr>
        <p:txBody>
          <a:bodyPr vert="horz" wrap="square" lIns="0" tIns="0" rIns="0" bIns="0" rtlCol="0">
            <a:noAutofit/>
          </a:bodyPr>
          <a:lstStyle/>
          <a:p>
            <a:r>
              <a:rPr lang="en-US" sz="2700" b="1">
                <a:solidFill>
                  <a:srgbClr val="4EE6C0"/>
                </a:solidFill>
                <a:latin typeface="Segoe UI" panose="020B0502040204020203" pitchFamily="34" charset="0"/>
              </a:rPr>
              <a:t>Flexible periods</a:t>
            </a:r>
          </a:p>
        </p:txBody>
      </p:sp>
      <p:sp>
        <p:nvSpPr>
          <p:cNvPr id="19" name="Text This week, this month, last month, 90 days, t">
            <a:extLst>
              <a:ext uri="{FF2B5EF4-FFF2-40B4-BE49-F238E27FC236}">
                <a16:creationId xmlns:a16="http://schemas.microsoft.com/office/drawing/2014/main" id="{4ED48347-4147-E0DF-56D9-69C470BC2576}"/>
              </a:ext>
            </a:extLst>
          </p:cNvPr>
          <p:cNvSpPr txBox="1"/>
          <p:nvPr/>
        </p:nvSpPr>
        <p:spPr>
          <a:xfrm>
            <a:off x="609600" y="4241800"/>
            <a:ext cx="5016500" cy="15240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This week, this month, last month, 90 days, this year or a selected month.</a:t>
            </a:r>
          </a:p>
        </p:txBody>
      </p:sp>
      <p:sp>
        <p:nvSpPr>
          <p:cNvPr id="20" name="Text Useful comparisons">
            <a:extLst>
              <a:ext uri="{FF2B5EF4-FFF2-40B4-BE49-F238E27FC236}">
                <a16:creationId xmlns:a16="http://schemas.microsoft.com/office/drawing/2014/main" id="{17993C00-1F70-41BF-7F7D-AC7B9B95912D}"/>
              </a:ext>
            </a:extLst>
          </p:cNvPr>
          <p:cNvSpPr txBox="1"/>
          <p:nvPr/>
        </p:nvSpPr>
        <p:spPr>
          <a:xfrm>
            <a:off x="6502400" y="3606800"/>
            <a:ext cx="5080000" cy="571500"/>
          </a:xfrm>
          <a:prstGeom prst="rect">
            <a:avLst/>
          </a:prstGeom>
          <a:noFill/>
        </p:spPr>
        <p:txBody>
          <a:bodyPr vert="horz" wrap="square" lIns="0" tIns="0" rIns="0" bIns="0" rtlCol="0">
            <a:noAutofit/>
          </a:bodyPr>
          <a:lstStyle/>
          <a:p>
            <a:r>
              <a:rPr lang="en-US" sz="2700" b="1">
                <a:solidFill>
                  <a:srgbClr val="4EE6C0"/>
                </a:solidFill>
                <a:latin typeface="Segoe UI" panose="020B0502040204020203" pitchFamily="34" charset="0"/>
              </a:rPr>
              <a:t>Useful comparisons</a:t>
            </a:r>
          </a:p>
        </p:txBody>
      </p:sp>
      <p:sp>
        <p:nvSpPr>
          <p:cNvPr id="21" name="Text Average sale, best periods, top payment metho">
            <a:extLst>
              <a:ext uri="{FF2B5EF4-FFF2-40B4-BE49-F238E27FC236}">
                <a16:creationId xmlns:a16="http://schemas.microsoft.com/office/drawing/2014/main" id="{5E377047-959C-104A-4989-4789514FD72B}"/>
              </a:ext>
            </a:extLst>
          </p:cNvPr>
          <p:cNvSpPr txBox="1"/>
          <p:nvPr/>
        </p:nvSpPr>
        <p:spPr>
          <a:xfrm>
            <a:off x="6502400" y="4241800"/>
            <a:ext cx="5080000" cy="16510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Average sale, best periods, top payment method and payer, plus previous-period changes.</a:t>
            </a:r>
          </a:p>
        </p:txBody>
      </p:sp>
      <p:sp>
        <p:nvSpPr>
          <p:cNvPr id="22" name="Text Underlying payment records and CSV export sup">
            <a:extLst>
              <a:ext uri="{FF2B5EF4-FFF2-40B4-BE49-F238E27FC236}">
                <a16:creationId xmlns:a16="http://schemas.microsoft.com/office/drawing/2014/main" id="{824E0C05-2F61-D519-B7BF-686B502AB282}"/>
              </a:ext>
            </a:extLst>
          </p:cNvPr>
          <p:cNvSpPr txBox="1"/>
          <p:nvPr/>
        </p:nvSpPr>
        <p:spPr>
          <a:xfrm>
            <a:off x="609600" y="5702300"/>
            <a:ext cx="10972800" cy="571500"/>
          </a:xfrm>
          <a:prstGeom prst="rect">
            <a:avLst/>
          </a:prstGeom>
          <a:noFill/>
        </p:spPr>
        <p:txBody>
          <a:bodyPr vert="horz" wrap="square" lIns="0" tIns="0" rIns="0" bIns="0" rtlCol="0">
            <a:noAutofit/>
          </a:bodyPr>
          <a:lstStyle/>
          <a:p>
            <a:r>
              <a:rPr lang="en-US" sz="2300" b="1">
                <a:solidFill>
                  <a:srgbClr val="4EE6C0"/>
                </a:solidFill>
                <a:latin typeface="Segoe UI" panose="020B0502040204020203" pitchFamily="34" charset="0"/>
              </a:rPr>
              <a:t>Underlying payment records and CSV export support the summary.</a:t>
            </a:r>
          </a:p>
        </p:txBody>
      </p:sp>
    </p:spTree>
    <p:extLst>
      <p:ext uri="{BB962C8B-B14F-4D97-AF65-F5344CB8AC3E}">
        <p14:creationId xmlns:p14="http://schemas.microsoft.com/office/powerpoint/2010/main" val="4921972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anim calcmode="lin" valueType="num">
                                      <p:cBhvr>
                                        <p:cTn id="13" dur="600" fill="hold"/>
                                        <p:tgtEl>
                                          <p:spTgt spid="17"/>
                                        </p:tgtEl>
                                        <p:attrNameLst>
                                          <p:attrName>ppt_x</p:attrName>
                                        </p:attrNameLst>
                                      </p:cBhvr>
                                      <p:tavLst>
                                        <p:tav tm="0">
                                          <p:val>
                                            <p:strVal val="#ppt_x"/>
                                          </p:val>
                                        </p:tav>
                                        <p:tav tm="100000">
                                          <p:val>
                                            <p:strVal val="#ppt_x"/>
                                          </p:val>
                                        </p:tav>
                                      </p:tavLst>
                                    </p:anim>
                                    <p:anim calcmode="lin" valueType="num">
                                      <p:cBhvr>
                                        <p:cTn id="14" dur="6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accel="15000" decel="2500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600"/>
                                        <p:tgtEl>
                                          <p:spTgt spid="18"/>
                                        </p:tgtEl>
                                      </p:cBhvr>
                                    </p:animEffect>
                                    <p:anim calcmode="lin" valueType="num">
                                      <p:cBhvr>
                                        <p:cTn id="20" dur="600" fill="hold"/>
                                        <p:tgtEl>
                                          <p:spTgt spid="18"/>
                                        </p:tgtEl>
                                        <p:attrNameLst>
                                          <p:attrName>ppt_x</p:attrName>
                                        </p:attrNameLst>
                                      </p:cBhvr>
                                      <p:tavLst>
                                        <p:tav tm="0">
                                          <p:val>
                                            <p:strVal val="#ppt_x"/>
                                          </p:val>
                                        </p:tav>
                                        <p:tav tm="100000">
                                          <p:val>
                                            <p:strVal val="#ppt_x"/>
                                          </p:val>
                                        </p:tav>
                                      </p:tavLst>
                                    </p:anim>
                                    <p:anim calcmode="lin" valueType="num">
                                      <p:cBhvr>
                                        <p:cTn id="21" dur="600" fill="hold"/>
                                        <p:tgtEl>
                                          <p:spTgt spid="18"/>
                                        </p:tgtEl>
                                        <p:attrNameLst>
                                          <p:attrName>ppt_y</p:attrName>
                                        </p:attrNameLst>
                                      </p:cBhvr>
                                      <p:tavLst>
                                        <p:tav tm="0">
                                          <p:val>
                                            <p:strVal val="#ppt_y+.1"/>
                                          </p:val>
                                        </p:tav>
                                        <p:tav tm="100000">
                                          <p:val>
                                            <p:strVal val="#ppt_y"/>
                                          </p:val>
                                        </p:tav>
                                      </p:tavLst>
                                    </p:anim>
                                  </p:childTnLst>
                                </p:cTn>
                              </p:par>
                              <p:par>
                                <p:cTn id="22" presetID="42" presetClass="entr" presetSubtype="0" accel="15000" decel="25000" fill="hold" grpId="0" nodeType="withEffect">
                                  <p:stCondLst>
                                    <p:cond delay="65"/>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600"/>
                                        <p:tgtEl>
                                          <p:spTgt spid="19"/>
                                        </p:tgtEl>
                                      </p:cBhvr>
                                    </p:animEffect>
                                    <p:anim calcmode="lin" valueType="num">
                                      <p:cBhvr>
                                        <p:cTn id="25" dur="600" fill="hold"/>
                                        <p:tgtEl>
                                          <p:spTgt spid="19"/>
                                        </p:tgtEl>
                                        <p:attrNameLst>
                                          <p:attrName>ppt_x</p:attrName>
                                        </p:attrNameLst>
                                      </p:cBhvr>
                                      <p:tavLst>
                                        <p:tav tm="0">
                                          <p:val>
                                            <p:strVal val="#ppt_x"/>
                                          </p:val>
                                        </p:tav>
                                        <p:tav tm="100000">
                                          <p:val>
                                            <p:strVal val="#ppt_x"/>
                                          </p:val>
                                        </p:tav>
                                      </p:tavLst>
                                    </p:anim>
                                    <p:anim calcmode="lin" valueType="num">
                                      <p:cBhvr>
                                        <p:cTn id="26" dur="6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accel="15000" decel="2500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600"/>
                                        <p:tgtEl>
                                          <p:spTgt spid="20"/>
                                        </p:tgtEl>
                                      </p:cBhvr>
                                    </p:animEffect>
                                    <p:anim calcmode="lin" valueType="num">
                                      <p:cBhvr>
                                        <p:cTn id="32" dur="600" fill="hold"/>
                                        <p:tgtEl>
                                          <p:spTgt spid="20"/>
                                        </p:tgtEl>
                                        <p:attrNameLst>
                                          <p:attrName>ppt_x</p:attrName>
                                        </p:attrNameLst>
                                      </p:cBhvr>
                                      <p:tavLst>
                                        <p:tav tm="0">
                                          <p:val>
                                            <p:strVal val="#ppt_x"/>
                                          </p:val>
                                        </p:tav>
                                        <p:tav tm="100000">
                                          <p:val>
                                            <p:strVal val="#ppt_x"/>
                                          </p:val>
                                        </p:tav>
                                      </p:tavLst>
                                    </p:anim>
                                    <p:anim calcmode="lin" valueType="num">
                                      <p:cBhvr>
                                        <p:cTn id="33" dur="600" fill="hold"/>
                                        <p:tgtEl>
                                          <p:spTgt spid="20"/>
                                        </p:tgtEl>
                                        <p:attrNameLst>
                                          <p:attrName>ppt_y</p:attrName>
                                        </p:attrNameLst>
                                      </p:cBhvr>
                                      <p:tavLst>
                                        <p:tav tm="0">
                                          <p:val>
                                            <p:strVal val="#ppt_y+.1"/>
                                          </p:val>
                                        </p:tav>
                                        <p:tav tm="100000">
                                          <p:val>
                                            <p:strVal val="#ppt_y"/>
                                          </p:val>
                                        </p:tav>
                                      </p:tavLst>
                                    </p:anim>
                                  </p:childTnLst>
                                </p:cTn>
                              </p:par>
                              <p:par>
                                <p:cTn id="34" presetID="42" presetClass="entr" presetSubtype="0" accel="15000" decel="25000" fill="hold" grpId="0" nodeType="withEffect">
                                  <p:stCondLst>
                                    <p:cond delay="65"/>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600"/>
                                        <p:tgtEl>
                                          <p:spTgt spid="21"/>
                                        </p:tgtEl>
                                      </p:cBhvr>
                                    </p:animEffect>
                                    <p:anim calcmode="lin" valueType="num">
                                      <p:cBhvr>
                                        <p:cTn id="37" dur="600" fill="hold"/>
                                        <p:tgtEl>
                                          <p:spTgt spid="21"/>
                                        </p:tgtEl>
                                        <p:attrNameLst>
                                          <p:attrName>ppt_x</p:attrName>
                                        </p:attrNameLst>
                                      </p:cBhvr>
                                      <p:tavLst>
                                        <p:tav tm="0">
                                          <p:val>
                                            <p:strVal val="#ppt_x"/>
                                          </p:val>
                                        </p:tav>
                                        <p:tav tm="100000">
                                          <p:val>
                                            <p:strVal val="#ppt_x"/>
                                          </p:val>
                                        </p:tav>
                                      </p:tavLst>
                                    </p:anim>
                                    <p:anim calcmode="lin" valueType="num">
                                      <p:cBhvr>
                                        <p:cTn id="38" dur="6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accel="15000" decel="2500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19" grpId="0"/>
      <p:bldP spid="20" grpId="0"/>
      <p:bldP spid="21" grpId="0"/>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0B3935"/>
            </a:gs>
          </a:gsLst>
          <a:lin ang="5400000" scaled="1"/>
          <a:tileRect/>
        </a:gradFill>
        <a:effectLst/>
      </p:bgPr>
    </p:bg>
    <p:spTree>
      <p:nvGrpSpPr>
        <p:cNvPr id="1" name=""/>
        <p:cNvGrpSpPr/>
        <p:nvPr/>
      </p:nvGrpSpPr>
      <p:grpSpPr>
        <a:xfrm>
          <a:off x="0" y="0"/>
          <a:ext cx="0" cy="0"/>
          <a:chOff x="0" y="0"/>
          <a:chExt cx="0" cy="0"/>
        </a:xfrm>
      </p:grpSpPr>
      <p:sp>
        <p:nvSpPr>
          <p:cNvPr id="14" name="Text A credit profile owners can understand">
            <a:extLst>
              <a:ext uri="{FF2B5EF4-FFF2-40B4-BE49-F238E27FC236}">
                <a16:creationId xmlns:a16="http://schemas.microsoft.com/office/drawing/2014/main" id="{67BF3E83-64BE-27D5-8F6A-A9BB73DBDDC5}"/>
              </a:ext>
            </a:extLst>
          </p:cNvPr>
          <p:cNvSpPr txBox="1"/>
          <p:nvPr/>
        </p:nvSpPr>
        <p:spPr>
          <a:xfrm>
            <a:off x="609600" y="419100"/>
            <a:ext cx="10972800" cy="1092200"/>
          </a:xfrm>
          <a:prstGeom prst="rect">
            <a:avLst/>
          </a:prstGeom>
          <a:noFill/>
        </p:spPr>
        <p:txBody>
          <a:bodyPr vert="horz" wrap="square" lIns="0" tIns="0" rIns="0" bIns="0" rtlCol="0">
            <a:noAutofit/>
          </a:bodyPr>
          <a:lstStyle/>
          <a:p>
            <a:r>
              <a:rPr lang="en-US" sz="3400" b="1">
                <a:solidFill>
                  <a:srgbClr val="F4F8FC"/>
                </a:solidFill>
                <a:latin typeface="Segoe UI" panose="020B0502040204020203" pitchFamily="34" charset="0"/>
              </a:rPr>
              <a:t>A credit profile owners can understand</a:t>
            </a:r>
          </a:p>
        </p:txBody>
      </p:sp>
      <p:sp>
        <p:nvSpPr>
          <p:cNvPr id="15" name="Text GreenBiz">
            <a:extLst>
              <a:ext uri="{FF2B5EF4-FFF2-40B4-BE49-F238E27FC236}">
                <a16:creationId xmlns:a16="http://schemas.microsoft.com/office/drawing/2014/main" id="{87391CEA-7CCC-D894-3833-9877B98BFB7C}"/>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16" name="Text 11 / 18">
            <a:extLst>
              <a:ext uri="{FF2B5EF4-FFF2-40B4-BE49-F238E27FC236}">
                <a16:creationId xmlns:a16="http://schemas.microsoft.com/office/drawing/2014/main" id="{999AEF57-6BE9-BE27-2516-4EADB8E28BF9}"/>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11 / 18</a:t>
            </a:r>
          </a:p>
        </p:txBody>
      </p:sp>
      <p:sp>
        <p:nvSpPr>
          <p:cNvPr id="17" name="Text 0–100">
            <a:extLst>
              <a:ext uri="{FF2B5EF4-FFF2-40B4-BE49-F238E27FC236}">
                <a16:creationId xmlns:a16="http://schemas.microsoft.com/office/drawing/2014/main" id="{2D9E1D88-5BAE-A3B5-79FB-7DEA02A79147}"/>
              </a:ext>
            </a:extLst>
          </p:cNvPr>
          <p:cNvSpPr txBox="1"/>
          <p:nvPr/>
        </p:nvSpPr>
        <p:spPr>
          <a:xfrm>
            <a:off x="609600" y="1917700"/>
            <a:ext cx="4572000" cy="1206500"/>
          </a:xfrm>
          <a:prstGeom prst="rect">
            <a:avLst/>
          </a:prstGeom>
          <a:noFill/>
        </p:spPr>
        <p:txBody>
          <a:bodyPr vert="horz" wrap="square" lIns="0" tIns="0" rIns="0" bIns="0" rtlCol="0">
            <a:noAutofit/>
          </a:bodyPr>
          <a:lstStyle/>
          <a:p>
            <a:r>
              <a:rPr lang="en-US" sz="7600" b="1">
                <a:solidFill>
                  <a:srgbClr val="F4F8FC"/>
                </a:solidFill>
                <a:latin typeface="Segoe UI" panose="020B0502040204020203" pitchFamily="34" charset="0"/>
              </a:rPr>
              <a:t>0–100</a:t>
            </a:r>
          </a:p>
        </p:txBody>
      </p:sp>
      <p:sp>
        <p:nvSpPr>
          <p:cNvPr id="18" name="Text An explainable business profile">
            <a:extLst>
              <a:ext uri="{FF2B5EF4-FFF2-40B4-BE49-F238E27FC236}">
                <a16:creationId xmlns:a16="http://schemas.microsoft.com/office/drawing/2014/main" id="{1BBF6460-8A7A-8F60-17C1-82BF20005AB5}"/>
              </a:ext>
            </a:extLst>
          </p:cNvPr>
          <p:cNvSpPr txBox="1"/>
          <p:nvPr/>
        </p:nvSpPr>
        <p:spPr>
          <a:xfrm>
            <a:off x="660400" y="3390900"/>
            <a:ext cx="4279900" cy="1066800"/>
          </a:xfrm>
          <a:prstGeom prst="rect">
            <a:avLst/>
          </a:prstGeom>
          <a:noFill/>
        </p:spPr>
        <p:txBody>
          <a:bodyPr vert="horz" wrap="square" lIns="0" tIns="0" rIns="0" bIns="0" rtlCol="0">
            <a:noAutofit/>
          </a:bodyPr>
          <a:lstStyle/>
          <a:p>
            <a:r>
              <a:rPr lang="en-US" sz="3200" b="1">
                <a:solidFill>
                  <a:srgbClr val="4EE6C0"/>
                </a:solidFill>
                <a:latin typeface="Segoe UI" panose="020B0502040204020203" pitchFamily="34" charset="0"/>
              </a:rPr>
              <a:t>An explainable business profile</a:t>
            </a:r>
          </a:p>
        </p:txBody>
      </p:sp>
      <p:sp>
        <p:nvSpPr>
          <p:cNvPr id="19" name="Text Score band, factor bars and specific guidance">
            <a:extLst>
              <a:ext uri="{FF2B5EF4-FFF2-40B4-BE49-F238E27FC236}">
                <a16:creationId xmlns:a16="http://schemas.microsoft.com/office/drawing/2014/main" id="{67B8BFAC-D1D1-8E4C-ED42-A9745DC6E509}"/>
              </a:ext>
            </a:extLst>
          </p:cNvPr>
          <p:cNvSpPr txBox="1"/>
          <p:nvPr/>
        </p:nvSpPr>
        <p:spPr>
          <a:xfrm>
            <a:off x="660400" y="4711700"/>
            <a:ext cx="4279900" cy="1168400"/>
          </a:xfrm>
          <a:prstGeom prst="rect">
            <a:avLst/>
          </a:prstGeom>
          <a:noFill/>
        </p:spPr>
        <p:txBody>
          <a:bodyPr vert="horz" wrap="square" lIns="0" tIns="0" rIns="0" bIns="0" rtlCol="0">
            <a:noAutofit/>
          </a:bodyPr>
          <a:lstStyle/>
          <a:p>
            <a:r>
              <a:rPr lang="en-US" sz="2300">
                <a:solidFill>
                  <a:srgbClr val="C2D3DE"/>
                </a:solidFill>
                <a:latin typeface="Segoe UI" panose="020B0502040204020203" pitchFamily="34" charset="0"/>
              </a:rPr>
              <a:t>Score band, factor bars and specific guidance on what to work on.</a:t>
            </a:r>
          </a:p>
        </p:txBody>
      </p:sp>
      <p:sp>
        <p:nvSpPr>
          <p:cNvPr id="20" name="Text Consistency">
            <a:extLst>
              <a:ext uri="{FF2B5EF4-FFF2-40B4-BE49-F238E27FC236}">
                <a16:creationId xmlns:a16="http://schemas.microsoft.com/office/drawing/2014/main" id="{7C7A3F5A-FC5F-90B2-6335-C6BBE7A31958}"/>
              </a:ext>
            </a:extLst>
          </p:cNvPr>
          <p:cNvSpPr txBox="1"/>
          <p:nvPr/>
        </p:nvSpPr>
        <p:spPr>
          <a:xfrm>
            <a:off x="6223000" y="1993900"/>
            <a:ext cx="3937000" cy="419100"/>
          </a:xfrm>
          <a:prstGeom prst="rect">
            <a:avLst/>
          </a:prstGeom>
          <a:noFill/>
        </p:spPr>
        <p:txBody>
          <a:bodyPr vert="horz" wrap="square" lIns="0" tIns="0" rIns="0" bIns="0" rtlCol="0">
            <a:noAutofit/>
          </a:bodyPr>
          <a:lstStyle/>
          <a:p>
            <a:r>
              <a:rPr lang="en-US" sz="2300">
                <a:solidFill>
                  <a:srgbClr val="F4F8FC"/>
                </a:solidFill>
                <a:latin typeface="Segoe UI" panose="020B0502040204020203" pitchFamily="34" charset="0"/>
              </a:rPr>
              <a:t>Consistency</a:t>
            </a:r>
          </a:p>
        </p:txBody>
      </p:sp>
      <p:sp>
        <p:nvSpPr>
          <p:cNvPr id="21" name="Text 30%">
            <a:extLst>
              <a:ext uri="{FF2B5EF4-FFF2-40B4-BE49-F238E27FC236}">
                <a16:creationId xmlns:a16="http://schemas.microsoft.com/office/drawing/2014/main" id="{5CA241F9-EC2C-4B3C-1191-7B2872DEA494}"/>
              </a:ext>
            </a:extLst>
          </p:cNvPr>
          <p:cNvSpPr txBox="1"/>
          <p:nvPr/>
        </p:nvSpPr>
        <p:spPr>
          <a:xfrm>
            <a:off x="10579100" y="1993900"/>
            <a:ext cx="1016000" cy="419100"/>
          </a:xfrm>
          <a:prstGeom prst="rect">
            <a:avLst/>
          </a:prstGeom>
          <a:noFill/>
        </p:spPr>
        <p:txBody>
          <a:bodyPr vert="horz" wrap="square" lIns="0" tIns="0" rIns="0" bIns="0" rtlCol="0">
            <a:noAutofit/>
          </a:bodyPr>
          <a:lstStyle/>
          <a:p>
            <a:pPr algn="r"/>
            <a:r>
              <a:rPr lang="en-US" sz="2300" b="1">
                <a:solidFill>
                  <a:srgbClr val="4EE6C0"/>
                </a:solidFill>
                <a:latin typeface="Segoe UI" panose="020B0502040204020203" pitchFamily="34" charset="0"/>
              </a:rPr>
              <a:t>30%</a:t>
            </a:r>
          </a:p>
        </p:txBody>
      </p:sp>
      <p:sp>
        <p:nvSpPr>
          <p:cNvPr id="22" name="Profile factor weight Consistency">
            <a:extLst>
              <a:ext uri="{FF2B5EF4-FFF2-40B4-BE49-F238E27FC236}">
                <a16:creationId xmlns:a16="http://schemas.microsoft.com/office/drawing/2014/main" id="{E73251D0-7CCA-8CFA-C8B3-868E58EE9A74}"/>
              </a:ext>
            </a:extLst>
          </p:cNvPr>
          <p:cNvSpPr/>
          <p:nvPr/>
        </p:nvSpPr>
        <p:spPr>
          <a:xfrm>
            <a:off x="6223000" y="2540000"/>
            <a:ext cx="3810000" cy="88900"/>
          </a:xfrm>
          <a:prstGeom prst="rect">
            <a:avLst/>
          </a:prstGeom>
          <a:solidFill>
            <a:srgbClr val="4EE6C0"/>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Volume">
            <a:extLst>
              <a:ext uri="{FF2B5EF4-FFF2-40B4-BE49-F238E27FC236}">
                <a16:creationId xmlns:a16="http://schemas.microsoft.com/office/drawing/2014/main" id="{8FB794C4-11B6-F14B-2332-7F4F8E24805B}"/>
              </a:ext>
            </a:extLst>
          </p:cNvPr>
          <p:cNvSpPr txBox="1"/>
          <p:nvPr/>
        </p:nvSpPr>
        <p:spPr>
          <a:xfrm>
            <a:off x="6223000" y="2984500"/>
            <a:ext cx="3937000" cy="419100"/>
          </a:xfrm>
          <a:prstGeom prst="rect">
            <a:avLst/>
          </a:prstGeom>
          <a:noFill/>
        </p:spPr>
        <p:txBody>
          <a:bodyPr vert="horz" wrap="square" lIns="0" tIns="0" rIns="0" bIns="0" rtlCol="0">
            <a:noAutofit/>
          </a:bodyPr>
          <a:lstStyle/>
          <a:p>
            <a:r>
              <a:rPr lang="en-US" sz="2300">
                <a:solidFill>
                  <a:srgbClr val="F4F8FC"/>
                </a:solidFill>
                <a:latin typeface="Segoe UI" panose="020B0502040204020203" pitchFamily="34" charset="0"/>
              </a:rPr>
              <a:t>Volume</a:t>
            </a:r>
          </a:p>
        </p:txBody>
      </p:sp>
      <p:sp>
        <p:nvSpPr>
          <p:cNvPr id="24" name="Text 25%">
            <a:extLst>
              <a:ext uri="{FF2B5EF4-FFF2-40B4-BE49-F238E27FC236}">
                <a16:creationId xmlns:a16="http://schemas.microsoft.com/office/drawing/2014/main" id="{8DDC5248-61B3-1FE9-4290-512986BC2E5B}"/>
              </a:ext>
            </a:extLst>
          </p:cNvPr>
          <p:cNvSpPr txBox="1"/>
          <p:nvPr/>
        </p:nvSpPr>
        <p:spPr>
          <a:xfrm>
            <a:off x="10579100" y="2984500"/>
            <a:ext cx="1016000" cy="419100"/>
          </a:xfrm>
          <a:prstGeom prst="rect">
            <a:avLst/>
          </a:prstGeom>
          <a:noFill/>
        </p:spPr>
        <p:txBody>
          <a:bodyPr vert="horz" wrap="square" lIns="0" tIns="0" rIns="0" bIns="0" rtlCol="0">
            <a:noAutofit/>
          </a:bodyPr>
          <a:lstStyle/>
          <a:p>
            <a:pPr algn="r"/>
            <a:r>
              <a:rPr lang="en-US" sz="2300" b="1">
                <a:solidFill>
                  <a:srgbClr val="4EE6C0"/>
                </a:solidFill>
                <a:latin typeface="Segoe UI" panose="020B0502040204020203" pitchFamily="34" charset="0"/>
              </a:rPr>
              <a:t>25%</a:t>
            </a:r>
          </a:p>
        </p:txBody>
      </p:sp>
      <p:sp>
        <p:nvSpPr>
          <p:cNvPr id="25" name="Profile factor weight Volume">
            <a:extLst>
              <a:ext uri="{FF2B5EF4-FFF2-40B4-BE49-F238E27FC236}">
                <a16:creationId xmlns:a16="http://schemas.microsoft.com/office/drawing/2014/main" id="{4E2667FE-CAF9-EEA5-8D73-DDF2D8B93B6E}"/>
              </a:ext>
            </a:extLst>
          </p:cNvPr>
          <p:cNvSpPr/>
          <p:nvPr/>
        </p:nvSpPr>
        <p:spPr>
          <a:xfrm>
            <a:off x="6223000" y="3530600"/>
            <a:ext cx="3175000" cy="88900"/>
          </a:xfrm>
          <a:prstGeom prst="rect">
            <a:avLst/>
          </a:prstGeom>
          <a:solidFill>
            <a:srgbClr val="4EE6C0"/>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 Stability">
            <a:extLst>
              <a:ext uri="{FF2B5EF4-FFF2-40B4-BE49-F238E27FC236}">
                <a16:creationId xmlns:a16="http://schemas.microsoft.com/office/drawing/2014/main" id="{0868D28C-BF13-9ACB-B1FD-3573028D5AA5}"/>
              </a:ext>
            </a:extLst>
          </p:cNvPr>
          <p:cNvSpPr txBox="1"/>
          <p:nvPr/>
        </p:nvSpPr>
        <p:spPr>
          <a:xfrm>
            <a:off x="6223000" y="3975100"/>
            <a:ext cx="3937000" cy="419100"/>
          </a:xfrm>
          <a:prstGeom prst="rect">
            <a:avLst/>
          </a:prstGeom>
          <a:noFill/>
        </p:spPr>
        <p:txBody>
          <a:bodyPr vert="horz" wrap="square" lIns="0" tIns="0" rIns="0" bIns="0" rtlCol="0">
            <a:noAutofit/>
          </a:bodyPr>
          <a:lstStyle/>
          <a:p>
            <a:r>
              <a:rPr lang="en-US" sz="2300">
                <a:solidFill>
                  <a:srgbClr val="F4F8FC"/>
                </a:solidFill>
                <a:latin typeface="Segoe UI" panose="020B0502040204020203" pitchFamily="34" charset="0"/>
              </a:rPr>
              <a:t>Stability</a:t>
            </a:r>
          </a:p>
        </p:txBody>
      </p:sp>
      <p:sp>
        <p:nvSpPr>
          <p:cNvPr id="27" name="Text 25%">
            <a:extLst>
              <a:ext uri="{FF2B5EF4-FFF2-40B4-BE49-F238E27FC236}">
                <a16:creationId xmlns:a16="http://schemas.microsoft.com/office/drawing/2014/main" id="{4B2A3E74-F941-C84A-D20A-DCB709F57812}"/>
              </a:ext>
            </a:extLst>
          </p:cNvPr>
          <p:cNvSpPr txBox="1"/>
          <p:nvPr/>
        </p:nvSpPr>
        <p:spPr>
          <a:xfrm>
            <a:off x="10579100" y="3975100"/>
            <a:ext cx="1016000" cy="419100"/>
          </a:xfrm>
          <a:prstGeom prst="rect">
            <a:avLst/>
          </a:prstGeom>
          <a:noFill/>
        </p:spPr>
        <p:txBody>
          <a:bodyPr vert="horz" wrap="square" lIns="0" tIns="0" rIns="0" bIns="0" rtlCol="0">
            <a:noAutofit/>
          </a:bodyPr>
          <a:lstStyle/>
          <a:p>
            <a:pPr algn="r"/>
            <a:r>
              <a:rPr lang="en-US" sz="2300" b="1">
                <a:solidFill>
                  <a:srgbClr val="4EE6C0"/>
                </a:solidFill>
                <a:latin typeface="Segoe UI" panose="020B0502040204020203" pitchFamily="34" charset="0"/>
              </a:rPr>
              <a:t>25%</a:t>
            </a:r>
          </a:p>
        </p:txBody>
      </p:sp>
      <p:sp>
        <p:nvSpPr>
          <p:cNvPr id="28" name="Profile factor weight Stability">
            <a:extLst>
              <a:ext uri="{FF2B5EF4-FFF2-40B4-BE49-F238E27FC236}">
                <a16:creationId xmlns:a16="http://schemas.microsoft.com/office/drawing/2014/main" id="{89F07B3F-FA05-16D0-8679-F1B6E9BB77FB}"/>
              </a:ext>
            </a:extLst>
          </p:cNvPr>
          <p:cNvSpPr/>
          <p:nvPr/>
        </p:nvSpPr>
        <p:spPr>
          <a:xfrm>
            <a:off x="6223000" y="4521200"/>
            <a:ext cx="3175000" cy="88900"/>
          </a:xfrm>
          <a:prstGeom prst="rect">
            <a:avLst/>
          </a:prstGeom>
          <a:solidFill>
            <a:srgbClr val="4EE6C0"/>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 Activity">
            <a:extLst>
              <a:ext uri="{FF2B5EF4-FFF2-40B4-BE49-F238E27FC236}">
                <a16:creationId xmlns:a16="http://schemas.microsoft.com/office/drawing/2014/main" id="{0DE479EE-2DEC-F615-5F95-15A1760CE72D}"/>
              </a:ext>
            </a:extLst>
          </p:cNvPr>
          <p:cNvSpPr txBox="1"/>
          <p:nvPr/>
        </p:nvSpPr>
        <p:spPr>
          <a:xfrm>
            <a:off x="6223000" y="4965700"/>
            <a:ext cx="3937000" cy="419100"/>
          </a:xfrm>
          <a:prstGeom prst="rect">
            <a:avLst/>
          </a:prstGeom>
          <a:noFill/>
        </p:spPr>
        <p:txBody>
          <a:bodyPr vert="horz" wrap="square" lIns="0" tIns="0" rIns="0" bIns="0" rtlCol="0">
            <a:noAutofit/>
          </a:bodyPr>
          <a:lstStyle/>
          <a:p>
            <a:r>
              <a:rPr lang="en-US" sz="2300">
                <a:solidFill>
                  <a:srgbClr val="F4F8FC"/>
                </a:solidFill>
                <a:latin typeface="Segoe UI" panose="020B0502040204020203" pitchFamily="34" charset="0"/>
              </a:rPr>
              <a:t>Activity</a:t>
            </a:r>
          </a:p>
        </p:txBody>
      </p:sp>
      <p:sp>
        <p:nvSpPr>
          <p:cNvPr id="30" name="Text 20%">
            <a:extLst>
              <a:ext uri="{FF2B5EF4-FFF2-40B4-BE49-F238E27FC236}">
                <a16:creationId xmlns:a16="http://schemas.microsoft.com/office/drawing/2014/main" id="{97506F4C-BFC5-7FE2-036D-376909BF2F77}"/>
              </a:ext>
            </a:extLst>
          </p:cNvPr>
          <p:cNvSpPr txBox="1"/>
          <p:nvPr/>
        </p:nvSpPr>
        <p:spPr>
          <a:xfrm>
            <a:off x="10579100" y="4965700"/>
            <a:ext cx="1016000" cy="419100"/>
          </a:xfrm>
          <a:prstGeom prst="rect">
            <a:avLst/>
          </a:prstGeom>
          <a:noFill/>
        </p:spPr>
        <p:txBody>
          <a:bodyPr vert="horz" wrap="square" lIns="0" tIns="0" rIns="0" bIns="0" rtlCol="0">
            <a:noAutofit/>
          </a:bodyPr>
          <a:lstStyle/>
          <a:p>
            <a:pPr algn="r"/>
            <a:r>
              <a:rPr lang="en-US" sz="2300" b="1">
                <a:solidFill>
                  <a:srgbClr val="4EE6C0"/>
                </a:solidFill>
                <a:latin typeface="Segoe UI" panose="020B0502040204020203" pitchFamily="34" charset="0"/>
              </a:rPr>
              <a:t>20%</a:t>
            </a:r>
          </a:p>
        </p:txBody>
      </p:sp>
      <p:sp>
        <p:nvSpPr>
          <p:cNvPr id="31" name="Profile factor weight Activity">
            <a:extLst>
              <a:ext uri="{FF2B5EF4-FFF2-40B4-BE49-F238E27FC236}">
                <a16:creationId xmlns:a16="http://schemas.microsoft.com/office/drawing/2014/main" id="{FB73E8F9-0949-B43E-649B-5DE98BE7AD08}"/>
              </a:ext>
            </a:extLst>
          </p:cNvPr>
          <p:cNvSpPr/>
          <p:nvPr/>
        </p:nvSpPr>
        <p:spPr>
          <a:xfrm>
            <a:off x="6223000" y="5511800"/>
            <a:ext cx="2540000" cy="88900"/>
          </a:xfrm>
          <a:prstGeom prst="rect">
            <a:avLst/>
          </a:prstGeom>
          <a:solidFill>
            <a:srgbClr val="4EE6C0"/>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 Business indicator from recorded activity. Le">
            <a:extLst>
              <a:ext uri="{FF2B5EF4-FFF2-40B4-BE49-F238E27FC236}">
                <a16:creationId xmlns:a16="http://schemas.microsoft.com/office/drawing/2014/main" id="{9842ADF1-EB7F-F690-2E7C-25A74E723680}"/>
              </a:ext>
            </a:extLst>
          </p:cNvPr>
          <p:cNvSpPr txBox="1"/>
          <p:nvPr/>
        </p:nvSpPr>
        <p:spPr>
          <a:xfrm>
            <a:off x="609600" y="6070600"/>
            <a:ext cx="10972800" cy="317500"/>
          </a:xfrm>
          <a:prstGeom prst="rect">
            <a:avLst/>
          </a:prstGeom>
          <a:noFill/>
        </p:spPr>
        <p:txBody>
          <a:bodyPr vert="horz" wrap="square" lIns="0" tIns="0" rIns="0" bIns="0" rtlCol="0">
            <a:noAutofit/>
          </a:bodyPr>
          <a:lstStyle/>
          <a:p>
            <a:r>
              <a:rPr lang="en-US" sz="1700">
                <a:solidFill>
                  <a:srgbClr val="8EA7BA"/>
                </a:solidFill>
                <a:latin typeface="Segoe UI" panose="020B0502040204020203" pitchFamily="34" charset="0"/>
              </a:rPr>
              <a:t>Business indicator from recorded activity. Lenders assess eligibility.</a:t>
            </a:r>
          </a:p>
        </p:txBody>
      </p:sp>
    </p:spTree>
    <p:extLst>
      <p:ext uri="{BB962C8B-B14F-4D97-AF65-F5344CB8AC3E}">
        <p14:creationId xmlns:p14="http://schemas.microsoft.com/office/powerpoint/2010/main" val="14595823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800"/>
                                        <p:tgtEl>
                                          <p:spTgt spid="17"/>
                                        </p:tgtEl>
                                      </p:cBhvr>
                                    </p:animEffect>
                                    <p:animScale>
                                      <p:cBhvr>
                                        <p:cTn id="13" dur="800" fill="hold">
                                          <p:stCondLst>
                                            <p:cond delay="0"/>
                                          </p:stCondLst>
                                        </p:cTn>
                                        <p:tgtEl>
                                          <p:spTgt spid="17"/>
                                        </p:tgtEl>
                                      </p:cBhvr>
                                      <p:from x="96000" y="96000"/>
                                      <p:to x="100000" y="100000"/>
                                    </p:animScale>
                                  </p:childTnLst>
                                </p:cTn>
                              </p:par>
                            </p:childTnLst>
                          </p:cTn>
                        </p:par>
                      </p:childTnLst>
                    </p:cTn>
                  </p:par>
                  <p:par>
                    <p:cTn id="14" fill="hold">
                      <p:stCondLst>
                        <p:cond delay="indefinite"/>
                      </p:stCondLst>
                      <p:childTnLst>
                        <p:par>
                          <p:cTn id="15" fill="hold">
                            <p:stCondLst>
                              <p:cond delay="0"/>
                            </p:stCondLst>
                            <p:childTnLst>
                              <p:par>
                                <p:cTn id="16" presetID="42" presetClass="entr" presetSubtype="0" accel="15000" decel="2500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600"/>
                                        <p:tgtEl>
                                          <p:spTgt spid="18"/>
                                        </p:tgtEl>
                                      </p:cBhvr>
                                    </p:animEffect>
                                    <p:anim calcmode="lin" valueType="num">
                                      <p:cBhvr>
                                        <p:cTn id="19" dur="600" fill="hold"/>
                                        <p:tgtEl>
                                          <p:spTgt spid="18"/>
                                        </p:tgtEl>
                                        <p:attrNameLst>
                                          <p:attrName>ppt_x</p:attrName>
                                        </p:attrNameLst>
                                      </p:cBhvr>
                                      <p:tavLst>
                                        <p:tav tm="0">
                                          <p:val>
                                            <p:strVal val="#ppt_x"/>
                                          </p:val>
                                        </p:tav>
                                        <p:tav tm="100000">
                                          <p:val>
                                            <p:strVal val="#ppt_x"/>
                                          </p:val>
                                        </p:tav>
                                      </p:tavLst>
                                    </p:anim>
                                    <p:anim calcmode="lin" valueType="num">
                                      <p:cBhvr>
                                        <p:cTn id="20" dur="600" fill="hold"/>
                                        <p:tgtEl>
                                          <p:spTgt spid="18"/>
                                        </p:tgtEl>
                                        <p:attrNameLst>
                                          <p:attrName>ppt_y</p:attrName>
                                        </p:attrNameLst>
                                      </p:cBhvr>
                                      <p:tavLst>
                                        <p:tav tm="0">
                                          <p:val>
                                            <p:strVal val="#ppt_y+.1"/>
                                          </p:val>
                                        </p:tav>
                                        <p:tav tm="100000">
                                          <p:val>
                                            <p:strVal val="#ppt_y"/>
                                          </p:val>
                                        </p:tav>
                                      </p:tavLst>
                                    </p:anim>
                                  </p:childTnLst>
                                </p:cTn>
                              </p:par>
                              <p:par>
                                <p:cTn id="21" presetID="42" presetClass="entr" presetSubtype="0" accel="15000" decel="25000" fill="hold" grpId="0" nodeType="withEffect">
                                  <p:stCondLst>
                                    <p:cond delay="65"/>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600"/>
                                        <p:tgtEl>
                                          <p:spTgt spid="19"/>
                                        </p:tgtEl>
                                      </p:cBhvr>
                                    </p:animEffect>
                                    <p:anim calcmode="lin" valueType="num">
                                      <p:cBhvr>
                                        <p:cTn id="24" dur="600" fill="hold"/>
                                        <p:tgtEl>
                                          <p:spTgt spid="19"/>
                                        </p:tgtEl>
                                        <p:attrNameLst>
                                          <p:attrName>ppt_x</p:attrName>
                                        </p:attrNameLst>
                                      </p:cBhvr>
                                      <p:tavLst>
                                        <p:tav tm="0">
                                          <p:val>
                                            <p:strVal val="#ppt_x"/>
                                          </p:val>
                                        </p:tav>
                                        <p:tav tm="100000">
                                          <p:val>
                                            <p:strVal val="#ppt_x"/>
                                          </p:val>
                                        </p:tav>
                                      </p:tavLst>
                                    </p:anim>
                                    <p:anim calcmode="lin" valueType="num">
                                      <p:cBhvr>
                                        <p:cTn id="25" dur="6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left)">
                                      <p:cBhvr>
                                        <p:cTn id="30" dur="500"/>
                                        <p:tgtEl>
                                          <p:spTgt spid="20"/>
                                        </p:tgtEl>
                                      </p:cBhvr>
                                    </p:animEffect>
                                  </p:childTnLst>
                                </p:cTn>
                              </p:par>
                              <p:par>
                                <p:cTn id="31" presetID="22" presetClass="entr" presetSubtype="8" fill="hold" grpId="0" nodeType="withEffect">
                                  <p:stCondLst>
                                    <p:cond delay="65"/>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500"/>
                                        <p:tgtEl>
                                          <p:spTgt spid="21"/>
                                        </p:tgtEl>
                                      </p:cBhvr>
                                    </p:animEffect>
                                  </p:childTnLst>
                                </p:cTn>
                              </p:par>
                              <p:par>
                                <p:cTn id="34" presetID="22" presetClass="entr" presetSubtype="8" fill="hold" grpId="0" nodeType="withEffect">
                                  <p:stCondLst>
                                    <p:cond delay="130"/>
                                  </p:stCondLst>
                                  <p:childTnLst>
                                    <p:set>
                                      <p:cBhvr>
                                        <p:cTn id="35" dur="1" fill="hold">
                                          <p:stCondLst>
                                            <p:cond delay="0"/>
                                          </p:stCondLst>
                                        </p:cTn>
                                        <p:tgtEl>
                                          <p:spTgt spid="22"/>
                                        </p:tgtEl>
                                        <p:attrNameLst>
                                          <p:attrName>style.visibility</p:attrName>
                                        </p:attrNameLst>
                                      </p:cBhvr>
                                      <p:to>
                                        <p:strVal val="visible"/>
                                      </p:to>
                                    </p:set>
                                    <p:animEffect transition="in" filter="wipe(left)">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wipe(left)">
                                      <p:cBhvr>
                                        <p:cTn id="41" dur="500"/>
                                        <p:tgtEl>
                                          <p:spTgt spid="23"/>
                                        </p:tgtEl>
                                      </p:cBhvr>
                                    </p:animEffect>
                                  </p:childTnLst>
                                </p:cTn>
                              </p:par>
                              <p:par>
                                <p:cTn id="42" presetID="22" presetClass="entr" presetSubtype="8" fill="hold" grpId="0" nodeType="withEffect">
                                  <p:stCondLst>
                                    <p:cond delay="65"/>
                                  </p:stCondLst>
                                  <p:childTnLst>
                                    <p:set>
                                      <p:cBhvr>
                                        <p:cTn id="43" dur="1" fill="hold">
                                          <p:stCondLst>
                                            <p:cond delay="0"/>
                                          </p:stCondLst>
                                        </p:cTn>
                                        <p:tgtEl>
                                          <p:spTgt spid="24"/>
                                        </p:tgtEl>
                                        <p:attrNameLst>
                                          <p:attrName>style.visibility</p:attrName>
                                        </p:attrNameLst>
                                      </p:cBhvr>
                                      <p:to>
                                        <p:strVal val="visible"/>
                                      </p:to>
                                    </p:set>
                                    <p:animEffect transition="in" filter="wipe(left)">
                                      <p:cBhvr>
                                        <p:cTn id="44" dur="500"/>
                                        <p:tgtEl>
                                          <p:spTgt spid="24"/>
                                        </p:tgtEl>
                                      </p:cBhvr>
                                    </p:animEffect>
                                  </p:childTnLst>
                                </p:cTn>
                              </p:par>
                              <p:par>
                                <p:cTn id="45" presetID="22" presetClass="entr" presetSubtype="8" fill="hold" grpId="0" nodeType="withEffect">
                                  <p:stCondLst>
                                    <p:cond delay="130"/>
                                  </p:stCondLst>
                                  <p:childTnLst>
                                    <p:set>
                                      <p:cBhvr>
                                        <p:cTn id="46" dur="1" fill="hold">
                                          <p:stCondLst>
                                            <p:cond delay="0"/>
                                          </p:stCondLst>
                                        </p:cTn>
                                        <p:tgtEl>
                                          <p:spTgt spid="25"/>
                                        </p:tgtEl>
                                        <p:attrNameLst>
                                          <p:attrName>style.visibility</p:attrName>
                                        </p:attrNameLst>
                                      </p:cBhvr>
                                      <p:to>
                                        <p:strVal val="visible"/>
                                      </p:to>
                                    </p:set>
                                    <p:animEffect transition="in" filter="wipe(left)">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wipe(left)">
                                      <p:cBhvr>
                                        <p:cTn id="52" dur="500"/>
                                        <p:tgtEl>
                                          <p:spTgt spid="26"/>
                                        </p:tgtEl>
                                      </p:cBhvr>
                                    </p:animEffect>
                                  </p:childTnLst>
                                </p:cTn>
                              </p:par>
                              <p:par>
                                <p:cTn id="53" presetID="22" presetClass="entr" presetSubtype="8" fill="hold" grpId="0" nodeType="withEffect">
                                  <p:stCondLst>
                                    <p:cond delay="65"/>
                                  </p:stCondLst>
                                  <p:childTnLst>
                                    <p:set>
                                      <p:cBhvr>
                                        <p:cTn id="54" dur="1" fill="hold">
                                          <p:stCondLst>
                                            <p:cond delay="0"/>
                                          </p:stCondLst>
                                        </p:cTn>
                                        <p:tgtEl>
                                          <p:spTgt spid="27"/>
                                        </p:tgtEl>
                                        <p:attrNameLst>
                                          <p:attrName>style.visibility</p:attrName>
                                        </p:attrNameLst>
                                      </p:cBhvr>
                                      <p:to>
                                        <p:strVal val="visible"/>
                                      </p:to>
                                    </p:set>
                                    <p:animEffect transition="in" filter="wipe(left)">
                                      <p:cBhvr>
                                        <p:cTn id="55" dur="500"/>
                                        <p:tgtEl>
                                          <p:spTgt spid="27"/>
                                        </p:tgtEl>
                                      </p:cBhvr>
                                    </p:animEffect>
                                  </p:childTnLst>
                                </p:cTn>
                              </p:par>
                              <p:par>
                                <p:cTn id="56" presetID="22" presetClass="entr" presetSubtype="8" fill="hold" grpId="0" nodeType="withEffect">
                                  <p:stCondLst>
                                    <p:cond delay="130"/>
                                  </p:stCondLst>
                                  <p:childTnLst>
                                    <p:set>
                                      <p:cBhvr>
                                        <p:cTn id="57" dur="1" fill="hold">
                                          <p:stCondLst>
                                            <p:cond delay="0"/>
                                          </p:stCondLst>
                                        </p:cTn>
                                        <p:tgtEl>
                                          <p:spTgt spid="28"/>
                                        </p:tgtEl>
                                        <p:attrNameLst>
                                          <p:attrName>style.visibility</p:attrName>
                                        </p:attrNameLst>
                                      </p:cBhvr>
                                      <p:to>
                                        <p:strVal val="visible"/>
                                      </p:to>
                                    </p:set>
                                    <p:animEffect transition="in" filter="wipe(left)">
                                      <p:cBhvr>
                                        <p:cTn id="58" dur="500"/>
                                        <p:tgtEl>
                                          <p:spTgt spid="2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wipe(left)">
                                      <p:cBhvr>
                                        <p:cTn id="63" dur="500"/>
                                        <p:tgtEl>
                                          <p:spTgt spid="29"/>
                                        </p:tgtEl>
                                      </p:cBhvr>
                                    </p:animEffect>
                                  </p:childTnLst>
                                </p:cTn>
                              </p:par>
                              <p:par>
                                <p:cTn id="64" presetID="22" presetClass="entr" presetSubtype="8" fill="hold" grpId="0" nodeType="withEffect">
                                  <p:stCondLst>
                                    <p:cond delay="65"/>
                                  </p:stCondLst>
                                  <p:childTnLst>
                                    <p:set>
                                      <p:cBhvr>
                                        <p:cTn id="65" dur="1" fill="hold">
                                          <p:stCondLst>
                                            <p:cond delay="0"/>
                                          </p:stCondLst>
                                        </p:cTn>
                                        <p:tgtEl>
                                          <p:spTgt spid="30"/>
                                        </p:tgtEl>
                                        <p:attrNameLst>
                                          <p:attrName>style.visibility</p:attrName>
                                        </p:attrNameLst>
                                      </p:cBhvr>
                                      <p:to>
                                        <p:strVal val="visible"/>
                                      </p:to>
                                    </p:set>
                                    <p:animEffect transition="in" filter="wipe(left)">
                                      <p:cBhvr>
                                        <p:cTn id="66" dur="500"/>
                                        <p:tgtEl>
                                          <p:spTgt spid="30"/>
                                        </p:tgtEl>
                                      </p:cBhvr>
                                    </p:animEffect>
                                  </p:childTnLst>
                                </p:cTn>
                              </p:par>
                              <p:par>
                                <p:cTn id="67" presetID="22" presetClass="entr" presetSubtype="8" fill="hold" grpId="0" nodeType="withEffect">
                                  <p:stCondLst>
                                    <p:cond delay="130"/>
                                  </p:stCondLst>
                                  <p:childTnLst>
                                    <p:set>
                                      <p:cBhvr>
                                        <p:cTn id="68" dur="1" fill="hold">
                                          <p:stCondLst>
                                            <p:cond delay="0"/>
                                          </p:stCondLst>
                                        </p:cTn>
                                        <p:tgtEl>
                                          <p:spTgt spid="31"/>
                                        </p:tgtEl>
                                        <p:attrNameLst>
                                          <p:attrName>style.visibility</p:attrName>
                                        </p:attrNameLst>
                                      </p:cBhvr>
                                      <p:to>
                                        <p:strVal val="visible"/>
                                      </p:to>
                                    </p:set>
                                    <p:animEffect transition="in" filter="wipe(left)">
                                      <p:cBhvr>
                                        <p:cTn id="69" dur="500"/>
                                        <p:tgtEl>
                                          <p:spTgt spid="3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accel="15000" decel="25000" fill="hold" grpId="0" nodeType="click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fade">
                                      <p:cBhvr>
                                        <p:cTn id="74"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19" grpId="0"/>
      <p:bldP spid="20" grpId="0"/>
      <p:bldP spid="21" grpId="0"/>
      <p:bldP spid="22" grpId="0" animBg="1"/>
      <p:bldP spid="23" grpId="0"/>
      <p:bldP spid="24" grpId="0"/>
      <p:bldP spid="25" grpId="0" animBg="1"/>
      <p:bldP spid="26" grpId="0"/>
      <p:bldP spid="27" grpId="0"/>
      <p:bldP spid="28" grpId="0" animBg="1"/>
      <p:bldP spid="29" grpId="0"/>
      <p:bldP spid="30" grpId="0"/>
      <p:bldP spid="31" grpId="0" animBg="1"/>
      <p:bldP spid="3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6" name="Text Financing guidance grounded in records">
            <a:extLst>
              <a:ext uri="{FF2B5EF4-FFF2-40B4-BE49-F238E27FC236}">
                <a16:creationId xmlns:a16="http://schemas.microsoft.com/office/drawing/2014/main" id="{C5AE8C6C-068A-0480-4AAF-FF71BE8F873F}"/>
              </a:ext>
            </a:extLst>
          </p:cNvPr>
          <p:cNvSpPr txBox="1"/>
          <p:nvPr/>
        </p:nvSpPr>
        <p:spPr>
          <a:xfrm>
            <a:off x="609600" y="419100"/>
            <a:ext cx="10972800" cy="1092200"/>
          </a:xfrm>
          <a:prstGeom prst="rect">
            <a:avLst/>
          </a:prstGeom>
          <a:noFill/>
        </p:spPr>
        <p:txBody>
          <a:bodyPr vert="horz" wrap="square" lIns="0" tIns="0" rIns="0" bIns="0" rtlCol="0">
            <a:noAutofit/>
          </a:bodyPr>
          <a:lstStyle/>
          <a:p>
            <a:r>
              <a:rPr lang="en-US" sz="3400" b="1">
                <a:solidFill>
                  <a:srgbClr val="F4F8FC"/>
                </a:solidFill>
                <a:latin typeface="Segoe UI" panose="020B0502040204020203" pitchFamily="34" charset="0"/>
              </a:rPr>
              <a:t>Financing guidance grounded in records</a:t>
            </a:r>
          </a:p>
        </p:txBody>
      </p:sp>
      <p:sp>
        <p:nvSpPr>
          <p:cNvPr id="17" name="Text GreenBiz">
            <a:extLst>
              <a:ext uri="{FF2B5EF4-FFF2-40B4-BE49-F238E27FC236}">
                <a16:creationId xmlns:a16="http://schemas.microsoft.com/office/drawing/2014/main" id="{64C0C013-1FCA-B4A8-3A42-E59B7A7CC32F}"/>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18" name="Text 12 / 18">
            <a:extLst>
              <a:ext uri="{FF2B5EF4-FFF2-40B4-BE49-F238E27FC236}">
                <a16:creationId xmlns:a16="http://schemas.microsoft.com/office/drawing/2014/main" id="{28ED39EF-B449-0AA0-8C01-790FEC957872}"/>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12 / 18</a:t>
            </a:r>
          </a:p>
        </p:txBody>
      </p:sp>
      <p:sp>
        <p:nvSpPr>
          <p:cNvPr id="19" name="Text Advice begins with the business history">
            <a:extLst>
              <a:ext uri="{FF2B5EF4-FFF2-40B4-BE49-F238E27FC236}">
                <a16:creationId xmlns:a16="http://schemas.microsoft.com/office/drawing/2014/main" id="{259091C4-6040-C076-8A80-3348C3233E71}"/>
              </a:ext>
            </a:extLst>
          </p:cNvPr>
          <p:cNvSpPr txBox="1"/>
          <p:nvPr/>
        </p:nvSpPr>
        <p:spPr>
          <a:xfrm>
            <a:off x="609600" y="1778000"/>
            <a:ext cx="10414000" cy="1270000"/>
          </a:xfrm>
          <a:prstGeom prst="rect">
            <a:avLst/>
          </a:prstGeom>
          <a:noFill/>
        </p:spPr>
        <p:txBody>
          <a:bodyPr vert="horz" wrap="square" lIns="0" tIns="0" rIns="0" bIns="0" rtlCol="0">
            <a:noAutofit/>
          </a:bodyPr>
          <a:lstStyle/>
          <a:p>
            <a:r>
              <a:rPr lang="en-US" sz="4300" b="1">
                <a:solidFill>
                  <a:srgbClr val="F4F8FC"/>
                </a:solidFill>
                <a:latin typeface="Segoe UI" panose="020B0502040204020203" pitchFamily="34" charset="0"/>
              </a:rPr>
              <a:t>Advice begins with the business history</a:t>
            </a:r>
          </a:p>
        </p:txBody>
      </p:sp>
      <p:sp>
        <p:nvSpPr>
          <p:cNvPr id="20" name="Text Loan-plan matching">
            <a:extLst>
              <a:ext uri="{FF2B5EF4-FFF2-40B4-BE49-F238E27FC236}">
                <a16:creationId xmlns:a16="http://schemas.microsoft.com/office/drawing/2014/main" id="{C2BCAB06-26E1-D23D-0A48-65DD9D8E3AAF}"/>
              </a:ext>
            </a:extLst>
          </p:cNvPr>
          <p:cNvSpPr txBox="1"/>
          <p:nvPr/>
        </p:nvSpPr>
        <p:spPr>
          <a:xfrm>
            <a:off x="609600" y="3568700"/>
            <a:ext cx="5054600" cy="571500"/>
          </a:xfrm>
          <a:prstGeom prst="rect">
            <a:avLst/>
          </a:prstGeom>
          <a:noFill/>
        </p:spPr>
        <p:txBody>
          <a:bodyPr vert="horz" wrap="square" lIns="0" tIns="0" rIns="0" bIns="0" rtlCol="0">
            <a:noAutofit/>
          </a:bodyPr>
          <a:lstStyle/>
          <a:p>
            <a:r>
              <a:rPr lang="en-US" sz="2700" b="1">
                <a:solidFill>
                  <a:srgbClr val="4EE6C0"/>
                </a:solidFill>
                <a:latin typeface="Segoe UI" panose="020B0502040204020203" pitchFamily="34" charset="0"/>
              </a:rPr>
              <a:t>Loan-plan matching</a:t>
            </a:r>
          </a:p>
        </p:txBody>
      </p:sp>
      <p:sp>
        <p:nvSpPr>
          <p:cNvPr id="21" name="Text Requested amount and recorded revenue help ra">
            <a:extLst>
              <a:ext uri="{FF2B5EF4-FFF2-40B4-BE49-F238E27FC236}">
                <a16:creationId xmlns:a16="http://schemas.microsoft.com/office/drawing/2014/main" id="{37C3BC44-D19F-713E-3779-6CDB84578A5D}"/>
              </a:ext>
            </a:extLst>
          </p:cNvPr>
          <p:cNvSpPr txBox="1"/>
          <p:nvPr/>
        </p:nvSpPr>
        <p:spPr>
          <a:xfrm>
            <a:off x="609600" y="4203700"/>
            <a:ext cx="5054600" cy="14605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Requested amount and recorded revenue help rank published products by fit.</a:t>
            </a:r>
          </a:p>
        </p:txBody>
      </p:sp>
      <p:sp>
        <p:nvSpPr>
          <p:cNvPr id="22" name="Text Clear requirements">
            <a:extLst>
              <a:ext uri="{FF2B5EF4-FFF2-40B4-BE49-F238E27FC236}">
                <a16:creationId xmlns:a16="http://schemas.microsoft.com/office/drawing/2014/main" id="{55F74D92-4EF7-FB0B-409A-D3C18BD831A0}"/>
              </a:ext>
            </a:extLst>
          </p:cNvPr>
          <p:cNvSpPr txBox="1"/>
          <p:nvPr/>
        </p:nvSpPr>
        <p:spPr>
          <a:xfrm>
            <a:off x="6515100" y="3568700"/>
            <a:ext cx="5067300" cy="571500"/>
          </a:xfrm>
          <a:prstGeom prst="rect">
            <a:avLst/>
          </a:prstGeom>
          <a:noFill/>
        </p:spPr>
        <p:txBody>
          <a:bodyPr vert="horz" wrap="square" lIns="0" tIns="0" rIns="0" bIns="0" rtlCol="0">
            <a:noAutofit/>
          </a:bodyPr>
          <a:lstStyle/>
          <a:p>
            <a:r>
              <a:rPr lang="en-US" sz="2700" b="1">
                <a:solidFill>
                  <a:srgbClr val="4EE6C0"/>
                </a:solidFill>
                <a:latin typeface="Segoe UI" panose="020B0502040204020203" pitchFamily="34" charset="0"/>
              </a:rPr>
              <a:t>Clear requirements</a:t>
            </a:r>
          </a:p>
        </p:txBody>
      </p:sp>
      <p:sp>
        <p:nvSpPr>
          <p:cNvPr id="23" name="Text Show borrowing estimates, requirements, warni">
            <a:extLst>
              <a:ext uri="{FF2B5EF4-FFF2-40B4-BE49-F238E27FC236}">
                <a16:creationId xmlns:a16="http://schemas.microsoft.com/office/drawing/2014/main" id="{6BCD5255-0675-F269-C798-07FE395E7C7A}"/>
              </a:ext>
            </a:extLst>
          </p:cNvPr>
          <p:cNvSpPr txBox="1"/>
          <p:nvPr/>
        </p:nvSpPr>
        <p:spPr>
          <a:xfrm>
            <a:off x="6515100" y="4203700"/>
            <a:ext cx="5067300" cy="15875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Show borrowing estimates, requirements, warnings and links to lender terms.</a:t>
            </a:r>
          </a:p>
        </p:txBody>
      </p:sp>
      <p:sp>
        <p:nvSpPr>
          <p:cNvPr id="24" name="Text Current starter catalogue: 39 products from 8">
            <a:extLst>
              <a:ext uri="{FF2B5EF4-FFF2-40B4-BE49-F238E27FC236}">
                <a16:creationId xmlns:a16="http://schemas.microsoft.com/office/drawing/2014/main" id="{6C8310EC-C632-FC2B-06C1-3783727EB03D}"/>
              </a:ext>
            </a:extLst>
          </p:cNvPr>
          <p:cNvSpPr txBox="1"/>
          <p:nvPr/>
        </p:nvSpPr>
        <p:spPr>
          <a:xfrm>
            <a:off x="609600" y="5575300"/>
            <a:ext cx="10972800" cy="444500"/>
          </a:xfrm>
          <a:prstGeom prst="rect">
            <a:avLst/>
          </a:prstGeom>
          <a:noFill/>
        </p:spPr>
        <p:txBody>
          <a:bodyPr vert="horz" wrap="square" lIns="0" tIns="0" rIns="0" bIns="0" rtlCol="0">
            <a:noAutofit/>
          </a:bodyPr>
          <a:lstStyle/>
          <a:p>
            <a:r>
              <a:rPr lang="en-US" sz="2500" b="1">
                <a:solidFill>
                  <a:srgbClr val="4EE6C0"/>
                </a:solidFill>
                <a:latin typeface="Segoe UI" panose="020B0502040204020203" pitchFamily="34" charset="0"/>
              </a:rPr>
              <a:t>Current starter catalogue: 39 products from 8 banks</a:t>
            </a:r>
          </a:p>
        </p:txBody>
      </p:sp>
      <p:sp>
        <p:nvSpPr>
          <p:cNvPr id="25" name="Text Published-term estimates. Bank coverage will ">
            <a:extLst>
              <a:ext uri="{FF2B5EF4-FFF2-40B4-BE49-F238E27FC236}">
                <a16:creationId xmlns:a16="http://schemas.microsoft.com/office/drawing/2014/main" id="{6B5C997D-76A8-BD56-E83E-446D716C8FD6}"/>
              </a:ext>
            </a:extLst>
          </p:cNvPr>
          <p:cNvSpPr txBox="1"/>
          <p:nvPr/>
        </p:nvSpPr>
        <p:spPr>
          <a:xfrm>
            <a:off x="609600" y="6083300"/>
            <a:ext cx="10972800" cy="317500"/>
          </a:xfrm>
          <a:prstGeom prst="rect">
            <a:avLst/>
          </a:prstGeom>
          <a:noFill/>
        </p:spPr>
        <p:txBody>
          <a:bodyPr vert="horz" wrap="square" lIns="0" tIns="0" rIns="0" bIns="0" rtlCol="0">
            <a:noAutofit/>
          </a:bodyPr>
          <a:lstStyle/>
          <a:p>
            <a:r>
              <a:rPr lang="en-US" sz="1700">
                <a:solidFill>
                  <a:srgbClr val="8EA7BA"/>
                </a:solidFill>
                <a:latin typeface="Segoe UI" panose="020B0502040204020203" pitchFamily="34" charset="0"/>
              </a:rPr>
              <a:t>Published-term estimates. Bank coverage will expand market by market.</a:t>
            </a:r>
          </a:p>
        </p:txBody>
      </p:sp>
    </p:spTree>
    <p:extLst>
      <p:ext uri="{BB962C8B-B14F-4D97-AF65-F5344CB8AC3E}">
        <p14:creationId xmlns:p14="http://schemas.microsoft.com/office/powerpoint/2010/main" val="10875458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5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600"/>
                                        <p:tgtEl>
                                          <p:spTgt spid="19"/>
                                        </p:tgtEl>
                                      </p:cBhvr>
                                    </p:animEffect>
                                    <p:anim calcmode="lin" valueType="num">
                                      <p:cBhvr>
                                        <p:cTn id="13" dur="600" fill="hold"/>
                                        <p:tgtEl>
                                          <p:spTgt spid="19"/>
                                        </p:tgtEl>
                                        <p:attrNameLst>
                                          <p:attrName>ppt_x</p:attrName>
                                        </p:attrNameLst>
                                      </p:cBhvr>
                                      <p:tavLst>
                                        <p:tav tm="0">
                                          <p:val>
                                            <p:strVal val="#ppt_x"/>
                                          </p:val>
                                        </p:tav>
                                        <p:tav tm="100000">
                                          <p:val>
                                            <p:strVal val="#ppt_x"/>
                                          </p:val>
                                        </p:tav>
                                      </p:tavLst>
                                    </p:anim>
                                    <p:anim calcmode="lin" valueType="num">
                                      <p:cBhvr>
                                        <p:cTn id="14" dur="6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accel="15000" decel="2500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600"/>
                                        <p:tgtEl>
                                          <p:spTgt spid="20"/>
                                        </p:tgtEl>
                                      </p:cBhvr>
                                    </p:animEffect>
                                    <p:anim calcmode="lin" valueType="num">
                                      <p:cBhvr>
                                        <p:cTn id="20" dur="600" fill="hold"/>
                                        <p:tgtEl>
                                          <p:spTgt spid="20"/>
                                        </p:tgtEl>
                                        <p:attrNameLst>
                                          <p:attrName>ppt_x</p:attrName>
                                        </p:attrNameLst>
                                      </p:cBhvr>
                                      <p:tavLst>
                                        <p:tav tm="0">
                                          <p:val>
                                            <p:strVal val="#ppt_x"/>
                                          </p:val>
                                        </p:tav>
                                        <p:tav tm="100000">
                                          <p:val>
                                            <p:strVal val="#ppt_x"/>
                                          </p:val>
                                        </p:tav>
                                      </p:tavLst>
                                    </p:anim>
                                    <p:anim calcmode="lin" valueType="num">
                                      <p:cBhvr>
                                        <p:cTn id="21" dur="600" fill="hold"/>
                                        <p:tgtEl>
                                          <p:spTgt spid="20"/>
                                        </p:tgtEl>
                                        <p:attrNameLst>
                                          <p:attrName>ppt_y</p:attrName>
                                        </p:attrNameLst>
                                      </p:cBhvr>
                                      <p:tavLst>
                                        <p:tav tm="0">
                                          <p:val>
                                            <p:strVal val="#ppt_y+.1"/>
                                          </p:val>
                                        </p:tav>
                                        <p:tav tm="100000">
                                          <p:val>
                                            <p:strVal val="#ppt_y"/>
                                          </p:val>
                                        </p:tav>
                                      </p:tavLst>
                                    </p:anim>
                                  </p:childTnLst>
                                </p:cTn>
                              </p:par>
                              <p:par>
                                <p:cTn id="22" presetID="42" presetClass="entr" presetSubtype="0" accel="15000" decel="25000" fill="hold" grpId="0" nodeType="withEffect">
                                  <p:stCondLst>
                                    <p:cond delay="65"/>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600"/>
                                        <p:tgtEl>
                                          <p:spTgt spid="21"/>
                                        </p:tgtEl>
                                      </p:cBhvr>
                                    </p:animEffect>
                                    <p:anim calcmode="lin" valueType="num">
                                      <p:cBhvr>
                                        <p:cTn id="25" dur="600" fill="hold"/>
                                        <p:tgtEl>
                                          <p:spTgt spid="21"/>
                                        </p:tgtEl>
                                        <p:attrNameLst>
                                          <p:attrName>ppt_x</p:attrName>
                                        </p:attrNameLst>
                                      </p:cBhvr>
                                      <p:tavLst>
                                        <p:tav tm="0">
                                          <p:val>
                                            <p:strVal val="#ppt_x"/>
                                          </p:val>
                                        </p:tav>
                                        <p:tav tm="100000">
                                          <p:val>
                                            <p:strVal val="#ppt_x"/>
                                          </p:val>
                                        </p:tav>
                                      </p:tavLst>
                                    </p:anim>
                                    <p:anim calcmode="lin" valueType="num">
                                      <p:cBhvr>
                                        <p:cTn id="26" dur="6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accel="15000" decel="2500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600"/>
                                        <p:tgtEl>
                                          <p:spTgt spid="22"/>
                                        </p:tgtEl>
                                      </p:cBhvr>
                                    </p:animEffect>
                                    <p:anim calcmode="lin" valueType="num">
                                      <p:cBhvr>
                                        <p:cTn id="32" dur="600" fill="hold"/>
                                        <p:tgtEl>
                                          <p:spTgt spid="22"/>
                                        </p:tgtEl>
                                        <p:attrNameLst>
                                          <p:attrName>ppt_x</p:attrName>
                                        </p:attrNameLst>
                                      </p:cBhvr>
                                      <p:tavLst>
                                        <p:tav tm="0">
                                          <p:val>
                                            <p:strVal val="#ppt_x"/>
                                          </p:val>
                                        </p:tav>
                                        <p:tav tm="100000">
                                          <p:val>
                                            <p:strVal val="#ppt_x"/>
                                          </p:val>
                                        </p:tav>
                                      </p:tavLst>
                                    </p:anim>
                                    <p:anim calcmode="lin" valueType="num">
                                      <p:cBhvr>
                                        <p:cTn id="33" dur="600" fill="hold"/>
                                        <p:tgtEl>
                                          <p:spTgt spid="22"/>
                                        </p:tgtEl>
                                        <p:attrNameLst>
                                          <p:attrName>ppt_y</p:attrName>
                                        </p:attrNameLst>
                                      </p:cBhvr>
                                      <p:tavLst>
                                        <p:tav tm="0">
                                          <p:val>
                                            <p:strVal val="#ppt_y+.1"/>
                                          </p:val>
                                        </p:tav>
                                        <p:tav tm="100000">
                                          <p:val>
                                            <p:strVal val="#ppt_y"/>
                                          </p:val>
                                        </p:tav>
                                      </p:tavLst>
                                    </p:anim>
                                  </p:childTnLst>
                                </p:cTn>
                              </p:par>
                              <p:par>
                                <p:cTn id="34" presetID="42" presetClass="entr" presetSubtype="0" accel="15000" decel="25000" fill="hold" grpId="0" nodeType="withEffect">
                                  <p:stCondLst>
                                    <p:cond delay="65"/>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600"/>
                                        <p:tgtEl>
                                          <p:spTgt spid="23"/>
                                        </p:tgtEl>
                                      </p:cBhvr>
                                    </p:animEffect>
                                    <p:anim calcmode="lin" valueType="num">
                                      <p:cBhvr>
                                        <p:cTn id="37" dur="600" fill="hold"/>
                                        <p:tgtEl>
                                          <p:spTgt spid="23"/>
                                        </p:tgtEl>
                                        <p:attrNameLst>
                                          <p:attrName>ppt_x</p:attrName>
                                        </p:attrNameLst>
                                      </p:cBhvr>
                                      <p:tavLst>
                                        <p:tav tm="0">
                                          <p:val>
                                            <p:strVal val="#ppt_x"/>
                                          </p:val>
                                        </p:tav>
                                        <p:tav tm="100000">
                                          <p:val>
                                            <p:strVal val="#ppt_x"/>
                                          </p:val>
                                        </p:tav>
                                      </p:tavLst>
                                    </p:anim>
                                    <p:anim calcmode="lin" valueType="num">
                                      <p:cBhvr>
                                        <p:cTn id="38" dur="6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accel="15000" decel="2500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600"/>
                                        <p:tgtEl>
                                          <p:spTgt spid="24"/>
                                        </p:tgtEl>
                                      </p:cBhvr>
                                    </p:animEffect>
                                  </p:childTnLst>
                                </p:cTn>
                              </p:par>
                              <p:par>
                                <p:cTn id="44" presetID="10" presetClass="entr" presetSubtype="0" accel="15000" decel="25000" fill="hold" grpId="0" nodeType="withEffect">
                                  <p:stCondLst>
                                    <p:cond delay="10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0" grpId="0"/>
      <p:bldP spid="21" grpId="0"/>
      <p:bldP spid="22" grpId="0"/>
      <p:bldP spid="23" grpId="0"/>
      <p:bldP spid="24" grpId="0"/>
      <p:bldP spid="25"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8" name="Text AI that helps with daily decisions">
            <a:extLst>
              <a:ext uri="{FF2B5EF4-FFF2-40B4-BE49-F238E27FC236}">
                <a16:creationId xmlns:a16="http://schemas.microsoft.com/office/drawing/2014/main" id="{AFA3813C-3F1F-BC11-3DD9-F380322BD082}"/>
              </a:ext>
            </a:extLst>
          </p:cNvPr>
          <p:cNvSpPr txBox="1"/>
          <p:nvPr/>
        </p:nvSpPr>
        <p:spPr>
          <a:xfrm>
            <a:off x="609600" y="419100"/>
            <a:ext cx="10972800" cy="1092200"/>
          </a:xfrm>
          <a:prstGeom prst="rect">
            <a:avLst/>
          </a:prstGeom>
          <a:noFill/>
        </p:spPr>
        <p:txBody>
          <a:bodyPr vert="horz" wrap="square" lIns="0" tIns="0" rIns="0" bIns="0" rtlCol="0">
            <a:noAutofit/>
          </a:bodyPr>
          <a:lstStyle/>
          <a:p>
            <a:r>
              <a:rPr lang="en-US" sz="3400" b="1">
                <a:solidFill>
                  <a:srgbClr val="F4F8FC"/>
                </a:solidFill>
                <a:latin typeface="Segoe UI" panose="020B0502040204020203" pitchFamily="34" charset="0"/>
              </a:rPr>
              <a:t>AI that helps with daily decisions</a:t>
            </a:r>
          </a:p>
        </p:txBody>
      </p:sp>
      <p:sp>
        <p:nvSpPr>
          <p:cNvPr id="9" name="Text GreenBiz">
            <a:extLst>
              <a:ext uri="{FF2B5EF4-FFF2-40B4-BE49-F238E27FC236}">
                <a16:creationId xmlns:a16="http://schemas.microsoft.com/office/drawing/2014/main" id="{1E1DB975-E797-3FA6-C230-247AAD63E69E}"/>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10" name="Text 13 / 18">
            <a:extLst>
              <a:ext uri="{FF2B5EF4-FFF2-40B4-BE49-F238E27FC236}">
                <a16:creationId xmlns:a16="http://schemas.microsoft.com/office/drawing/2014/main" id="{A5379599-4A0A-8FD6-1FD7-303993C6A05A}"/>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13 / 18</a:t>
            </a:r>
          </a:p>
        </p:txBody>
      </p:sp>
      <p:sp>
        <p:nvSpPr>
          <p:cNvPr id="11" name="Text 01">
            <a:extLst>
              <a:ext uri="{FF2B5EF4-FFF2-40B4-BE49-F238E27FC236}">
                <a16:creationId xmlns:a16="http://schemas.microsoft.com/office/drawing/2014/main" id="{A0AF2A58-20EA-1B17-A3BB-85267FD2C3FF}"/>
              </a:ext>
            </a:extLst>
          </p:cNvPr>
          <p:cNvSpPr txBox="1"/>
          <p:nvPr/>
        </p:nvSpPr>
        <p:spPr>
          <a:xfrm>
            <a:off x="609600" y="1905000"/>
            <a:ext cx="965200" cy="685800"/>
          </a:xfrm>
          <a:prstGeom prst="rect">
            <a:avLst/>
          </a:prstGeom>
          <a:noFill/>
        </p:spPr>
        <p:txBody>
          <a:bodyPr vert="horz" wrap="square" lIns="0" tIns="0" rIns="0" bIns="0" rtlCol="0">
            <a:noAutofit/>
          </a:bodyPr>
          <a:lstStyle/>
          <a:p>
            <a:r>
              <a:rPr lang="en-US" sz="4000" b="1">
                <a:solidFill>
                  <a:srgbClr val="4EE6C0"/>
                </a:solidFill>
                <a:latin typeface="Segoe UI" panose="020B0502040204020203" pitchFamily="34" charset="0"/>
              </a:rPr>
              <a:t>01</a:t>
            </a:r>
          </a:p>
        </p:txBody>
      </p:sp>
      <p:sp>
        <p:nvSpPr>
          <p:cNvPr id="12" name="Text Photo assistance">
            <a:extLst>
              <a:ext uri="{FF2B5EF4-FFF2-40B4-BE49-F238E27FC236}">
                <a16:creationId xmlns:a16="http://schemas.microsoft.com/office/drawing/2014/main" id="{5EB3B096-6869-967B-3D36-627020B76ECE}"/>
              </a:ext>
            </a:extLst>
          </p:cNvPr>
          <p:cNvSpPr txBox="1"/>
          <p:nvPr/>
        </p:nvSpPr>
        <p:spPr>
          <a:xfrm>
            <a:off x="1943100" y="1905000"/>
            <a:ext cx="9588500" cy="4826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Photo assistance</a:t>
            </a:r>
          </a:p>
        </p:txBody>
      </p:sp>
      <p:sp>
        <p:nvSpPr>
          <p:cNvPr id="13" name="Text Suggest product details from a selected stock">
            <a:extLst>
              <a:ext uri="{FF2B5EF4-FFF2-40B4-BE49-F238E27FC236}">
                <a16:creationId xmlns:a16="http://schemas.microsoft.com/office/drawing/2014/main" id="{213323F2-D655-A2D7-7E22-6E8601F821C7}"/>
              </a:ext>
            </a:extLst>
          </p:cNvPr>
          <p:cNvSpPr txBox="1"/>
          <p:nvPr/>
        </p:nvSpPr>
        <p:spPr>
          <a:xfrm>
            <a:off x="1943100" y="2463800"/>
            <a:ext cx="9588500" cy="8382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Suggest product details from a selected stock photo. The owner reviews before saving.</a:t>
            </a:r>
          </a:p>
        </p:txBody>
      </p:sp>
      <p:sp>
        <p:nvSpPr>
          <p:cNvPr id="14" name="Text 02">
            <a:extLst>
              <a:ext uri="{FF2B5EF4-FFF2-40B4-BE49-F238E27FC236}">
                <a16:creationId xmlns:a16="http://schemas.microsoft.com/office/drawing/2014/main" id="{2424782B-389A-B518-CFB2-BA4D8C9152F1}"/>
              </a:ext>
            </a:extLst>
          </p:cNvPr>
          <p:cNvSpPr txBox="1"/>
          <p:nvPr/>
        </p:nvSpPr>
        <p:spPr>
          <a:xfrm>
            <a:off x="609600" y="3276600"/>
            <a:ext cx="965200" cy="685800"/>
          </a:xfrm>
          <a:prstGeom prst="rect">
            <a:avLst/>
          </a:prstGeom>
          <a:noFill/>
        </p:spPr>
        <p:txBody>
          <a:bodyPr vert="horz" wrap="square" lIns="0" tIns="0" rIns="0" bIns="0" rtlCol="0">
            <a:noAutofit/>
          </a:bodyPr>
          <a:lstStyle/>
          <a:p>
            <a:r>
              <a:rPr lang="en-US" sz="4000" b="1">
                <a:solidFill>
                  <a:srgbClr val="4EE6C0"/>
                </a:solidFill>
                <a:latin typeface="Segoe UI" panose="020B0502040204020203" pitchFamily="34" charset="0"/>
              </a:rPr>
              <a:t>02</a:t>
            </a:r>
          </a:p>
        </p:txBody>
      </p:sp>
      <p:sp>
        <p:nvSpPr>
          <p:cNvPr id="15" name="Text Sale assistance">
            <a:extLst>
              <a:ext uri="{FF2B5EF4-FFF2-40B4-BE49-F238E27FC236}">
                <a16:creationId xmlns:a16="http://schemas.microsoft.com/office/drawing/2014/main" id="{D7A2D000-4763-DAD3-E4E5-2A79B13E1A27}"/>
              </a:ext>
            </a:extLst>
          </p:cNvPr>
          <p:cNvSpPr txBox="1"/>
          <p:nvPr/>
        </p:nvSpPr>
        <p:spPr>
          <a:xfrm>
            <a:off x="1943100" y="3276600"/>
            <a:ext cx="9588500" cy="4826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Sale assistance</a:t>
            </a:r>
          </a:p>
        </p:txBody>
      </p:sp>
      <p:sp>
        <p:nvSpPr>
          <p:cNvPr id="16" name="Text Match a typed or spoken sale request to the s">
            <a:extLst>
              <a:ext uri="{FF2B5EF4-FFF2-40B4-BE49-F238E27FC236}">
                <a16:creationId xmlns:a16="http://schemas.microsoft.com/office/drawing/2014/main" id="{E9AC68BC-A460-949D-4896-CC4C48941A6C}"/>
              </a:ext>
            </a:extLst>
          </p:cNvPr>
          <p:cNvSpPr txBox="1"/>
          <p:nvPr/>
        </p:nvSpPr>
        <p:spPr>
          <a:xfrm>
            <a:off x="1943100" y="3835400"/>
            <a:ext cx="9588500" cy="8382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Match a typed or spoken sale request to the shop's inventory. Confirm before recording.</a:t>
            </a:r>
          </a:p>
        </p:txBody>
      </p:sp>
      <p:sp>
        <p:nvSpPr>
          <p:cNvPr id="17" name="Text 03">
            <a:extLst>
              <a:ext uri="{FF2B5EF4-FFF2-40B4-BE49-F238E27FC236}">
                <a16:creationId xmlns:a16="http://schemas.microsoft.com/office/drawing/2014/main" id="{05B0394B-13D5-335D-DA6C-35FD404BDE95}"/>
              </a:ext>
            </a:extLst>
          </p:cNvPr>
          <p:cNvSpPr txBox="1"/>
          <p:nvPr/>
        </p:nvSpPr>
        <p:spPr>
          <a:xfrm>
            <a:off x="609600" y="4648200"/>
            <a:ext cx="965200" cy="685800"/>
          </a:xfrm>
          <a:prstGeom prst="rect">
            <a:avLst/>
          </a:prstGeom>
          <a:noFill/>
        </p:spPr>
        <p:txBody>
          <a:bodyPr vert="horz" wrap="square" lIns="0" tIns="0" rIns="0" bIns="0" rtlCol="0">
            <a:noAutofit/>
          </a:bodyPr>
          <a:lstStyle/>
          <a:p>
            <a:r>
              <a:rPr lang="en-US" sz="4000" b="1">
                <a:solidFill>
                  <a:srgbClr val="4EE6C0"/>
                </a:solidFill>
                <a:latin typeface="Segoe UI" panose="020B0502040204020203" pitchFamily="34" charset="0"/>
              </a:rPr>
              <a:t>03</a:t>
            </a:r>
          </a:p>
        </p:txBody>
      </p:sp>
      <p:sp>
        <p:nvSpPr>
          <p:cNvPr id="18" name="Text Business advice">
            <a:extLst>
              <a:ext uri="{FF2B5EF4-FFF2-40B4-BE49-F238E27FC236}">
                <a16:creationId xmlns:a16="http://schemas.microsoft.com/office/drawing/2014/main" id="{3CE67596-644C-AA34-661F-F9397D598FE4}"/>
              </a:ext>
            </a:extLst>
          </p:cNvPr>
          <p:cNvSpPr txBox="1"/>
          <p:nvPr/>
        </p:nvSpPr>
        <p:spPr>
          <a:xfrm>
            <a:off x="1943100" y="4648200"/>
            <a:ext cx="9588500" cy="4826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Business advice</a:t>
            </a:r>
          </a:p>
        </p:txBody>
      </p:sp>
      <p:sp>
        <p:nvSpPr>
          <p:cNvPr id="19" name="Text Ask about Loan, Insurance or My business usin">
            <a:extLst>
              <a:ext uri="{FF2B5EF4-FFF2-40B4-BE49-F238E27FC236}">
                <a16:creationId xmlns:a16="http://schemas.microsoft.com/office/drawing/2014/main" id="{796DB149-999F-917E-72D0-6D5951DEC0A4}"/>
              </a:ext>
            </a:extLst>
          </p:cNvPr>
          <p:cNvSpPr txBox="1"/>
          <p:nvPr/>
        </p:nvSpPr>
        <p:spPr>
          <a:xfrm>
            <a:off x="1943100" y="5207000"/>
            <a:ext cx="9588500" cy="8382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Ask about Loan, Insurance or My business using aggregate business information.</a:t>
            </a:r>
          </a:p>
        </p:txBody>
      </p:sp>
      <p:sp>
        <p:nvSpPr>
          <p:cNvPr id="20" name="Text GreenBiz provides the AI service. Users enter">
            <a:extLst>
              <a:ext uri="{FF2B5EF4-FFF2-40B4-BE49-F238E27FC236}">
                <a16:creationId xmlns:a16="http://schemas.microsoft.com/office/drawing/2014/main" id="{19C62F67-A7CD-4422-F7E8-E6B78A897BA4}"/>
              </a:ext>
            </a:extLst>
          </p:cNvPr>
          <p:cNvSpPr txBox="1"/>
          <p:nvPr/>
        </p:nvSpPr>
        <p:spPr>
          <a:xfrm>
            <a:off x="609600" y="6083300"/>
            <a:ext cx="10972800" cy="317500"/>
          </a:xfrm>
          <a:prstGeom prst="rect">
            <a:avLst/>
          </a:prstGeom>
          <a:noFill/>
        </p:spPr>
        <p:txBody>
          <a:bodyPr vert="horz" wrap="square" lIns="0" tIns="0" rIns="0" bIns="0" rtlCol="0">
            <a:noAutofit/>
          </a:bodyPr>
          <a:lstStyle/>
          <a:p>
            <a:r>
              <a:rPr lang="en-US" sz="1700">
                <a:solidFill>
                  <a:srgbClr val="8EA7BA"/>
                </a:solidFill>
                <a:latin typeface="Segoe UI" panose="020B0502040204020203" pitchFamily="34" charset="0"/>
              </a:rPr>
              <a:t>GreenBiz provides the AI service. Users enter no API key.</a:t>
            </a:r>
          </a:p>
        </p:txBody>
      </p:sp>
    </p:spTree>
    <p:extLst>
      <p:ext uri="{BB962C8B-B14F-4D97-AF65-F5344CB8AC3E}">
        <p14:creationId xmlns:p14="http://schemas.microsoft.com/office/powerpoint/2010/main" val="11655128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600"/>
                                        <p:tgtEl>
                                          <p:spTgt spid="11"/>
                                        </p:tgtEl>
                                      </p:cBhvr>
                                    </p:animEffect>
                                    <p:anim calcmode="lin" valueType="num">
                                      <p:cBhvr>
                                        <p:cTn id="13" dur="600" fill="hold"/>
                                        <p:tgtEl>
                                          <p:spTgt spid="11"/>
                                        </p:tgtEl>
                                        <p:attrNameLst>
                                          <p:attrName>ppt_x</p:attrName>
                                        </p:attrNameLst>
                                      </p:cBhvr>
                                      <p:tavLst>
                                        <p:tav tm="0">
                                          <p:val>
                                            <p:strVal val="#ppt_x"/>
                                          </p:val>
                                        </p:tav>
                                        <p:tav tm="100000">
                                          <p:val>
                                            <p:strVal val="#ppt_x"/>
                                          </p:val>
                                        </p:tav>
                                      </p:tavLst>
                                    </p:anim>
                                    <p:anim calcmode="lin" valueType="num">
                                      <p:cBhvr>
                                        <p:cTn id="14" dur="6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65"/>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600"/>
                                        <p:tgtEl>
                                          <p:spTgt spid="12"/>
                                        </p:tgtEl>
                                      </p:cBhvr>
                                    </p:animEffect>
                                    <p:anim calcmode="lin" valueType="num">
                                      <p:cBhvr>
                                        <p:cTn id="18" dur="600" fill="hold"/>
                                        <p:tgtEl>
                                          <p:spTgt spid="12"/>
                                        </p:tgtEl>
                                        <p:attrNameLst>
                                          <p:attrName>ppt_x</p:attrName>
                                        </p:attrNameLst>
                                      </p:cBhvr>
                                      <p:tavLst>
                                        <p:tav tm="0">
                                          <p:val>
                                            <p:strVal val="#ppt_x"/>
                                          </p:val>
                                        </p:tav>
                                        <p:tav tm="100000">
                                          <p:val>
                                            <p:strVal val="#ppt_x"/>
                                          </p:val>
                                        </p:tav>
                                      </p:tavLst>
                                    </p:anim>
                                    <p:anim calcmode="lin" valueType="num">
                                      <p:cBhvr>
                                        <p:cTn id="19" dur="6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accel="15000" decel="25000" fill="hold" grpId="0" nodeType="withEffect">
                                  <p:stCondLst>
                                    <p:cond delay="13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600"/>
                                        <p:tgtEl>
                                          <p:spTgt spid="13"/>
                                        </p:tgtEl>
                                      </p:cBhvr>
                                    </p:animEffect>
                                    <p:anim calcmode="lin" valueType="num">
                                      <p:cBhvr>
                                        <p:cTn id="23" dur="600" fill="hold"/>
                                        <p:tgtEl>
                                          <p:spTgt spid="13"/>
                                        </p:tgtEl>
                                        <p:attrNameLst>
                                          <p:attrName>ppt_x</p:attrName>
                                        </p:attrNameLst>
                                      </p:cBhvr>
                                      <p:tavLst>
                                        <p:tav tm="0">
                                          <p:val>
                                            <p:strVal val="#ppt_x"/>
                                          </p:val>
                                        </p:tav>
                                        <p:tav tm="100000">
                                          <p:val>
                                            <p:strVal val="#ppt_x"/>
                                          </p:val>
                                        </p:tav>
                                      </p:tavLst>
                                    </p:anim>
                                    <p:anim calcmode="lin" valueType="num">
                                      <p:cBhvr>
                                        <p:cTn id="24" dur="6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accel="15000" decel="2500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600"/>
                                        <p:tgtEl>
                                          <p:spTgt spid="14"/>
                                        </p:tgtEl>
                                      </p:cBhvr>
                                    </p:animEffect>
                                    <p:anim calcmode="lin" valueType="num">
                                      <p:cBhvr>
                                        <p:cTn id="30" dur="600" fill="hold"/>
                                        <p:tgtEl>
                                          <p:spTgt spid="14"/>
                                        </p:tgtEl>
                                        <p:attrNameLst>
                                          <p:attrName>ppt_x</p:attrName>
                                        </p:attrNameLst>
                                      </p:cBhvr>
                                      <p:tavLst>
                                        <p:tav tm="0">
                                          <p:val>
                                            <p:strVal val="#ppt_x"/>
                                          </p:val>
                                        </p:tav>
                                        <p:tav tm="100000">
                                          <p:val>
                                            <p:strVal val="#ppt_x"/>
                                          </p:val>
                                        </p:tav>
                                      </p:tavLst>
                                    </p:anim>
                                    <p:anim calcmode="lin" valueType="num">
                                      <p:cBhvr>
                                        <p:cTn id="31" dur="600" fill="hold"/>
                                        <p:tgtEl>
                                          <p:spTgt spid="14"/>
                                        </p:tgtEl>
                                        <p:attrNameLst>
                                          <p:attrName>ppt_y</p:attrName>
                                        </p:attrNameLst>
                                      </p:cBhvr>
                                      <p:tavLst>
                                        <p:tav tm="0">
                                          <p:val>
                                            <p:strVal val="#ppt_y+.1"/>
                                          </p:val>
                                        </p:tav>
                                        <p:tav tm="100000">
                                          <p:val>
                                            <p:strVal val="#ppt_y"/>
                                          </p:val>
                                        </p:tav>
                                      </p:tavLst>
                                    </p:anim>
                                  </p:childTnLst>
                                </p:cTn>
                              </p:par>
                              <p:par>
                                <p:cTn id="32" presetID="42" presetClass="entr" presetSubtype="0" accel="15000" decel="25000" fill="hold" grpId="0" nodeType="withEffect">
                                  <p:stCondLst>
                                    <p:cond delay="65"/>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600"/>
                                        <p:tgtEl>
                                          <p:spTgt spid="15"/>
                                        </p:tgtEl>
                                      </p:cBhvr>
                                    </p:animEffect>
                                    <p:anim calcmode="lin" valueType="num">
                                      <p:cBhvr>
                                        <p:cTn id="35" dur="600" fill="hold"/>
                                        <p:tgtEl>
                                          <p:spTgt spid="15"/>
                                        </p:tgtEl>
                                        <p:attrNameLst>
                                          <p:attrName>ppt_x</p:attrName>
                                        </p:attrNameLst>
                                      </p:cBhvr>
                                      <p:tavLst>
                                        <p:tav tm="0">
                                          <p:val>
                                            <p:strVal val="#ppt_x"/>
                                          </p:val>
                                        </p:tav>
                                        <p:tav tm="100000">
                                          <p:val>
                                            <p:strVal val="#ppt_x"/>
                                          </p:val>
                                        </p:tav>
                                      </p:tavLst>
                                    </p:anim>
                                    <p:anim calcmode="lin" valueType="num">
                                      <p:cBhvr>
                                        <p:cTn id="36" dur="600" fill="hold"/>
                                        <p:tgtEl>
                                          <p:spTgt spid="15"/>
                                        </p:tgtEl>
                                        <p:attrNameLst>
                                          <p:attrName>ppt_y</p:attrName>
                                        </p:attrNameLst>
                                      </p:cBhvr>
                                      <p:tavLst>
                                        <p:tav tm="0">
                                          <p:val>
                                            <p:strVal val="#ppt_y+.1"/>
                                          </p:val>
                                        </p:tav>
                                        <p:tav tm="100000">
                                          <p:val>
                                            <p:strVal val="#ppt_y"/>
                                          </p:val>
                                        </p:tav>
                                      </p:tavLst>
                                    </p:anim>
                                  </p:childTnLst>
                                </p:cTn>
                              </p:par>
                              <p:par>
                                <p:cTn id="37" presetID="42" presetClass="entr" presetSubtype="0" accel="15000" decel="25000" fill="hold" grpId="0" nodeType="withEffect">
                                  <p:stCondLst>
                                    <p:cond delay="13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600"/>
                                        <p:tgtEl>
                                          <p:spTgt spid="16"/>
                                        </p:tgtEl>
                                      </p:cBhvr>
                                    </p:animEffect>
                                    <p:anim calcmode="lin" valueType="num">
                                      <p:cBhvr>
                                        <p:cTn id="40" dur="600" fill="hold"/>
                                        <p:tgtEl>
                                          <p:spTgt spid="16"/>
                                        </p:tgtEl>
                                        <p:attrNameLst>
                                          <p:attrName>ppt_x</p:attrName>
                                        </p:attrNameLst>
                                      </p:cBhvr>
                                      <p:tavLst>
                                        <p:tav tm="0">
                                          <p:val>
                                            <p:strVal val="#ppt_x"/>
                                          </p:val>
                                        </p:tav>
                                        <p:tav tm="100000">
                                          <p:val>
                                            <p:strVal val="#ppt_x"/>
                                          </p:val>
                                        </p:tav>
                                      </p:tavLst>
                                    </p:anim>
                                    <p:anim calcmode="lin" valueType="num">
                                      <p:cBhvr>
                                        <p:cTn id="41" dur="6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accel="15000" decel="25000" fill="hold" grpId="0"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600"/>
                                        <p:tgtEl>
                                          <p:spTgt spid="17"/>
                                        </p:tgtEl>
                                      </p:cBhvr>
                                    </p:animEffect>
                                    <p:anim calcmode="lin" valueType="num">
                                      <p:cBhvr>
                                        <p:cTn id="47" dur="600" fill="hold"/>
                                        <p:tgtEl>
                                          <p:spTgt spid="17"/>
                                        </p:tgtEl>
                                        <p:attrNameLst>
                                          <p:attrName>ppt_x</p:attrName>
                                        </p:attrNameLst>
                                      </p:cBhvr>
                                      <p:tavLst>
                                        <p:tav tm="0">
                                          <p:val>
                                            <p:strVal val="#ppt_x"/>
                                          </p:val>
                                        </p:tav>
                                        <p:tav tm="100000">
                                          <p:val>
                                            <p:strVal val="#ppt_x"/>
                                          </p:val>
                                        </p:tav>
                                      </p:tavLst>
                                    </p:anim>
                                    <p:anim calcmode="lin" valueType="num">
                                      <p:cBhvr>
                                        <p:cTn id="48" dur="600" fill="hold"/>
                                        <p:tgtEl>
                                          <p:spTgt spid="17"/>
                                        </p:tgtEl>
                                        <p:attrNameLst>
                                          <p:attrName>ppt_y</p:attrName>
                                        </p:attrNameLst>
                                      </p:cBhvr>
                                      <p:tavLst>
                                        <p:tav tm="0">
                                          <p:val>
                                            <p:strVal val="#ppt_y+.1"/>
                                          </p:val>
                                        </p:tav>
                                        <p:tav tm="100000">
                                          <p:val>
                                            <p:strVal val="#ppt_y"/>
                                          </p:val>
                                        </p:tav>
                                      </p:tavLst>
                                    </p:anim>
                                  </p:childTnLst>
                                </p:cTn>
                              </p:par>
                              <p:par>
                                <p:cTn id="49" presetID="42" presetClass="entr" presetSubtype="0" accel="15000" decel="25000" fill="hold" grpId="0" nodeType="withEffect">
                                  <p:stCondLst>
                                    <p:cond delay="65"/>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anim calcmode="lin" valueType="num">
                                      <p:cBhvr>
                                        <p:cTn id="52" dur="600" fill="hold"/>
                                        <p:tgtEl>
                                          <p:spTgt spid="18"/>
                                        </p:tgtEl>
                                        <p:attrNameLst>
                                          <p:attrName>ppt_x</p:attrName>
                                        </p:attrNameLst>
                                      </p:cBhvr>
                                      <p:tavLst>
                                        <p:tav tm="0">
                                          <p:val>
                                            <p:strVal val="#ppt_x"/>
                                          </p:val>
                                        </p:tav>
                                        <p:tav tm="100000">
                                          <p:val>
                                            <p:strVal val="#ppt_x"/>
                                          </p:val>
                                        </p:tav>
                                      </p:tavLst>
                                    </p:anim>
                                    <p:anim calcmode="lin" valueType="num">
                                      <p:cBhvr>
                                        <p:cTn id="53" dur="600" fill="hold"/>
                                        <p:tgtEl>
                                          <p:spTgt spid="18"/>
                                        </p:tgtEl>
                                        <p:attrNameLst>
                                          <p:attrName>ppt_y</p:attrName>
                                        </p:attrNameLst>
                                      </p:cBhvr>
                                      <p:tavLst>
                                        <p:tav tm="0">
                                          <p:val>
                                            <p:strVal val="#ppt_y+.1"/>
                                          </p:val>
                                        </p:tav>
                                        <p:tav tm="100000">
                                          <p:val>
                                            <p:strVal val="#ppt_y"/>
                                          </p:val>
                                        </p:tav>
                                      </p:tavLst>
                                    </p:anim>
                                  </p:childTnLst>
                                </p:cTn>
                              </p:par>
                              <p:par>
                                <p:cTn id="54" presetID="42" presetClass="entr" presetSubtype="0" accel="15000" decel="25000" fill="hold" grpId="0" nodeType="withEffect">
                                  <p:stCondLst>
                                    <p:cond delay="13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600"/>
                                        <p:tgtEl>
                                          <p:spTgt spid="19"/>
                                        </p:tgtEl>
                                      </p:cBhvr>
                                    </p:animEffect>
                                    <p:anim calcmode="lin" valueType="num">
                                      <p:cBhvr>
                                        <p:cTn id="57" dur="600" fill="hold"/>
                                        <p:tgtEl>
                                          <p:spTgt spid="19"/>
                                        </p:tgtEl>
                                        <p:attrNameLst>
                                          <p:attrName>ppt_x</p:attrName>
                                        </p:attrNameLst>
                                      </p:cBhvr>
                                      <p:tavLst>
                                        <p:tav tm="0">
                                          <p:val>
                                            <p:strVal val="#ppt_x"/>
                                          </p:val>
                                        </p:tav>
                                        <p:tav tm="100000">
                                          <p:val>
                                            <p:strVal val="#ppt_x"/>
                                          </p:val>
                                        </p:tav>
                                      </p:tavLst>
                                    </p:anim>
                                    <p:anim calcmode="lin" valueType="num">
                                      <p:cBhvr>
                                        <p:cTn id="58" dur="6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0" presetClass="entr" presetSubtype="0" accel="15000" decel="2500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2" grpId="0"/>
      <p:bldP spid="13" grpId="0"/>
      <p:bldP spid="14" grpId="0"/>
      <p:bldP spid="15" grpId="0"/>
      <p:bldP spid="16" grpId="0"/>
      <p:bldP spid="17" grpId="0"/>
      <p:bldP spid="18" grpId="0"/>
      <p:bldP spid="19" grpId="0"/>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8" name="Text Privacy and service boundaries">
            <a:extLst>
              <a:ext uri="{FF2B5EF4-FFF2-40B4-BE49-F238E27FC236}">
                <a16:creationId xmlns:a16="http://schemas.microsoft.com/office/drawing/2014/main" id="{F2401485-0E9A-1AA3-521B-784B8BC3FDC5}"/>
              </a:ext>
            </a:extLst>
          </p:cNvPr>
          <p:cNvSpPr txBox="1"/>
          <p:nvPr/>
        </p:nvSpPr>
        <p:spPr>
          <a:xfrm>
            <a:off x="609600" y="419100"/>
            <a:ext cx="10972800" cy="1092200"/>
          </a:xfrm>
          <a:prstGeom prst="rect">
            <a:avLst/>
          </a:prstGeom>
          <a:noFill/>
        </p:spPr>
        <p:txBody>
          <a:bodyPr vert="horz" wrap="square" lIns="0" tIns="0" rIns="0" bIns="0" rtlCol="0">
            <a:noAutofit/>
          </a:bodyPr>
          <a:lstStyle/>
          <a:p>
            <a:r>
              <a:rPr lang="en-US" sz="3400" b="1">
                <a:solidFill>
                  <a:srgbClr val="F4F8FC"/>
                </a:solidFill>
                <a:latin typeface="Segoe UI" panose="020B0502040204020203" pitchFamily="34" charset="0"/>
              </a:rPr>
              <a:t>Privacy and service boundaries</a:t>
            </a:r>
          </a:p>
        </p:txBody>
      </p:sp>
      <p:sp>
        <p:nvSpPr>
          <p:cNvPr id="9" name="Text GreenBiz">
            <a:extLst>
              <a:ext uri="{FF2B5EF4-FFF2-40B4-BE49-F238E27FC236}">
                <a16:creationId xmlns:a16="http://schemas.microsoft.com/office/drawing/2014/main" id="{E1D65C23-25EA-9906-C6A7-F9D04C37AB01}"/>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10" name="Text 14 / 18">
            <a:extLst>
              <a:ext uri="{FF2B5EF4-FFF2-40B4-BE49-F238E27FC236}">
                <a16:creationId xmlns:a16="http://schemas.microsoft.com/office/drawing/2014/main" id="{D61BC8EF-BA82-42DE-584D-36CAB85645BF}"/>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14 / 18</a:t>
            </a:r>
          </a:p>
        </p:txBody>
      </p:sp>
      <p:graphicFrame>
        <p:nvGraphicFramePr>
          <p:cNvPr id="11" name="Editable evidence table">
            <a:extLst>
              <a:ext uri="{FF2B5EF4-FFF2-40B4-BE49-F238E27FC236}">
                <a16:creationId xmlns:a16="http://schemas.microsoft.com/office/drawing/2014/main" id="{D7E8C556-6167-48A3-A315-FF23DD499999}"/>
              </a:ext>
            </a:extLst>
          </p:cNvPr>
          <p:cNvGraphicFramePr>
            <a:graphicFrameLocks noGrp="1"/>
          </p:cNvGraphicFramePr>
          <p:nvPr>
            <p:extLst>
              <p:ext uri="{D42A27DB-BD31-4B8C-83A1-F6EECF244321}">
                <p14:modId xmlns:p14="http://schemas.microsoft.com/office/powerpoint/2010/main" val="3779126554"/>
              </p:ext>
            </p:extLst>
          </p:nvPr>
        </p:nvGraphicFramePr>
        <p:xfrm>
          <a:off x="609600" y="1816100"/>
          <a:ext cx="10972800" cy="37084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112549330"/>
                    </a:ext>
                  </a:extLst>
                </a:gridCol>
                <a:gridCol w="5486400">
                  <a:extLst>
                    <a:ext uri="{9D8B030D-6E8A-4147-A177-3AD203B41FA5}">
                      <a16:colId xmlns:a16="http://schemas.microsoft.com/office/drawing/2014/main" val="1265651888"/>
                    </a:ext>
                  </a:extLst>
                </a:gridCol>
              </a:tblGrid>
              <a:tr h="741680">
                <a:tc>
                  <a:txBody>
                    <a:bodyPr/>
                    <a:lstStyle/>
                    <a:p>
                      <a:r>
                        <a:rPr lang="en-US" sz="1800" b="1">
                          <a:solidFill>
                            <a:srgbClr val="F4F8FC"/>
                          </a:solidFill>
                          <a:latin typeface="Segoe UI" panose="020B0502040204020203" pitchFamily="34" charset="0"/>
                        </a:rPr>
                        <a:t>On the device</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tc>
                  <a:txBody>
                    <a:bodyPr/>
                    <a:lstStyle/>
                    <a:p>
                      <a:r>
                        <a:rPr lang="en-US" sz="1800" b="1">
                          <a:solidFill>
                            <a:srgbClr val="F4F8FC"/>
                          </a:solidFill>
                          <a:latin typeface="Segoe UI" panose="020B0502040204020203" pitchFamily="34" charset="0"/>
                        </a:rPr>
                        <a:t>Through managed services</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extLst>
                  <a:ext uri="{0D108BD9-81ED-4DB2-BD59-A6C34878D82A}">
                    <a16:rowId xmlns:a16="http://schemas.microsoft.com/office/drawing/2014/main" val="1873299669"/>
                  </a:ext>
                </a:extLst>
              </a:tr>
              <a:tr h="741680">
                <a:tc>
                  <a:txBody>
                    <a:bodyPr/>
                    <a:lstStyle/>
                    <a:p>
                      <a:r>
                        <a:rPr lang="en-US" sz="1800" b="0">
                          <a:solidFill>
                            <a:srgbClr val="F4F8FC"/>
                          </a:solidFill>
                          <a:latin typeface="Segoe UI" panose="020B0502040204020203" pitchFamily="34" charset="0"/>
                        </a:rPr>
                        <a:t>Review payment SMS before import</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Keep the AI provider key outside the app</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extLst>
                  <a:ext uri="{0D108BD9-81ED-4DB2-BD59-A6C34878D82A}">
                    <a16:rowId xmlns:a16="http://schemas.microsoft.com/office/drawing/2014/main" val="3312728135"/>
                  </a:ext>
                </a:extLst>
              </a:tr>
              <a:tr h="741680">
                <a:tc>
                  <a:txBody>
                    <a:bodyPr/>
                    <a:lstStyle/>
                    <a:p>
                      <a:r>
                        <a:rPr lang="en-US" sz="1800" b="0">
                          <a:solidFill>
                            <a:srgbClr val="F4F8FC"/>
                          </a:solidFill>
                          <a:latin typeface="Segoe UI" panose="020B0502040204020203" pitchFamily="34" charset="0"/>
                        </a:rPr>
                        <a:t>Retain structured payment fields only</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tc>
                  <a:txBody>
                    <a:bodyPr/>
                    <a:lstStyle/>
                    <a:p>
                      <a:r>
                        <a:rPr lang="en-US" sz="1800" b="0">
                          <a:solidFill>
                            <a:srgbClr val="F4F8FC"/>
                          </a:solidFill>
                          <a:latin typeface="Segoe UI" panose="020B0502040204020203" pitchFamily="34" charset="0"/>
                        </a:rPr>
                        <a:t>Send the selected AI input for its task</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extLst>
                  <a:ext uri="{0D108BD9-81ED-4DB2-BD59-A6C34878D82A}">
                    <a16:rowId xmlns:a16="http://schemas.microsoft.com/office/drawing/2014/main" val="463279573"/>
                  </a:ext>
                </a:extLst>
              </a:tr>
              <a:tr h="741680">
                <a:tc>
                  <a:txBody>
                    <a:bodyPr/>
                    <a:lstStyle/>
                    <a:p>
                      <a:r>
                        <a:rPr lang="en-US" sz="1800" b="0">
                          <a:solidFill>
                            <a:srgbClr val="F4F8FC"/>
                          </a:solidFill>
                          <a:latin typeface="Segoe UI" panose="020B0502040204020203" pitchFamily="34" charset="0"/>
                        </a:rPr>
                        <a:t>Keep core stock and sales tools available offline</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Use owner-approved summaries for optional sharing</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extLst>
                  <a:ext uri="{0D108BD9-81ED-4DB2-BD59-A6C34878D82A}">
                    <a16:rowId xmlns:a16="http://schemas.microsoft.com/office/drawing/2014/main" val="805229398"/>
                  </a:ext>
                </a:extLst>
              </a:tr>
              <a:tr h="741680">
                <a:tc>
                  <a:txBody>
                    <a:bodyPr/>
                    <a:lstStyle/>
                    <a:p>
                      <a:r>
                        <a:rPr lang="en-US" sz="1800" b="0">
                          <a:solidFill>
                            <a:srgbClr val="F4F8FC"/>
                          </a:solidFill>
                          <a:latin typeface="Segoe UI" panose="020B0502040204020203" pitchFamily="34" charset="0"/>
                        </a:rPr>
                        <a:t>Reject personal-number SMS senders</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tc>
                  <a:txBody>
                    <a:bodyPr/>
                    <a:lstStyle/>
                    <a:p>
                      <a:r>
                        <a:rPr lang="en-US" sz="1800" b="0">
                          <a:solidFill>
                            <a:srgbClr val="F4F8FC"/>
                          </a:solidFill>
                          <a:latin typeface="Segoe UI" panose="020B0502040204020203" pitchFamily="34" charset="0"/>
                        </a:rPr>
                        <a:t>Keep raw payment messages away from AI</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extLst>
                  <a:ext uri="{0D108BD9-81ED-4DB2-BD59-A6C34878D82A}">
                    <a16:rowId xmlns:a16="http://schemas.microsoft.com/office/drawing/2014/main" val="4229812127"/>
                  </a:ext>
                </a:extLst>
              </a:tr>
            </a:tbl>
          </a:graphicData>
        </a:graphic>
      </p:graphicFrame>
      <p:sp>
        <p:nvSpPr>
          <p:cNvPr id="12" name="Text The owner controls which business information">
            <a:extLst>
              <a:ext uri="{FF2B5EF4-FFF2-40B4-BE49-F238E27FC236}">
                <a16:creationId xmlns:a16="http://schemas.microsoft.com/office/drawing/2014/main" id="{4798546E-19A4-A7A7-408B-26AB2035552D}"/>
              </a:ext>
            </a:extLst>
          </p:cNvPr>
          <p:cNvSpPr txBox="1"/>
          <p:nvPr/>
        </p:nvSpPr>
        <p:spPr>
          <a:xfrm>
            <a:off x="609600" y="5816600"/>
            <a:ext cx="10972800" cy="5969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The owner controls which business information gets shared.</a:t>
            </a:r>
          </a:p>
        </p:txBody>
      </p:sp>
    </p:spTree>
    <p:extLst>
      <p:ext uri="{BB962C8B-B14F-4D97-AF65-F5344CB8AC3E}">
        <p14:creationId xmlns:p14="http://schemas.microsoft.com/office/powerpoint/2010/main" val="8157297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accel="15000" decel="2500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600"/>
                                        <p:tgtEl>
                                          <p:spTgt spid="12"/>
                                        </p:tgtEl>
                                      </p:cBhvr>
                                    </p:animEffect>
                                    <p:anim calcmode="lin" valueType="num">
                                      <p:cBhvr>
                                        <p:cTn id="18" dur="600" fill="hold"/>
                                        <p:tgtEl>
                                          <p:spTgt spid="12"/>
                                        </p:tgtEl>
                                        <p:attrNameLst>
                                          <p:attrName>ppt_x</p:attrName>
                                        </p:attrNameLst>
                                      </p:cBhvr>
                                      <p:tavLst>
                                        <p:tav tm="0">
                                          <p:val>
                                            <p:strVal val="#ppt_x"/>
                                          </p:val>
                                        </p:tav>
                                        <p:tav tm="100000">
                                          <p:val>
                                            <p:strVal val="#ppt_x"/>
                                          </p:val>
                                        </p:tav>
                                      </p:tavLst>
                                    </p:anim>
                                    <p:anim calcmode="lin" valueType="num">
                                      <p:cBhvr>
                                        <p:cTn id="19" dur="6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5" name="Text A connected business ecosystem">
            <a:extLst>
              <a:ext uri="{FF2B5EF4-FFF2-40B4-BE49-F238E27FC236}">
                <a16:creationId xmlns:a16="http://schemas.microsoft.com/office/drawing/2014/main" id="{7F81C9DE-4369-FF94-B5D2-E9DCAC1CA064}"/>
              </a:ext>
            </a:extLst>
          </p:cNvPr>
          <p:cNvSpPr txBox="1"/>
          <p:nvPr/>
        </p:nvSpPr>
        <p:spPr>
          <a:xfrm>
            <a:off x="609600" y="419100"/>
            <a:ext cx="10972800" cy="1092200"/>
          </a:xfrm>
          <a:prstGeom prst="rect">
            <a:avLst/>
          </a:prstGeom>
          <a:noFill/>
        </p:spPr>
        <p:txBody>
          <a:bodyPr vert="horz" wrap="square" lIns="0" tIns="0" rIns="0" bIns="0" rtlCol="0">
            <a:noAutofit/>
          </a:bodyPr>
          <a:lstStyle/>
          <a:p>
            <a:r>
              <a:rPr lang="en-US" sz="3400" b="1">
                <a:solidFill>
                  <a:srgbClr val="F4F8FC"/>
                </a:solidFill>
                <a:latin typeface="Segoe UI" panose="020B0502040204020203" pitchFamily="34" charset="0"/>
              </a:rPr>
              <a:t>A connected business ecosystem</a:t>
            </a:r>
          </a:p>
        </p:txBody>
      </p:sp>
      <p:sp>
        <p:nvSpPr>
          <p:cNvPr id="16" name="Text GreenBiz">
            <a:extLst>
              <a:ext uri="{FF2B5EF4-FFF2-40B4-BE49-F238E27FC236}">
                <a16:creationId xmlns:a16="http://schemas.microsoft.com/office/drawing/2014/main" id="{3783F6A2-B3C7-EC09-377E-DEACF59A5EC2}"/>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17" name="Text 15 / 18">
            <a:extLst>
              <a:ext uri="{FF2B5EF4-FFF2-40B4-BE49-F238E27FC236}">
                <a16:creationId xmlns:a16="http://schemas.microsoft.com/office/drawing/2014/main" id="{64733BAD-F8F0-CE0F-D317-04CFA794872F}"/>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15 / 18</a:t>
            </a:r>
          </a:p>
        </p:txBody>
      </p:sp>
      <p:sp>
        <p:nvSpPr>
          <p:cNvPr id="18" name="Text The merchant's records remain at the centre">
            <a:extLst>
              <a:ext uri="{FF2B5EF4-FFF2-40B4-BE49-F238E27FC236}">
                <a16:creationId xmlns:a16="http://schemas.microsoft.com/office/drawing/2014/main" id="{F5B6C9CC-293B-E1A2-076C-6F6165D88370}"/>
              </a:ext>
            </a:extLst>
          </p:cNvPr>
          <p:cNvSpPr txBox="1"/>
          <p:nvPr/>
        </p:nvSpPr>
        <p:spPr>
          <a:xfrm>
            <a:off x="609600" y="1790700"/>
            <a:ext cx="10160000" cy="1270000"/>
          </a:xfrm>
          <a:prstGeom prst="rect">
            <a:avLst/>
          </a:prstGeom>
          <a:noFill/>
        </p:spPr>
        <p:txBody>
          <a:bodyPr vert="horz" wrap="square" lIns="0" tIns="0" rIns="0" bIns="0" rtlCol="0">
            <a:noAutofit/>
          </a:bodyPr>
          <a:lstStyle/>
          <a:p>
            <a:r>
              <a:rPr lang="en-US" sz="4100" b="1">
                <a:solidFill>
                  <a:srgbClr val="F4F8FC"/>
                </a:solidFill>
                <a:latin typeface="Segoe UI" panose="020B0502040204020203" pitchFamily="34" charset="0"/>
              </a:rPr>
              <a:t>The merchant's records remain at the centre</a:t>
            </a:r>
          </a:p>
        </p:txBody>
      </p:sp>
      <p:sp>
        <p:nvSpPr>
          <p:cNvPr id="19" name="Text Merchant">
            <a:extLst>
              <a:ext uri="{FF2B5EF4-FFF2-40B4-BE49-F238E27FC236}">
                <a16:creationId xmlns:a16="http://schemas.microsoft.com/office/drawing/2014/main" id="{6871E091-AE8F-311D-2EDB-420B017B6693}"/>
              </a:ext>
            </a:extLst>
          </p:cNvPr>
          <p:cNvSpPr txBox="1"/>
          <p:nvPr/>
        </p:nvSpPr>
        <p:spPr>
          <a:xfrm>
            <a:off x="609600" y="3733800"/>
            <a:ext cx="3390900" cy="825500"/>
          </a:xfrm>
          <a:prstGeom prst="rect">
            <a:avLst/>
          </a:prstGeom>
          <a:noFill/>
        </p:spPr>
        <p:txBody>
          <a:bodyPr vert="horz" wrap="square" lIns="0" tIns="0" rIns="0" bIns="0" rtlCol="0">
            <a:noAutofit/>
          </a:bodyPr>
          <a:lstStyle/>
          <a:p>
            <a:r>
              <a:rPr lang="en-US" sz="2800" b="1">
                <a:solidFill>
                  <a:srgbClr val="4EE6C0"/>
                </a:solidFill>
                <a:latin typeface="Segoe UI" panose="020B0502040204020203" pitchFamily="34" charset="0"/>
              </a:rPr>
              <a:t>Merchant</a:t>
            </a:r>
          </a:p>
        </p:txBody>
      </p:sp>
      <p:sp>
        <p:nvSpPr>
          <p:cNvPr id="20" name="Text Runs the shop through the app and optional we">
            <a:extLst>
              <a:ext uri="{FF2B5EF4-FFF2-40B4-BE49-F238E27FC236}">
                <a16:creationId xmlns:a16="http://schemas.microsoft.com/office/drawing/2014/main" id="{3EFA0CFA-B256-EBA2-C6C5-416EB59E9F21}"/>
              </a:ext>
            </a:extLst>
          </p:cNvPr>
          <p:cNvSpPr txBox="1"/>
          <p:nvPr/>
        </p:nvSpPr>
        <p:spPr>
          <a:xfrm>
            <a:off x="609600" y="4711700"/>
            <a:ext cx="3390900" cy="12827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Runs the shop through the app and optional web tools.</a:t>
            </a:r>
          </a:p>
        </p:txBody>
      </p:sp>
      <p:sp>
        <p:nvSpPr>
          <p:cNvPr id="21" name="Text Customer">
            <a:extLst>
              <a:ext uri="{FF2B5EF4-FFF2-40B4-BE49-F238E27FC236}">
                <a16:creationId xmlns:a16="http://schemas.microsoft.com/office/drawing/2014/main" id="{7B26A7F9-BD47-953E-EAC5-2B751F4A5259}"/>
              </a:ext>
            </a:extLst>
          </p:cNvPr>
          <p:cNvSpPr txBox="1"/>
          <p:nvPr/>
        </p:nvSpPr>
        <p:spPr>
          <a:xfrm>
            <a:off x="4356100" y="3733800"/>
            <a:ext cx="3390900" cy="825500"/>
          </a:xfrm>
          <a:prstGeom prst="rect">
            <a:avLst/>
          </a:prstGeom>
          <a:noFill/>
        </p:spPr>
        <p:txBody>
          <a:bodyPr vert="horz" wrap="square" lIns="0" tIns="0" rIns="0" bIns="0" rtlCol="0">
            <a:noAutofit/>
          </a:bodyPr>
          <a:lstStyle/>
          <a:p>
            <a:r>
              <a:rPr lang="en-US" sz="2800" b="1">
                <a:solidFill>
                  <a:srgbClr val="4EE6C0"/>
                </a:solidFill>
                <a:latin typeface="Segoe UI" panose="020B0502040204020203" pitchFamily="34" charset="0"/>
              </a:rPr>
              <a:t>Customer</a:t>
            </a:r>
          </a:p>
        </p:txBody>
      </p:sp>
      <p:sp>
        <p:nvSpPr>
          <p:cNvPr id="22" name="Text Views invoices and payment-review status.">
            <a:extLst>
              <a:ext uri="{FF2B5EF4-FFF2-40B4-BE49-F238E27FC236}">
                <a16:creationId xmlns:a16="http://schemas.microsoft.com/office/drawing/2014/main" id="{AF7C93DA-CF47-EFC3-27AE-9A7889757420}"/>
              </a:ext>
            </a:extLst>
          </p:cNvPr>
          <p:cNvSpPr txBox="1"/>
          <p:nvPr/>
        </p:nvSpPr>
        <p:spPr>
          <a:xfrm>
            <a:off x="4356100" y="4711700"/>
            <a:ext cx="3390900" cy="12827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Views invoices and payment-review status.</a:t>
            </a:r>
          </a:p>
        </p:txBody>
      </p:sp>
      <p:sp>
        <p:nvSpPr>
          <p:cNvPr id="23" name="Text Financial institution">
            <a:extLst>
              <a:ext uri="{FF2B5EF4-FFF2-40B4-BE49-F238E27FC236}">
                <a16:creationId xmlns:a16="http://schemas.microsoft.com/office/drawing/2014/main" id="{976BEBC7-F4E7-4994-14F0-19A0541B6CCF}"/>
              </a:ext>
            </a:extLst>
          </p:cNvPr>
          <p:cNvSpPr txBox="1"/>
          <p:nvPr/>
        </p:nvSpPr>
        <p:spPr>
          <a:xfrm>
            <a:off x="8102600" y="3733800"/>
            <a:ext cx="3390900" cy="825500"/>
          </a:xfrm>
          <a:prstGeom prst="rect">
            <a:avLst/>
          </a:prstGeom>
          <a:noFill/>
        </p:spPr>
        <p:txBody>
          <a:bodyPr vert="horz" wrap="square" lIns="0" tIns="0" rIns="0" bIns="0" rtlCol="0">
            <a:noAutofit/>
          </a:bodyPr>
          <a:lstStyle/>
          <a:p>
            <a:r>
              <a:rPr lang="en-US" sz="2800" b="1">
                <a:solidFill>
                  <a:srgbClr val="4EE6C0"/>
                </a:solidFill>
                <a:latin typeface="Segoe UI" panose="020B0502040204020203" pitchFamily="34" charset="0"/>
              </a:rPr>
              <a:t>Financial institution</a:t>
            </a:r>
          </a:p>
        </p:txBody>
      </p:sp>
      <p:sp>
        <p:nvSpPr>
          <p:cNvPr id="24" name="Text Reviews consented summaries and follows its o">
            <a:extLst>
              <a:ext uri="{FF2B5EF4-FFF2-40B4-BE49-F238E27FC236}">
                <a16:creationId xmlns:a16="http://schemas.microsoft.com/office/drawing/2014/main" id="{FF146516-B064-6F27-CFF2-0A0975ABCD25}"/>
              </a:ext>
            </a:extLst>
          </p:cNvPr>
          <p:cNvSpPr txBox="1"/>
          <p:nvPr/>
        </p:nvSpPr>
        <p:spPr>
          <a:xfrm>
            <a:off x="8102600" y="4711700"/>
            <a:ext cx="3390900" cy="12827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Reviews consented summaries and follows its own assessment process.</a:t>
            </a:r>
          </a:p>
        </p:txBody>
      </p:sp>
    </p:spTree>
    <p:extLst>
      <p:ext uri="{BB962C8B-B14F-4D97-AF65-F5344CB8AC3E}">
        <p14:creationId xmlns:p14="http://schemas.microsoft.com/office/powerpoint/2010/main" val="15934820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600"/>
                                        <p:tgtEl>
                                          <p:spTgt spid="18"/>
                                        </p:tgtEl>
                                      </p:cBhvr>
                                    </p:animEffect>
                                    <p:anim calcmode="lin" valueType="num">
                                      <p:cBhvr>
                                        <p:cTn id="13" dur="600" fill="hold"/>
                                        <p:tgtEl>
                                          <p:spTgt spid="18"/>
                                        </p:tgtEl>
                                        <p:attrNameLst>
                                          <p:attrName>ppt_x</p:attrName>
                                        </p:attrNameLst>
                                      </p:cBhvr>
                                      <p:tavLst>
                                        <p:tav tm="0">
                                          <p:val>
                                            <p:strVal val="#ppt_x"/>
                                          </p:val>
                                        </p:tav>
                                        <p:tav tm="100000">
                                          <p:val>
                                            <p:strVal val="#ppt_x"/>
                                          </p:val>
                                        </p:tav>
                                      </p:tavLst>
                                    </p:anim>
                                    <p:anim calcmode="lin" valueType="num">
                                      <p:cBhvr>
                                        <p:cTn id="14" dur="6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accel="15000" decel="2500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600"/>
                                        <p:tgtEl>
                                          <p:spTgt spid="19"/>
                                        </p:tgtEl>
                                      </p:cBhvr>
                                    </p:animEffect>
                                    <p:anim calcmode="lin" valueType="num">
                                      <p:cBhvr>
                                        <p:cTn id="20" dur="600" fill="hold"/>
                                        <p:tgtEl>
                                          <p:spTgt spid="19"/>
                                        </p:tgtEl>
                                        <p:attrNameLst>
                                          <p:attrName>ppt_x</p:attrName>
                                        </p:attrNameLst>
                                      </p:cBhvr>
                                      <p:tavLst>
                                        <p:tav tm="0">
                                          <p:val>
                                            <p:strVal val="#ppt_x"/>
                                          </p:val>
                                        </p:tav>
                                        <p:tav tm="100000">
                                          <p:val>
                                            <p:strVal val="#ppt_x"/>
                                          </p:val>
                                        </p:tav>
                                      </p:tavLst>
                                    </p:anim>
                                    <p:anim calcmode="lin" valueType="num">
                                      <p:cBhvr>
                                        <p:cTn id="21" dur="600" fill="hold"/>
                                        <p:tgtEl>
                                          <p:spTgt spid="19"/>
                                        </p:tgtEl>
                                        <p:attrNameLst>
                                          <p:attrName>ppt_y</p:attrName>
                                        </p:attrNameLst>
                                      </p:cBhvr>
                                      <p:tavLst>
                                        <p:tav tm="0">
                                          <p:val>
                                            <p:strVal val="#ppt_y+.1"/>
                                          </p:val>
                                        </p:tav>
                                        <p:tav tm="100000">
                                          <p:val>
                                            <p:strVal val="#ppt_y"/>
                                          </p:val>
                                        </p:tav>
                                      </p:tavLst>
                                    </p:anim>
                                  </p:childTnLst>
                                </p:cTn>
                              </p:par>
                              <p:par>
                                <p:cTn id="22" presetID="42" presetClass="entr" presetSubtype="0" accel="15000" decel="25000" fill="hold" grpId="0" nodeType="withEffect">
                                  <p:stCondLst>
                                    <p:cond delay="65"/>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600"/>
                                        <p:tgtEl>
                                          <p:spTgt spid="20"/>
                                        </p:tgtEl>
                                      </p:cBhvr>
                                    </p:animEffect>
                                    <p:anim calcmode="lin" valueType="num">
                                      <p:cBhvr>
                                        <p:cTn id="25" dur="600" fill="hold"/>
                                        <p:tgtEl>
                                          <p:spTgt spid="20"/>
                                        </p:tgtEl>
                                        <p:attrNameLst>
                                          <p:attrName>ppt_x</p:attrName>
                                        </p:attrNameLst>
                                      </p:cBhvr>
                                      <p:tavLst>
                                        <p:tav tm="0">
                                          <p:val>
                                            <p:strVal val="#ppt_x"/>
                                          </p:val>
                                        </p:tav>
                                        <p:tav tm="100000">
                                          <p:val>
                                            <p:strVal val="#ppt_x"/>
                                          </p:val>
                                        </p:tav>
                                      </p:tavLst>
                                    </p:anim>
                                    <p:anim calcmode="lin" valueType="num">
                                      <p:cBhvr>
                                        <p:cTn id="26" dur="6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accel="15000" decel="2500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600"/>
                                        <p:tgtEl>
                                          <p:spTgt spid="21"/>
                                        </p:tgtEl>
                                      </p:cBhvr>
                                    </p:animEffect>
                                    <p:anim calcmode="lin" valueType="num">
                                      <p:cBhvr>
                                        <p:cTn id="32" dur="600" fill="hold"/>
                                        <p:tgtEl>
                                          <p:spTgt spid="21"/>
                                        </p:tgtEl>
                                        <p:attrNameLst>
                                          <p:attrName>ppt_x</p:attrName>
                                        </p:attrNameLst>
                                      </p:cBhvr>
                                      <p:tavLst>
                                        <p:tav tm="0">
                                          <p:val>
                                            <p:strVal val="#ppt_x"/>
                                          </p:val>
                                        </p:tav>
                                        <p:tav tm="100000">
                                          <p:val>
                                            <p:strVal val="#ppt_x"/>
                                          </p:val>
                                        </p:tav>
                                      </p:tavLst>
                                    </p:anim>
                                    <p:anim calcmode="lin" valueType="num">
                                      <p:cBhvr>
                                        <p:cTn id="33" dur="600" fill="hold"/>
                                        <p:tgtEl>
                                          <p:spTgt spid="21"/>
                                        </p:tgtEl>
                                        <p:attrNameLst>
                                          <p:attrName>ppt_y</p:attrName>
                                        </p:attrNameLst>
                                      </p:cBhvr>
                                      <p:tavLst>
                                        <p:tav tm="0">
                                          <p:val>
                                            <p:strVal val="#ppt_y+.1"/>
                                          </p:val>
                                        </p:tav>
                                        <p:tav tm="100000">
                                          <p:val>
                                            <p:strVal val="#ppt_y"/>
                                          </p:val>
                                        </p:tav>
                                      </p:tavLst>
                                    </p:anim>
                                  </p:childTnLst>
                                </p:cTn>
                              </p:par>
                              <p:par>
                                <p:cTn id="34" presetID="42" presetClass="entr" presetSubtype="0" accel="15000" decel="25000" fill="hold" grpId="0" nodeType="withEffect">
                                  <p:stCondLst>
                                    <p:cond delay="65"/>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600"/>
                                        <p:tgtEl>
                                          <p:spTgt spid="22"/>
                                        </p:tgtEl>
                                      </p:cBhvr>
                                    </p:animEffect>
                                    <p:anim calcmode="lin" valueType="num">
                                      <p:cBhvr>
                                        <p:cTn id="37" dur="600" fill="hold"/>
                                        <p:tgtEl>
                                          <p:spTgt spid="22"/>
                                        </p:tgtEl>
                                        <p:attrNameLst>
                                          <p:attrName>ppt_x</p:attrName>
                                        </p:attrNameLst>
                                      </p:cBhvr>
                                      <p:tavLst>
                                        <p:tav tm="0">
                                          <p:val>
                                            <p:strVal val="#ppt_x"/>
                                          </p:val>
                                        </p:tav>
                                        <p:tav tm="100000">
                                          <p:val>
                                            <p:strVal val="#ppt_x"/>
                                          </p:val>
                                        </p:tav>
                                      </p:tavLst>
                                    </p:anim>
                                    <p:anim calcmode="lin" valueType="num">
                                      <p:cBhvr>
                                        <p:cTn id="38" dur="6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accel="15000" decel="2500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600"/>
                                        <p:tgtEl>
                                          <p:spTgt spid="23"/>
                                        </p:tgtEl>
                                      </p:cBhvr>
                                    </p:animEffect>
                                    <p:anim calcmode="lin" valueType="num">
                                      <p:cBhvr>
                                        <p:cTn id="44" dur="600" fill="hold"/>
                                        <p:tgtEl>
                                          <p:spTgt spid="23"/>
                                        </p:tgtEl>
                                        <p:attrNameLst>
                                          <p:attrName>ppt_x</p:attrName>
                                        </p:attrNameLst>
                                      </p:cBhvr>
                                      <p:tavLst>
                                        <p:tav tm="0">
                                          <p:val>
                                            <p:strVal val="#ppt_x"/>
                                          </p:val>
                                        </p:tav>
                                        <p:tav tm="100000">
                                          <p:val>
                                            <p:strVal val="#ppt_x"/>
                                          </p:val>
                                        </p:tav>
                                      </p:tavLst>
                                    </p:anim>
                                    <p:anim calcmode="lin" valueType="num">
                                      <p:cBhvr>
                                        <p:cTn id="45" dur="600" fill="hold"/>
                                        <p:tgtEl>
                                          <p:spTgt spid="23"/>
                                        </p:tgtEl>
                                        <p:attrNameLst>
                                          <p:attrName>ppt_y</p:attrName>
                                        </p:attrNameLst>
                                      </p:cBhvr>
                                      <p:tavLst>
                                        <p:tav tm="0">
                                          <p:val>
                                            <p:strVal val="#ppt_y+.1"/>
                                          </p:val>
                                        </p:tav>
                                        <p:tav tm="100000">
                                          <p:val>
                                            <p:strVal val="#ppt_y"/>
                                          </p:val>
                                        </p:tav>
                                      </p:tavLst>
                                    </p:anim>
                                  </p:childTnLst>
                                </p:cTn>
                              </p:par>
                              <p:par>
                                <p:cTn id="46" presetID="42" presetClass="entr" presetSubtype="0" accel="15000" decel="25000" fill="hold" grpId="0" nodeType="withEffect">
                                  <p:stCondLst>
                                    <p:cond delay="65"/>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600"/>
                                        <p:tgtEl>
                                          <p:spTgt spid="24"/>
                                        </p:tgtEl>
                                      </p:cBhvr>
                                    </p:animEffect>
                                    <p:anim calcmode="lin" valueType="num">
                                      <p:cBhvr>
                                        <p:cTn id="49" dur="600" fill="hold"/>
                                        <p:tgtEl>
                                          <p:spTgt spid="24"/>
                                        </p:tgtEl>
                                        <p:attrNameLst>
                                          <p:attrName>ppt_x</p:attrName>
                                        </p:attrNameLst>
                                      </p:cBhvr>
                                      <p:tavLst>
                                        <p:tav tm="0">
                                          <p:val>
                                            <p:strVal val="#ppt_x"/>
                                          </p:val>
                                        </p:tav>
                                        <p:tav tm="100000">
                                          <p:val>
                                            <p:strVal val="#ppt_x"/>
                                          </p:val>
                                        </p:tav>
                                      </p:tavLst>
                                    </p:anim>
                                    <p:anim calcmode="lin" valueType="num">
                                      <p:cBhvr>
                                        <p:cTn id="50" dur="6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19" grpId="0"/>
      <p:bldP spid="20" grpId="0"/>
      <p:bldP spid="21" grpId="0"/>
      <p:bldP spid="22" grpId="0"/>
      <p:bldP spid="23" grpId="0"/>
      <p:bldP spid="2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3" name="Text Global rollout">
            <a:extLst>
              <a:ext uri="{FF2B5EF4-FFF2-40B4-BE49-F238E27FC236}">
                <a16:creationId xmlns:a16="http://schemas.microsoft.com/office/drawing/2014/main" id="{836C8FA2-09EF-FD6D-2A1D-75E9B878A52E}"/>
              </a:ext>
            </a:extLst>
          </p:cNvPr>
          <p:cNvSpPr txBox="1"/>
          <p:nvPr/>
        </p:nvSpPr>
        <p:spPr>
          <a:xfrm>
            <a:off x="609600" y="419100"/>
            <a:ext cx="10972800" cy="1092200"/>
          </a:xfrm>
          <a:prstGeom prst="rect">
            <a:avLst/>
          </a:prstGeom>
          <a:noFill/>
        </p:spPr>
        <p:txBody>
          <a:bodyPr vert="horz" wrap="square" lIns="0" tIns="0" rIns="0" bIns="0" rtlCol="0">
            <a:noAutofit/>
          </a:bodyPr>
          <a:lstStyle/>
          <a:p>
            <a:r>
              <a:rPr lang="en-US" sz="3400" b="1">
                <a:solidFill>
                  <a:srgbClr val="F4F8FC"/>
                </a:solidFill>
                <a:latin typeface="Segoe UI" panose="020B0502040204020203" pitchFamily="34" charset="0"/>
              </a:rPr>
              <a:t>Global rollout</a:t>
            </a:r>
          </a:p>
        </p:txBody>
      </p:sp>
      <p:sp>
        <p:nvSpPr>
          <p:cNvPr id="14" name="Text GreenBiz">
            <a:extLst>
              <a:ext uri="{FF2B5EF4-FFF2-40B4-BE49-F238E27FC236}">
                <a16:creationId xmlns:a16="http://schemas.microsoft.com/office/drawing/2014/main" id="{F7D76CB3-90D9-26A9-EA59-0C4C9DD9A51A}"/>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15" name="Text 16 / 18">
            <a:extLst>
              <a:ext uri="{FF2B5EF4-FFF2-40B4-BE49-F238E27FC236}">
                <a16:creationId xmlns:a16="http://schemas.microsoft.com/office/drawing/2014/main" id="{134CF9E9-E6EE-A8F7-BD1A-F5524F869563}"/>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16 / 18</a:t>
            </a:r>
          </a:p>
        </p:txBody>
      </p:sp>
      <p:graphicFrame>
        <p:nvGraphicFramePr>
          <p:cNvPr id="16" name="Editable evidence table">
            <a:extLst>
              <a:ext uri="{FF2B5EF4-FFF2-40B4-BE49-F238E27FC236}">
                <a16:creationId xmlns:a16="http://schemas.microsoft.com/office/drawing/2014/main" id="{3E1D0E94-B25B-F1C3-D66E-C2D5B0B12CA6}"/>
              </a:ext>
            </a:extLst>
          </p:cNvPr>
          <p:cNvGraphicFramePr>
            <a:graphicFrameLocks noGrp="1"/>
          </p:cNvGraphicFramePr>
          <p:nvPr>
            <p:extLst>
              <p:ext uri="{D42A27DB-BD31-4B8C-83A1-F6EECF244321}">
                <p14:modId xmlns:p14="http://schemas.microsoft.com/office/powerpoint/2010/main" val="1390435571"/>
              </p:ext>
            </p:extLst>
          </p:nvPr>
        </p:nvGraphicFramePr>
        <p:xfrm>
          <a:off x="609600" y="1790700"/>
          <a:ext cx="10972800" cy="37465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3512003287"/>
                    </a:ext>
                  </a:extLst>
                </a:gridCol>
                <a:gridCol w="5486400">
                  <a:extLst>
                    <a:ext uri="{9D8B030D-6E8A-4147-A177-3AD203B41FA5}">
                      <a16:colId xmlns:a16="http://schemas.microsoft.com/office/drawing/2014/main" val="3179253325"/>
                    </a:ext>
                  </a:extLst>
                </a:gridCol>
              </a:tblGrid>
              <a:tr h="749300">
                <a:tc>
                  <a:txBody>
                    <a:bodyPr/>
                    <a:lstStyle/>
                    <a:p>
                      <a:r>
                        <a:rPr lang="en-US" sz="1800" b="1">
                          <a:solidFill>
                            <a:srgbClr val="F4F8FC"/>
                          </a:solidFill>
                          <a:latin typeface="Segoe UI" panose="020B0502040204020203" pitchFamily="34" charset="0"/>
                        </a:rPr>
                        <a:t>Shared global concept</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tc>
                  <a:txBody>
                    <a:bodyPr/>
                    <a:lstStyle/>
                    <a:p>
                      <a:r>
                        <a:rPr lang="en-US" sz="1800" b="1">
                          <a:solidFill>
                            <a:srgbClr val="F4F8FC"/>
                          </a:solidFill>
                          <a:latin typeface="Segoe UI" panose="020B0502040204020203" pitchFamily="34" charset="0"/>
                        </a:rPr>
                        <a:t>Work needed in each market</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extLst>
                  <a:ext uri="{0D108BD9-81ED-4DB2-BD59-A6C34878D82A}">
                    <a16:rowId xmlns:a16="http://schemas.microsoft.com/office/drawing/2014/main" val="1679924407"/>
                  </a:ext>
                </a:extLst>
              </a:tr>
              <a:tr h="749300">
                <a:tc>
                  <a:txBody>
                    <a:bodyPr/>
                    <a:lstStyle/>
                    <a:p>
                      <a:r>
                        <a:rPr lang="en-US" sz="1800" b="0">
                          <a:solidFill>
                            <a:srgbClr val="F4F8FC"/>
                          </a:solidFill>
                          <a:latin typeface="Segoe UI" panose="020B0502040204020203" pitchFamily="34" charset="0"/>
                        </a:rPr>
                        <a:t>Simple daily business records</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Language, currency and calendar conventions</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extLst>
                  <a:ext uri="{0D108BD9-81ED-4DB2-BD59-A6C34878D82A}">
                    <a16:rowId xmlns:a16="http://schemas.microsoft.com/office/drawing/2014/main" val="3163213328"/>
                  </a:ext>
                </a:extLst>
              </a:tr>
              <a:tr h="749300">
                <a:tc>
                  <a:txBody>
                    <a:bodyPr/>
                    <a:lstStyle/>
                    <a:p>
                      <a:r>
                        <a:rPr lang="en-US" sz="1800" b="0">
                          <a:solidFill>
                            <a:srgbClr val="F4F8FC"/>
                          </a:solidFill>
                          <a:latin typeface="Segoe UI" panose="020B0502040204020203" pitchFamily="34" charset="0"/>
                        </a:rPr>
                        <a:t>Payment-to-sale matching</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tc>
                  <a:txBody>
                    <a:bodyPr/>
                    <a:lstStyle/>
                    <a:p>
                      <a:r>
                        <a:rPr lang="en-US" sz="1800" b="0">
                          <a:solidFill>
                            <a:srgbClr val="F4F8FC"/>
                          </a:solidFill>
                          <a:latin typeface="Segoe UI" panose="020B0502040204020203" pitchFamily="34" charset="0"/>
                        </a:rPr>
                        <a:t>Supported payment rails and message formats</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extLst>
                  <a:ext uri="{0D108BD9-81ED-4DB2-BD59-A6C34878D82A}">
                    <a16:rowId xmlns:a16="http://schemas.microsoft.com/office/drawing/2014/main" val="674514946"/>
                  </a:ext>
                </a:extLst>
              </a:tr>
              <a:tr h="749300">
                <a:tc>
                  <a:txBody>
                    <a:bodyPr/>
                    <a:lstStyle/>
                    <a:p>
                      <a:r>
                        <a:rPr lang="en-US" sz="1800" b="0">
                          <a:solidFill>
                            <a:srgbClr val="F4F8FC"/>
                          </a:solidFill>
                          <a:latin typeface="Segoe UI" panose="020B0502040204020203" pitchFamily="34" charset="0"/>
                        </a:rPr>
                        <a:t>Explainable business profile</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Locally appropriate validation and calibration</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extLst>
                  <a:ext uri="{0D108BD9-81ED-4DB2-BD59-A6C34878D82A}">
                    <a16:rowId xmlns:a16="http://schemas.microsoft.com/office/drawing/2014/main" val="576601831"/>
                  </a:ext>
                </a:extLst>
              </a:tr>
              <a:tr h="749300">
                <a:tc>
                  <a:txBody>
                    <a:bodyPr/>
                    <a:lstStyle/>
                    <a:p>
                      <a:r>
                        <a:rPr lang="en-US" sz="1800" b="0">
                          <a:solidFill>
                            <a:srgbClr val="F4F8FC"/>
                          </a:solidFill>
                          <a:latin typeface="Segoe UI" panose="020B0502040204020203" pitchFamily="34" charset="0"/>
                        </a:rPr>
                        <a:t>Owner-controlled financial sharing</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tc>
                  <a:txBody>
                    <a:bodyPr/>
                    <a:lstStyle/>
                    <a:p>
                      <a:r>
                        <a:rPr lang="en-US" sz="1800" b="0">
                          <a:solidFill>
                            <a:srgbClr val="F4F8FC"/>
                          </a:solidFill>
                          <a:latin typeface="Segoe UI" panose="020B0502040204020203" pitchFamily="34" charset="0"/>
                        </a:rPr>
                        <a:t>Lender terms, consent rules and partner integration</a:t>
                      </a:r>
                    </a:p>
                  </a:txBody>
                  <a:tcPr marL="152400" marR="127000" marT="114300" marB="889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extLst>
                  <a:ext uri="{0D108BD9-81ED-4DB2-BD59-A6C34878D82A}">
                    <a16:rowId xmlns:a16="http://schemas.microsoft.com/office/drawing/2014/main" val="3414916922"/>
                  </a:ext>
                </a:extLst>
              </a:tr>
            </a:tbl>
          </a:graphicData>
        </a:graphic>
      </p:graphicFrame>
      <p:sp>
        <p:nvSpPr>
          <p:cNvPr id="17" name="Text Global ambition with explicit market rollout ">
            <a:extLst>
              <a:ext uri="{FF2B5EF4-FFF2-40B4-BE49-F238E27FC236}">
                <a16:creationId xmlns:a16="http://schemas.microsoft.com/office/drawing/2014/main" id="{7678F226-CEC5-7F61-92BF-4415C9D02B6B}"/>
              </a:ext>
            </a:extLst>
          </p:cNvPr>
          <p:cNvSpPr txBox="1"/>
          <p:nvPr/>
        </p:nvSpPr>
        <p:spPr>
          <a:xfrm>
            <a:off x="609600" y="5816600"/>
            <a:ext cx="10972800" cy="6477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Global ambition with explicit market rollout requirements</a:t>
            </a:r>
          </a:p>
        </p:txBody>
      </p:sp>
    </p:spTree>
    <p:extLst>
      <p:ext uri="{BB962C8B-B14F-4D97-AF65-F5344CB8AC3E}">
        <p14:creationId xmlns:p14="http://schemas.microsoft.com/office/powerpoint/2010/main" val="1250233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accel="15000" decel="2500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600"/>
                                        <p:tgtEl>
                                          <p:spTgt spid="17"/>
                                        </p:tgtEl>
                                      </p:cBhvr>
                                    </p:animEffect>
                                    <p:anim calcmode="lin" valueType="num">
                                      <p:cBhvr>
                                        <p:cTn id="18" dur="600" fill="hold"/>
                                        <p:tgtEl>
                                          <p:spTgt spid="17"/>
                                        </p:tgtEl>
                                        <p:attrNameLst>
                                          <p:attrName>ppt_x</p:attrName>
                                        </p:attrNameLst>
                                      </p:cBhvr>
                                      <p:tavLst>
                                        <p:tav tm="0">
                                          <p:val>
                                            <p:strVal val="#ppt_x"/>
                                          </p:val>
                                        </p:tav>
                                        <p:tav tm="100000">
                                          <p:val>
                                            <p:strVal val="#ppt_x"/>
                                          </p:val>
                                        </p:tav>
                                      </p:tavLst>
                                    </p:anim>
                                    <p:anim calcmode="lin" valueType="num">
                                      <p:cBhvr>
                                        <p:cTn id="19" dur="6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7" name="Text Version 2.1 release status">
            <a:extLst>
              <a:ext uri="{FF2B5EF4-FFF2-40B4-BE49-F238E27FC236}">
                <a16:creationId xmlns:a16="http://schemas.microsoft.com/office/drawing/2014/main" id="{3A3CE35E-01DE-A4E6-6B34-67DEA8329FD8}"/>
              </a:ext>
            </a:extLst>
          </p:cNvPr>
          <p:cNvSpPr txBox="1"/>
          <p:nvPr/>
        </p:nvSpPr>
        <p:spPr>
          <a:xfrm>
            <a:off x="609600" y="419100"/>
            <a:ext cx="10972800" cy="1092200"/>
          </a:xfrm>
          <a:prstGeom prst="rect">
            <a:avLst/>
          </a:prstGeom>
          <a:noFill/>
        </p:spPr>
        <p:txBody>
          <a:bodyPr vert="horz" wrap="square" lIns="0" tIns="0" rIns="0" bIns="0" rtlCol="0">
            <a:noAutofit/>
          </a:bodyPr>
          <a:lstStyle/>
          <a:p>
            <a:r>
              <a:rPr lang="en-US" sz="3400" b="1">
                <a:solidFill>
                  <a:srgbClr val="F4F8FC"/>
                </a:solidFill>
                <a:latin typeface="Segoe UI" panose="020B0502040204020203" pitchFamily="34" charset="0"/>
              </a:rPr>
              <a:t>Version 2.1 release status</a:t>
            </a:r>
          </a:p>
        </p:txBody>
      </p:sp>
      <p:sp>
        <p:nvSpPr>
          <p:cNvPr id="8" name="Text GreenBiz">
            <a:extLst>
              <a:ext uri="{FF2B5EF4-FFF2-40B4-BE49-F238E27FC236}">
                <a16:creationId xmlns:a16="http://schemas.microsoft.com/office/drawing/2014/main" id="{A320E23C-54D2-8BF7-000E-D2E7724834A4}"/>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9" name="Text 17 / 18">
            <a:extLst>
              <a:ext uri="{FF2B5EF4-FFF2-40B4-BE49-F238E27FC236}">
                <a16:creationId xmlns:a16="http://schemas.microsoft.com/office/drawing/2014/main" id="{E6D191EB-5130-D6C4-8D61-49E0732534F3}"/>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17 / 18</a:t>
            </a:r>
          </a:p>
        </p:txBody>
      </p:sp>
      <p:sp>
        <p:nvSpPr>
          <p:cNvPr id="10" name="Text 108">
            <a:extLst>
              <a:ext uri="{FF2B5EF4-FFF2-40B4-BE49-F238E27FC236}">
                <a16:creationId xmlns:a16="http://schemas.microsoft.com/office/drawing/2014/main" id="{215099B0-6DAF-482B-E5EC-6C7C704E3D61}"/>
              </a:ext>
            </a:extLst>
          </p:cNvPr>
          <p:cNvSpPr txBox="1"/>
          <p:nvPr/>
        </p:nvSpPr>
        <p:spPr>
          <a:xfrm>
            <a:off x="609600" y="1854200"/>
            <a:ext cx="3365500" cy="1219200"/>
          </a:xfrm>
          <a:prstGeom prst="rect">
            <a:avLst/>
          </a:prstGeom>
          <a:noFill/>
        </p:spPr>
        <p:txBody>
          <a:bodyPr vert="horz" wrap="square" lIns="0" tIns="0" rIns="0" bIns="0" rtlCol="0">
            <a:noAutofit/>
          </a:bodyPr>
          <a:lstStyle/>
          <a:p>
            <a:r>
              <a:rPr lang="en-US" sz="7300" b="1">
                <a:solidFill>
                  <a:srgbClr val="4EE6C0"/>
                </a:solidFill>
                <a:latin typeface="Segoe UI" panose="020B0502040204020203" pitchFamily="34" charset="0"/>
              </a:rPr>
              <a:t>108</a:t>
            </a:r>
          </a:p>
        </p:txBody>
      </p:sp>
      <p:sp>
        <p:nvSpPr>
          <p:cNvPr id="11" name="Text Unit and API tests">
            <a:extLst>
              <a:ext uri="{FF2B5EF4-FFF2-40B4-BE49-F238E27FC236}">
                <a16:creationId xmlns:a16="http://schemas.microsoft.com/office/drawing/2014/main" id="{F5F15C22-689C-17E1-A75F-3246544E17AC}"/>
              </a:ext>
            </a:extLst>
          </p:cNvPr>
          <p:cNvSpPr txBox="1"/>
          <p:nvPr/>
        </p:nvSpPr>
        <p:spPr>
          <a:xfrm>
            <a:off x="609600" y="3302000"/>
            <a:ext cx="3365500" cy="787400"/>
          </a:xfrm>
          <a:prstGeom prst="rect">
            <a:avLst/>
          </a:prstGeom>
          <a:noFill/>
        </p:spPr>
        <p:txBody>
          <a:bodyPr vert="horz" wrap="square" lIns="0" tIns="0" rIns="0" bIns="0" rtlCol="0">
            <a:noAutofit/>
          </a:bodyPr>
          <a:lstStyle/>
          <a:p>
            <a:r>
              <a:rPr lang="en-US" sz="2400" b="1">
                <a:solidFill>
                  <a:srgbClr val="F4F8FC"/>
                </a:solidFill>
                <a:latin typeface="Segoe UI" panose="020B0502040204020203" pitchFamily="34" charset="0"/>
              </a:rPr>
              <a:t>Unit and API tests</a:t>
            </a:r>
          </a:p>
        </p:txBody>
      </p:sp>
      <p:sp>
        <p:nvSpPr>
          <p:cNvPr id="12" name="Text 23">
            <a:extLst>
              <a:ext uri="{FF2B5EF4-FFF2-40B4-BE49-F238E27FC236}">
                <a16:creationId xmlns:a16="http://schemas.microsoft.com/office/drawing/2014/main" id="{642A4616-01D3-F4D2-47AF-5CFE84432962}"/>
              </a:ext>
            </a:extLst>
          </p:cNvPr>
          <p:cNvSpPr txBox="1"/>
          <p:nvPr/>
        </p:nvSpPr>
        <p:spPr>
          <a:xfrm>
            <a:off x="4356100" y="1854200"/>
            <a:ext cx="3365500" cy="1219200"/>
          </a:xfrm>
          <a:prstGeom prst="rect">
            <a:avLst/>
          </a:prstGeom>
          <a:noFill/>
        </p:spPr>
        <p:txBody>
          <a:bodyPr vert="horz" wrap="square" lIns="0" tIns="0" rIns="0" bIns="0" rtlCol="0">
            <a:noAutofit/>
          </a:bodyPr>
          <a:lstStyle/>
          <a:p>
            <a:r>
              <a:rPr lang="en-US" sz="7300" b="1">
                <a:solidFill>
                  <a:srgbClr val="4EE6C0"/>
                </a:solidFill>
                <a:latin typeface="Segoe UI" panose="020B0502040204020203" pitchFamily="34" charset="0"/>
              </a:rPr>
              <a:t>23</a:t>
            </a:r>
          </a:p>
        </p:txBody>
      </p:sp>
      <p:sp>
        <p:nvSpPr>
          <p:cNvPr id="13" name="Text Browser journeys">
            <a:extLst>
              <a:ext uri="{FF2B5EF4-FFF2-40B4-BE49-F238E27FC236}">
                <a16:creationId xmlns:a16="http://schemas.microsoft.com/office/drawing/2014/main" id="{7CA63821-7731-D87D-C424-71167D1F2036}"/>
              </a:ext>
            </a:extLst>
          </p:cNvPr>
          <p:cNvSpPr txBox="1"/>
          <p:nvPr/>
        </p:nvSpPr>
        <p:spPr>
          <a:xfrm>
            <a:off x="4356100" y="3302000"/>
            <a:ext cx="3365500" cy="787400"/>
          </a:xfrm>
          <a:prstGeom prst="rect">
            <a:avLst/>
          </a:prstGeom>
          <a:noFill/>
        </p:spPr>
        <p:txBody>
          <a:bodyPr vert="horz" wrap="square" lIns="0" tIns="0" rIns="0" bIns="0" rtlCol="0">
            <a:noAutofit/>
          </a:bodyPr>
          <a:lstStyle/>
          <a:p>
            <a:r>
              <a:rPr lang="en-US" sz="2400" b="1">
                <a:solidFill>
                  <a:srgbClr val="F4F8FC"/>
                </a:solidFill>
                <a:latin typeface="Segoe UI" panose="020B0502040204020203" pitchFamily="34" charset="0"/>
              </a:rPr>
              <a:t>Browser journeys</a:t>
            </a:r>
          </a:p>
        </p:txBody>
      </p:sp>
      <p:sp>
        <p:nvSpPr>
          <p:cNvPr id="14" name="Text 4">
            <a:extLst>
              <a:ext uri="{FF2B5EF4-FFF2-40B4-BE49-F238E27FC236}">
                <a16:creationId xmlns:a16="http://schemas.microsoft.com/office/drawing/2014/main" id="{D77B6FA6-6630-70DE-AA7F-E87CB813FF6F}"/>
              </a:ext>
            </a:extLst>
          </p:cNvPr>
          <p:cNvSpPr txBox="1"/>
          <p:nvPr/>
        </p:nvSpPr>
        <p:spPr>
          <a:xfrm>
            <a:off x="8102600" y="1854200"/>
            <a:ext cx="3365500" cy="1219200"/>
          </a:xfrm>
          <a:prstGeom prst="rect">
            <a:avLst/>
          </a:prstGeom>
          <a:noFill/>
        </p:spPr>
        <p:txBody>
          <a:bodyPr vert="horz" wrap="square" lIns="0" tIns="0" rIns="0" bIns="0" rtlCol="0">
            <a:noAutofit/>
          </a:bodyPr>
          <a:lstStyle/>
          <a:p>
            <a:r>
              <a:rPr lang="en-US" sz="7300" b="1">
                <a:solidFill>
                  <a:srgbClr val="4EE6C0"/>
                </a:solidFill>
                <a:latin typeface="Segoe UI" panose="020B0502040204020203" pitchFamily="34" charset="0"/>
              </a:rPr>
              <a:t>4</a:t>
            </a:r>
          </a:p>
        </p:txBody>
      </p:sp>
      <p:sp>
        <p:nvSpPr>
          <p:cNvPr id="15" name="Text Native SMS parser tests">
            <a:extLst>
              <a:ext uri="{FF2B5EF4-FFF2-40B4-BE49-F238E27FC236}">
                <a16:creationId xmlns:a16="http://schemas.microsoft.com/office/drawing/2014/main" id="{B4C664EA-6014-C78E-DA76-B7E096B7D1B1}"/>
              </a:ext>
            </a:extLst>
          </p:cNvPr>
          <p:cNvSpPr txBox="1"/>
          <p:nvPr/>
        </p:nvSpPr>
        <p:spPr>
          <a:xfrm>
            <a:off x="8102600" y="3302000"/>
            <a:ext cx="3365500" cy="787400"/>
          </a:xfrm>
          <a:prstGeom prst="rect">
            <a:avLst/>
          </a:prstGeom>
          <a:noFill/>
        </p:spPr>
        <p:txBody>
          <a:bodyPr vert="horz" wrap="square" lIns="0" tIns="0" rIns="0" bIns="0" rtlCol="0">
            <a:noAutofit/>
          </a:bodyPr>
          <a:lstStyle/>
          <a:p>
            <a:r>
              <a:rPr lang="en-US" sz="2400" b="1">
                <a:solidFill>
                  <a:srgbClr val="F4F8FC"/>
                </a:solidFill>
                <a:latin typeface="Segoe UI" panose="020B0502040204020203" pitchFamily="34" charset="0"/>
              </a:rPr>
              <a:t>Native SMS parser tests</a:t>
            </a:r>
          </a:p>
        </p:txBody>
      </p:sp>
      <p:sp>
        <p:nvSpPr>
          <p:cNvPr id="16" name="Text Android 2.1.0 is available as a debug-signed ">
            <a:extLst>
              <a:ext uri="{FF2B5EF4-FFF2-40B4-BE49-F238E27FC236}">
                <a16:creationId xmlns:a16="http://schemas.microsoft.com/office/drawing/2014/main" id="{67EE00CD-56E6-5528-19DE-C02C582DB63B}"/>
              </a:ext>
            </a:extLst>
          </p:cNvPr>
          <p:cNvSpPr txBox="1"/>
          <p:nvPr/>
        </p:nvSpPr>
        <p:spPr>
          <a:xfrm>
            <a:off x="609600" y="4533900"/>
            <a:ext cx="10972800" cy="787400"/>
          </a:xfrm>
          <a:prstGeom prst="rect">
            <a:avLst/>
          </a:prstGeom>
          <a:noFill/>
        </p:spPr>
        <p:txBody>
          <a:bodyPr vert="horz" wrap="square" lIns="0" tIns="0" rIns="0" bIns="0" rtlCol="0">
            <a:noAutofit/>
          </a:bodyPr>
          <a:lstStyle/>
          <a:p>
            <a:r>
              <a:rPr lang="en-US" sz="2500">
                <a:solidFill>
                  <a:srgbClr val="C2D3DE"/>
                </a:solidFill>
                <a:latin typeface="Segoe UI" panose="020B0502040204020203" pitchFamily="34" charset="0"/>
              </a:rPr>
              <a:t>Android 2.1.0 is available as a debug-signed internal testing build.</a:t>
            </a:r>
          </a:p>
        </p:txBody>
      </p:sp>
      <p:sp>
        <p:nvSpPr>
          <p:cNvPr id="17" name="Text Next: physical-phone checks, release signing ">
            <a:extLst>
              <a:ext uri="{FF2B5EF4-FFF2-40B4-BE49-F238E27FC236}">
                <a16:creationId xmlns:a16="http://schemas.microsoft.com/office/drawing/2014/main" id="{131A67A0-ECF9-B0D8-21F4-3329DD68A3C8}"/>
              </a:ext>
            </a:extLst>
          </p:cNvPr>
          <p:cNvSpPr txBox="1"/>
          <p:nvPr/>
        </p:nvSpPr>
        <p:spPr>
          <a:xfrm>
            <a:off x="609600" y="5651500"/>
            <a:ext cx="10972800" cy="685800"/>
          </a:xfrm>
          <a:prstGeom prst="rect">
            <a:avLst/>
          </a:prstGeom>
          <a:noFill/>
        </p:spPr>
        <p:txBody>
          <a:bodyPr vert="horz" wrap="square" lIns="0" tIns="0" rIns="0" bIns="0" rtlCol="0">
            <a:noAutofit/>
          </a:bodyPr>
          <a:lstStyle/>
          <a:p>
            <a:r>
              <a:rPr lang="en-US" sz="2500" b="1">
                <a:solidFill>
                  <a:srgbClr val="F4B84A"/>
                </a:solidFill>
                <a:latin typeface="Segoe UI" panose="020B0502040204020203" pitchFamily="34" charset="0"/>
              </a:rPr>
              <a:t>Next: physical-phone checks, release signing and store preparation</a:t>
            </a:r>
          </a:p>
        </p:txBody>
      </p:sp>
    </p:spTree>
    <p:extLst>
      <p:ext uri="{BB962C8B-B14F-4D97-AF65-F5344CB8AC3E}">
        <p14:creationId xmlns:p14="http://schemas.microsoft.com/office/powerpoint/2010/main" val="12814281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800"/>
                                        <p:tgtEl>
                                          <p:spTgt spid="10"/>
                                        </p:tgtEl>
                                      </p:cBhvr>
                                    </p:animEffect>
                                    <p:animScale>
                                      <p:cBhvr>
                                        <p:cTn id="13" dur="800" fill="hold">
                                          <p:stCondLst>
                                            <p:cond delay="0"/>
                                          </p:stCondLst>
                                        </p:cTn>
                                        <p:tgtEl>
                                          <p:spTgt spid="10"/>
                                        </p:tgtEl>
                                      </p:cBhvr>
                                      <p:from x="96000" y="96000"/>
                                      <p:to x="100000" y="100000"/>
                                    </p:animScale>
                                  </p:childTnLst>
                                </p:cTn>
                              </p:par>
                              <p:par>
                                <p:cTn id="14" presetID="10" presetClass="entr" presetSubtype="0" accel="15000" decel="25000" fill="hold" grpId="0" nodeType="withEffect">
                                  <p:stCondLst>
                                    <p:cond delay="1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accel="15000" decel="2500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800"/>
                                        <p:tgtEl>
                                          <p:spTgt spid="12"/>
                                        </p:tgtEl>
                                      </p:cBhvr>
                                    </p:animEffect>
                                    <p:animScale>
                                      <p:cBhvr>
                                        <p:cTn id="22" dur="800" fill="hold">
                                          <p:stCondLst>
                                            <p:cond delay="0"/>
                                          </p:stCondLst>
                                        </p:cTn>
                                        <p:tgtEl>
                                          <p:spTgt spid="12"/>
                                        </p:tgtEl>
                                      </p:cBhvr>
                                      <p:from x="96000" y="96000"/>
                                      <p:to x="100000" y="100000"/>
                                    </p:animScale>
                                  </p:childTnLst>
                                </p:cTn>
                              </p:par>
                              <p:par>
                                <p:cTn id="23" presetID="10" presetClass="entr" presetSubtype="0" accel="15000" decel="25000" fill="hold" grpId="0" nodeType="withEffect">
                                  <p:stCondLst>
                                    <p:cond delay="10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accel="15000" decel="2500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800"/>
                                        <p:tgtEl>
                                          <p:spTgt spid="14"/>
                                        </p:tgtEl>
                                      </p:cBhvr>
                                    </p:animEffect>
                                    <p:animScale>
                                      <p:cBhvr>
                                        <p:cTn id="31" dur="800" fill="hold">
                                          <p:stCondLst>
                                            <p:cond delay="0"/>
                                          </p:stCondLst>
                                        </p:cTn>
                                        <p:tgtEl>
                                          <p:spTgt spid="14"/>
                                        </p:tgtEl>
                                      </p:cBhvr>
                                      <p:from x="96000" y="96000"/>
                                      <p:to x="100000" y="100000"/>
                                    </p:animScale>
                                  </p:childTnLst>
                                </p:cTn>
                              </p:par>
                              <p:par>
                                <p:cTn id="32" presetID="10" presetClass="entr" presetSubtype="0" accel="15000" decel="25000" fill="hold" grpId="0" nodeType="withEffect">
                                  <p:stCondLst>
                                    <p:cond delay="10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accel="15000" decel="2500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600"/>
                                        <p:tgtEl>
                                          <p:spTgt spid="16"/>
                                        </p:tgtEl>
                                      </p:cBhvr>
                                    </p:animEffect>
                                    <p:anim calcmode="lin" valueType="num">
                                      <p:cBhvr>
                                        <p:cTn id="40" dur="600" fill="hold"/>
                                        <p:tgtEl>
                                          <p:spTgt spid="16"/>
                                        </p:tgtEl>
                                        <p:attrNameLst>
                                          <p:attrName>ppt_x</p:attrName>
                                        </p:attrNameLst>
                                      </p:cBhvr>
                                      <p:tavLst>
                                        <p:tav tm="0">
                                          <p:val>
                                            <p:strVal val="#ppt_x"/>
                                          </p:val>
                                        </p:tav>
                                        <p:tav tm="100000">
                                          <p:val>
                                            <p:strVal val="#ppt_x"/>
                                          </p:val>
                                        </p:tav>
                                      </p:tavLst>
                                    </p:anim>
                                    <p:anim calcmode="lin" valueType="num">
                                      <p:cBhvr>
                                        <p:cTn id="41" dur="6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accel="15000" decel="25000" fill="hold" grpId="0"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6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1" grpId="0"/>
      <p:bldP spid="12" grpId="0"/>
      <p:bldP spid="13" grpId="0"/>
      <p:bldP spid="14" grpId="0"/>
      <p:bldP spid="15" grpId="0"/>
      <p:bldP spid="16" grpId="0"/>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0B3935"/>
            </a:gs>
          </a:gsLst>
          <a:lin ang="5400000" scaled="1"/>
          <a:tileRect/>
        </a:gradFill>
        <a:effectLst/>
      </p:bgPr>
    </p:bg>
    <p:spTree>
      <p:nvGrpSpPr>
        <p:cNvPr id="1" name=""/>
        <p:cNvGrpSpPr/>
        <p:nvPr/>
      </p:nvGrpSpPr>
      <p:grpSpPr>
        <a:xfrm>
          <a:off x="0" y="0"/>
          <a:ext cx="0" cy="0"/>
          <a:chOff x="0" y="0"/>
          <a:chExt cx="0" cy="0"/>
        </a:xfrm>
      </p:grpSpPr>
      <p:sp>
        <p:nvSpPr>
          <p:cNvPr id="10" name="Text GreenBiz">
            <a:extLst>
              <a:ext uri="{FF2B5EF4-FFF2-40B4-BE49-F238E27FC236}">
                <a16:creationId xmlns:a16="http://schemas.microsoft.com/office/drawing/2014/main" id="{B0E70FAD-71AE-FE7F-5405-D9AF3323CFE0}"/>
              </a:ext>
            </a:extLst>
          </p:cNvPr>
          <p:cNvSpPr txBox="1"/>
          <p:nvPr/>
        </p:nvSpPr>
        <p:spPr>
          <a:xfrm>
            <a:off x="609600" y="6413500"/>
            <a:ext cx="2032000" cy="254000"/>
          </a:xfrm>
          <a:prstGeom prst="rect">
            <a:avLst/>
          </a:prstGeom>
          <a:noFill/>
        </p:spPr>
        <p:txBody>
          <a:bodyPr vert="horz" wrap="square" lIns="0" tIns="0" rIns="0" bIns="0" rtlCol="0">
            <a:noAutofit/>
          </a:bodyPr>
          <a:lstStyle/>
          <a:p>
            <a:r>
              <a:rPr lang="en-US" sz="1100" b="1">
                <a:solidFill>
                  <a:srgbClr val="8EA7BA"/>
                </a:solidFill>
                <a:latin typeface="Segoe UI" panose="020B0502040204020203" pitchFamily="34" charset="0"/>
              </a:rPr>
              <a:t>GreenBiz</a:t>
            </a:r>
          </a:p>
        </p:txBody>
      </p:sp>
      <p:sp>
        <p:nvSpPr>
          <p:cNvPr id="11" name="Text 18 / 18">
            <a:extLst>
              <a:ext uri="{FF2B5EF4-FFF2-40B4-BE49-F238E27FC236}">
                <a16:creationId xmlns:a16="http://schemas.microsoft.com/office/drawing/2014/main" id="{44A64C66-3A43-EFEE-E25E-FCDC20BD94A2}"/>
              </a:ext>
            </a:extLst>
          </p:cNvPr>
          <p:cNvSpPr txBox="1"/>
          <p:nvPr/>
        </p:nvSpPr>
        <p:spPr>
          <a:xfrm>
            <a:off x="10693400" y="6413500"/>
            <a:ext cx="889000" cy="254000"/>
          </a:xfrm>
          <a:prstGeom prst="rect">
            <a:avLst/>
          </a:prstGeom>
          <a:noFill/>
        </p:spPr>
        <p:txBody>
          <a:bodyPr vert="horz" wrap="square" lIns="0" tIns="0" rIns="0" bIns="0" rtlCol="0">
            <a:noAutofit/>
          </a:bodyPr>
          <a:lstStyle/>
          <a:p>
            <a:pPr algn="r"/>
            <a:r>
              <a:rPr lang="en-US" sz="1100">
                <a:solidFill>
                  <a:srgbClr val="8EA7BA"/>
                </a:solidFill>
                <a:latin typeface="Segoe UI" panose="020B0502040204020203" pitchFamily="34" charset="0"/>
              </a:rPr>
              <a:t>18 / 18</a:t>
            </a:r>
          </a:p>
        </p:txBody>
      </p:sp>
      <p:sp>
        <p:nvSpPr>
          <p:cNvPr id="12" name="Text A financial history&#10;for every small business">
            <a:extLst>
              <a:ext uri="{FF2B5EF4-FFF2-40B4-BE49-F238E27FC236}">
                <a16:creationId xmlns:a16="http://schemas.microsoft.com/office/drawing/2014/main" id="{33C7D987-61FC-B03D-3CCB-387A768AB3AB}"/>
              </a:ext>
            </a:extLst>
          </p:cNvPr>
          <p:cNvSpPr txBox="1"/>
          <p:nvPr/>
        </p:nvSpPr>
        <p:spPr>
          <a:xfrm>
            <a:off x="609600" y="1346200"/>
            <a:ext cx="10972800" cy="2159000"/>
          </a:xfrm>
          <a:prstGeom prst="rect">
            <a:avLst/>
          </a:prstGeom>
          <a:noFill/>
        </p:spPr>
        <p:txBody>
          <a:bodyPr vert="horz" wrap="square" lIns="0" tIns="0" rIns="0" bIns="0" rtlCol="0">
            <a:noAutofit/>
          </a:bodyPr>
          <a:lstStyle/>
          <a:p>
            <a:r>
              <a:rPr lang="en-US" sz="5700" b="1">
                <a:solidFill>
                  <a:srgbClr val="F4F8FC"/>
                </a:solidFill>
                <a:latin typeface="Segoe UI" panose="020B0502040204020203" pitchFamily="34" charset="0"/>
              </a:rPr>
              <a:t>A financial history</a:t>
            </a:r>
          </a:p>
          <a:p>
            <a:r>
              <a:rPr lang="en-US" sz="5700" b="1">
                <a:solidFill>
                  <a:srgbClr val="F4F8FC"/>
                </a:solidFill>
                <a:latin typeface="Segoe UI" panose="020B0502040204020203" pitchFamily="34" charset="0"/>
              </a:rPr>
              <a:t>for every small business</a:t>
            </a:r>
          </a:p>
        </p:txBody>
      </p:sp>
      <p:sp>
        <p:nvSpPr>
          <p:cNvPr id="13" name="Text Built through the work the owner already does">
            <a:extLst>
              <a:ext uri="{FF2B5EF4-FFF2-40B4-BE49-F238E27FC236}">
                <a16:creationId xmlns:a16="http://schemas.microsoft.com/office/drawing/2014/main" id="{CD0849A9-7BD0-A8BE-A3A6-5E46FFD0E41A}"/>
              </a:ext>
            </a:extLst>
          </p:cNvPr>
          <p:cNvSpPr txBox="1"/>
          <p:nvPr/>
        </p:nvSpPr>
        <p:spPr>
          <a:xfrm>
            <a:off x="660400" y="4102100"/>
            <a:ext cx="10414000" cy="1193800"/>
          </a:xfrm>
          <a:prstGeom prst="rect">
            <a:avLst/>
          </a:prstGeom>
          <a:noFill/>
        </p:spPr>
        <p:txBody>
          <a:bodyPr vert="horz" wrap="square" lIns="0" tIns="0" rIns="0" bIns="0" rtlCol="0">
            <a:noAutofit/>
          </a:bodyPr>
          <a:lstStyle/>
          <a:p>
            <a:r>
              <a:rPr lang="en-US" sz="3200" b="1">
                <a:solidFill>
                  <a:srgbClr val="4EE6C0"/>
                </a:solidFill>
                <a:latin typeface="Segoe UI" panose="020B0502040204020203" pitchFamily="34" charset="0"/>
              </a:rPr>
              <a:t>Built through the work the owner already does each day</a:t>
            </a:r>
          </a:p>
        </p:txBody>
      </p:sp>
      <p:sp>
        <p:nvSpPr>
          <p:cNvPr id="14" name="Text Financial inclusion begins with a business hi">
            <a:extLst>
              <a:ext uri="{FF2B5EF4-FFF2-40B4-BE49-F238E27FC236}">
                <a16:creationId xmlns:a16="http://schemas.microsoft.com/office/drawing/2014/main" id="{BC9C4035-94FC-AB6F-B5CB-E0F42B5EA55C}"/>
              </a:ext>
            </a:extLst>
          </p:cNvPr>
          <p:cNvSpPr txBox="1"/>
          <p:nvPr/>
        </p:nvSpPr>
        <p:spPr>
          <a:xfrm>
            <a:off x="660400" y="5638800"/>
            <a:ext cx="10414000" cy="685800"/>
          </a:xfrm>
          <a:prstGeom prst="rect">
            <a:avLst/>
          </a:prstGeom>
          <a:noFill/>
        </p:spPr>
        <p:txBody>
          <a:bodyPr vert="horz" wrap="square" lIns="0" tIns="0" rIns="0" bIns="0" rtlCol="0">
            <a:noAutofit/>
          </a:bodyPr>
          <a:lstStyle/>
          <a:p>
            <a:r>
              <a:rPr lang="en-US" sz="2300">
                <a:solidFill>
                  <a:srgbClr val="C2D3DE"/>
                </a:solidFill>
                <a:latin typeface="Segoe UI" panose="020B0502040204020203" pitchFamily="34" charset="0"/>
              </a:rPr>
              <a:t>Financial inclusion begins with a business history the owner can understand and share.</a:t>
            </a:r>
          </a:p>
        </p:txBody>
      </p:sp>
    </p:spTree>
    <p:extLst>
      <p:ext uri="{BB962C8B-B14F-4D97-AF65-F5344CB8AC3E}">
        <p14:creationId xmlns:p14="http://schemas.microsoft.com/office/powerpoint/2010/main" val="868647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800"/>
                                        <p:tgtEl>
                                          <p:spTgt spid="12"/>
                                        </p:tgtEl>
                                      </p:cBhvr>
                                    </p:animEffect>
                                    <p:animScale>
                                      <p:cBhvr>
                                        <p:cTn id="8" dur="800" fill="hold">
                                          <p:stCondLst>
                                            <p:cond delay="0"/>
                                          </p:stCondLst>
                                        </p:cTn>
                                        <p:tgtEl>
                                          <p:spTgt spid="12"/>
                                        </p:tgtEl>
                                      </p:cBhvr>
                                      <p:from x="96000" y="96000"/>
                                      <p:to x="100000" y="100000"/>
                                    </p:animScale>
                                  </p:childTnLst>
                                </p:cTn>
                              </p:par>
                            </p:childTnLst>
                          </p:cTn>
                        </p:par>
                      </p:childTnLst>
                    </p:cTn>
                  </p:par>
                  <p:par>
                    <p:cTn id="9" fill="hold">
                      <p:stCondLst>
                        <p:cond delay="indefinite"/>
                      </p:stCondLst>
                      <p:childTnLst>
                        <p:par>
                          <p:cTn id="10" fill="hold">
                            <p:stCondLst>
                              <p:cond delay="0"/>
                            </p:stCondLst>
                            <p:childTnLst>
                              <p:par>
                                <p:cTn id="11" presetID="42" presetClass="entr" presetSubtype="0" accel="15000" decel="2500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600"/>
                                        <p:tgtEl>
                                          <p:spTgt spid="13"/>
                                        </p:tgtEl>
                                      </p:cBhvr>
                                    </p:animEffect>
                                    <p:anim calcmode="lin" valueType="num">
                                      <p:cBhvr>
                                        <p:cTn id="14" dur="600" fill="hold"/>
                                        <p:tgtEl>
                                          <p:spTgt spid="13"/>
                                        </p:tgtEl>
                                        <p:attrNameLst>
                                          <p:attrName>ppt_x</p:attrName>
                                        </p:attrNameLst>
                                      </p:cBhvr>
                                      <p:tavLst>
                                        <p:tav tm="0">
                                          <p:val>
                                            <p:strVal val="#ppt_x"/>
                                          </p:val>
                                        </p:tav>
                                        <p:tav tm="100000">
                                          <p:val>
                                            <p:strVal val="#ppt_x"/>
                                          </p:val>
                                        </p:tav>
                                      </p:tavLst>
                                    </p:anim>
                                    <p:anim calcmode="lin" valueType="num">
                                      <p:cBhvr>
                                        <p:cTn id="15" dur="6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accel="15000" decel="2500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2583</Words>
  <Application>Microsoft Office PowerPoint</Application>
  <DocSecurity>0</DocSecurity>
  <PresentationFormat>Widescreen</PresentationFormat>
  <Paragraphs>262</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Aptos</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Nobita Nobi</cp:lastModifiedBy>
  <cp:revision>2</cp:revision>
  <dcterms:created xsi:type="dcterms:W3CDTF">2026-10-19T10:31:41Z</dcterms:created>
  <dcterms:modified xsi:type="dcterms:W3CDTF">2026-10-19T12:15:03Z</dcterms:modified>
</cp:coreProperties>
</file>