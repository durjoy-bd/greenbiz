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1"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Relationships xmlns="http://schemas.openxmlformats.org/package/2006/relationships"><Relationship Id="rIdChartSnapshot1" Type="http://schemas.openxmlformats.org/officeDocument/2006/relationships/package" Target="../embeddings/chart-data-snapshot-00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Profile weight</c:v>
          </c:tx>
          <c:spPr>
            <a:solidFill>
              <a:srgbClr val="4EE6C0"/>
            </a:solidFill>
          </c:spPr>
          <c:invertIfNegative val="0"/>
          <c:dLbls>
            <c:numFmt formatCode="0%" sourceLinked="0"/>
            <c:spPr>
              <a:noFill/>
              <a:ln>
                <a:noFill/>
              </a:ln>
              <a:effectLst/>
            </c:spPr>
            <c:txPr>
              <a:bodyPr anchorCtr="1"/>
              <a:lstStyle/>
              <a:p>
                <a:pPr>
                  <a:defRPr sz="1800" b="1">
                    <a:solidFill>
                      <a:srgbClr val="4EE6C0"/>
                    </a:solidFill>
                    <a:latin typeface="Segoe UI"/>
                    <a:ea typeface="Segoe UI"/>
                    <a:cs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Activity</c:v>
                </c:pt>
                <c:pt idx="1">
                  <c:v>Stability</c:v>
                </c:pt>
                <c:pt idx="2">
                  <c:v>Volume</c:v>
                </c:pt>
                <c:pt idx="3">
                  <c:v>Consistency</c:v>
                </c:pt>
              </c:strCache>
            </c:strRef>
          </c:cat>
          <c:val>
            <c:numRef>
              <c:f>'Chart Data'!$B$2:$B$5</c:f>
              <c:numCache>
                <c:formatCode>General</c:formatCode>
                <c:ptCount val="4"/>
                <c:pt idx="0">
                  <c:v>0.2</c:v>
                </c:pt>
                <c:pt idx="1">
                  <c:v>0.25</c:v>
                </c:pt>
                <c:pt idx="2">
                  <c:v>0.25</c:v>
                </c:pt>
                <c:pt idx="3">
                  <c:v>0.3</c:v>
                </c:pt>
              </c:numCache>
            </c:numRef>
          </c:val>
          <c:extLst>
            <c:ext xmlns:c16="http://schemas.microsoft.com/office/drawing/2014/chart" uri="{C3380CC4-5D6E-409C-BE32-E72D297353CC}">
              <c16:uniqueId val="{00000000-F897-476F-A236-CEA818FDBCEC}"/>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800">
                <a:solidFill>
                  <a:srgbClr val="F4F8FC"/>
                </a:solidFill>
                <a:latin typeface="Segoe UI"/>
                <a:ea typeface="Segoe UI"/>
                <a:cs typeface="Segoe UI"/>
              </a:defRPr>
            </a:pPr>
            <a:endParaRPr lang="en-US"/>
          </a:p>
        </c:txPr>
        <c:crossAx val="48672768"/>
        <c:crosses val="autoZero"/>
        <c:auto val="1"/>
        <c:lblAlgn val="ctr"/>
        <c:lblOffset val="100"/>
        <c:noMultiLvlLbl val="1"/>
      </c:catAx>
      <c:valAx>
        <c:axId val="48672768"/>
        <c:scaling>
          <c:orientation val="minMax"/>
          <c:max val="0.4"/>
          <c:min val="0"/>
        </c:scaling>
        <c:delete val="1"/>
        <c:axPos val="b"/>
        <c:numFmt formatCode="General" sourceLinked="1"/>
        <c:majorTickMark val="none"/>
        <c:minorTickMark val="none"/>
        <c:tickLblPos val="nextTo"/>
        <c:crossAx val="48650112"/>
        <c:crosses val="autoZero"/>
        <c:crossBetween val="between"/>
      </c:valAx>
      <c:spPr>
        <a:noFill/>
      </c:spPr>
    </c:plotArea>
    <c:plotVisOnly val="1"/>
    <c:dispBlanksAs val="zero"/>
    <c:showDLblsOverMax val="1"/>
  </c:chart>
  <c:spPr>
    <a:noFill/>
  </c:spPr>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vision: help small businesses build a financial history through stock, sales and payment activity, then use that history to understand their business and explore suitable finance. The owner confirmed financial inclusion as the main purpose. Screens show fictional sample data.</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Problem framing from the original owner concept, not a quantified market study. The reused home screen creates a continuous native Morph movement from the cover. The broader challenge is documenting everyday business activity, particularly where formal records are limited.</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Inventory, checkout, payment records and reports connect within a shop workspace. Sales deduct stock atomically. Receipt linking prevents duplicate sale income. The profile depends on recorded information and is not an independently verified financial statement.</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Full product map restores the scope of the earlier deck. Optional merchant web tools, customer invoices and the bank portal appear later. Core manual operation remains available without a merchant-run business server.</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first-session story from the original deck is restored. The sample shop remains separate from real device records. Multiple shops keep stock, sales and transactions separate. Core device tools require no business-server account or user AI key. Online AI and optional cloud functions have separate connectivity requirements.</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Current inventory and product-detail screens show restored quick restock, stock value, out-of-stock labels and direct Sell action. Quantities support up to three decimals. Historical sales preserve the item snapshot. Photo or manual entry still needs owner review.</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current camera and product-review UI, using the app built-in fictional sample scan. These pictures do not establish image-recognition accuracy on real stock photos. Owner review is mandatory. Native Morph carries the two screen surrounds forward from the inventory slide.</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Checkout restores the original typing, voice and fractional-sale story. Voice depends on device speech recognition and permissions. Online AI is optional. All suggestions remain reviewable. The current app offers cash and supported mobile-money/bank methods, including Other.</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structured payment history and payment-claim review screens are restored. Raw SMS is viewable before import only. The on-device parser accepts selected trusted senders and patterns, rejects personal-number senders and filters unsuitable messages. SMS and customer claims are not authoritative payment-provider verification.</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Tolerance is 2% of the bill with a minimum of one current base-currency unit. The receipt retains the actual received amount and the sale retains its own total. Look further back searches up to 30 days. Records outside the band are saved separately only after confirmation. This is not a global-currency configuration claim.</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receipt is captured from an actual fictional sale in the app. Live SMS and notification behavior are implemented but not validated on a physical phone. The owner may defer sale creation and retain the payment in Payments. Lock-screen amount hiding and arrival behavior remain device checks.</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Illustrative arithmetic: 100 sale income minus 20 business expense equals 80 reported cashflow. The linked payment retains a received amount of 102 but does not add extra income to these reports. This corrects any implication that both the sale and receipt contribute income. Cashflow is not accounting profit. Personal and foreign-currency records remain outside the current base-currency business totals.</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Restores report overview, previous-period comparison, payment-method mix, top payers and the newest 20 period payments. Existing 7/30-day and custom ranges remain. Screenshot values are fictional sample records, not audited merchant results. The app uses a fixed current calendar/timezone; broader localization is rollout work.</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Editable native chart weights: consistency 30%, volume 25%, stability 25%, activity 20%. The current merchant profile uses 90 days of eligible recorded activity. The screen includes its band and what to work on. The app also retains a separate 300–900 portal indicator; neither measure is a bureau score or lending decision. Source: shared/credit-profile.ts and FEATURES-2.1.md.</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69911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current catalogue covers one initial market. It is not global lender coverage. Terms were last checked 18 October 2026 according to the supplied catalogue. Capacity uses a heuristic of 50% of recorded revenue, not validated personal affordability. The owner can set a requested amount, filter banks or browse all products. Lenders make their own decisions. The screenshot shows an actual app plan with fictional business inputs, cropped to the product detail.</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advisor UI showing deterministic business insights and fictional example offers. Selected topics are Loan, Insurance and My business. AI advice context contains business aggregates, the profile and borrowing estimate. The screenshot is not a live provider-response test. This is planning assistance, not a lender approval or insurance quote. Photo-stock and sale-assistance tasks appear earlier. Users confirm any resulting record changes.</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full web-dashboard story from the earlier deck is restored. The screenshot shows the actual responsive app in a large viewport. Device-mode demonstration does not establish public cloud hosting or multi-user synchronization; optional server mode has separate requirements.</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Customer invoice and merchant invoice-list screens are restored. The actual customer UI uses a browser-local fictional invoice fixture. Public invoice links require an operated business service. Creating an invoice alone does not create a stock sale. Capability links expose one invoice. A payment reference is a claim for merchant review, not automatic provider verification.</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bank-portal UI, rendered with browser-local fictional API fixtures. No real institution or merchant data is shown. Authorized bank users can review consented summaries, create offers and request documents. Merchants may express interest. The optional portal is not publicly deployed and no live bank partnership is claimed. The portal uses its separate 300–900 internal indicator, not the merchant 0–100 profile.</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8785059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owner funds the managed AI service and keeps provider credentials as hosted secrets. Users supply no AI API key. The service limits requests and does not store task prompts, photos or replies in its application database. Selected inputs necessarily reach the chosen provider and are subject to its policies. Free text should avoid personal data. Raw SMS is never sent for fallback AI parsing.</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070645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Device mode operates offline. Managed AI needs internet but no user key. Optional cloud mode uses authenticated accounts, cached workspaces, a durable operation queue and explicit conflict handling. It is not automatic conflict merging. Device shops do not automatically migrate to cloud accounts. Use device exports before uninstalling or clearing app data.</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987770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Motion features come from the current 2.2 documentation: View Transitions, CSS fallback, staggered arrivals, money counters, chart and gauge reveals, swipe feedback, draggable sheets, success animation and optional haptics. Reduced motion honors user and system preferences. View Transitions need a recent WebView. Physical-phone frame-rate and haptic checks have not been performed.</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717718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Global ambition is the owner direction. These are rollout workstreams, without invented dates or committed partners. Version 2.2 does not establish worldwide payment support, global bank coverage, universal underwriting or fully localized currency/calendar accounting.</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085362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owner supplied updated presentation counts: 1,037 unit and API tests, 68 browser journeys and 27 native SMS parser tests. These figures were not independently rerun for this presentation edit. The 2.2 change adds motion and visual finish, without record/sync/calculation changes. Latest documented lint, type checks and builds passed. Physical-device SMS, notification, speech, camera, frame-rate and haptics checks remain outstanding. Production signing and Play Store publication are not complete. Optional business portals are not publicly deployed.</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0812377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Closing vision confirmed by the owner: financial inclusion is the central objective. Useful records give owners more visibility and can support informed conversations with financial institutions. Access depends on consent, suitable institutions and market-specific implementation. No credit approval or financial outcome is guaranteed.</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726249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3352FAF-A17B-415C-965A-573D8C80228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B4420E67-E83B-42F8-9D57-4B40720248A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5835E50-20B4-40DC-8B8E-80E4885B687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887E567-C658-41A1-B5CE-84A889C3C56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D1180F5B-4342-49F6-852E-6046673D62E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C276D6C-C04C-44C3-8032-9AC877B7AA4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2ABB41A-5D63-4571-BD5F-42E5BB1E431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4ABE693-BD4A-4395-B6B3-358F85B0F60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CDEDEFA-7922-41C8-A61A-D65F225F6C2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0FB0307-6CF4-4B7F-9D43-B733F69F633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sp>
        <p:nvSpPr>
          <p:cNvPr id="10" name="Text GreenBiz">
            <a:extLst>
              <a:ext uri="{FF2B5EF4-FFF2-40B4-BE49-F238E27FC236}">
                <a16:creationId xmlns:a16="http://schemas.microsoft.com/office/drawing/2014/main" id="{EAF835F7-6340-0CFE-E23B-1E6C4852D73D}"/>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1" name="Text 01 / 25">
            <a:extLst>
              <a:ext uri="{FF2B5EF4-FFF2-40B4-BE49-F238E27FC236}">
                <a16:creationId xmlns:a16="http://schemas.microsoft.com/office/drawing/2014/main" id="{B5F03A1A-0125-1547-608E-8FA6EA78E0ED}"/>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01 / 25</a:t>
            </a:r>
          </a:p>
        </p:txBody>
      </p:sp>
      <p:sp>
        <p:nvSpPr>
          <p:cNvPr id="12" name="Text GreenBiz">
            <a:extLst>
              <a:ext uri="{FF2B5EF4-FFF2-40B4-BE49-F238E27FC236}">
                <a16:creationId xmlns:a16="http://schemas.microsoft.com/office/drawing/2014/main" id="{F9399EBE-CB30-80CE-8EBA-35A555093DD9}"/>
              </a:ext>
            </a:extLst>
          </p:cNvPr>
          <p:cNvSpPr txBox="1"/>
          <p:nvPr/>
        </p:nvSpPr>
        <p:spPr>
          <a:xfrm>
            <a:off x="609600" y="1333500"/>
            <a:ext cx="7239000" cy="1397000"/>
          </a:xfrm>
          <a:prstGeom prst="rect">
            <a:avLst/>
          </a:prstGeom>
          <a:noFill/>
        </p:spPr>
        <p:txBody>
          <a:bodyPr vert="horz" wrap="square" lIns="0" tIns="0" rIns="0" bIns="0" rtlCol="0">
            <a:noAutofit/>
          </a:bodyPr>
          <a:lstStyle/>
          <a:p>
            <a:r>
              <a:rPr lang="en-US" sz="7600" b="1">
                <a:solidFill>
                  <a:srgbClr val="F4F8FC"/>
                </a:solidFill>
                <a:latin typeface="Segoe UI" panose="020B0502040204020203" pitchFamily="34" charset="0"/>
              </a:rPr>
              <a:t>GreenBiz</a:t>
            </a:r>
          </a:p>
        </p:txBody>
      </p:sp>
      <p:sp>
        <p:nvSpPr>
          <p:cNvPr id="13" name="Text Financial inclusion&#10;for small businesses">
            <a:extLst>
              <a:ext uri="{FF2B5EF4-FFF2-40B4-BE49-F238E27FC236}">
                <a16:creationId xmlns:a16="http://schemas.microsoft.com/office/drawing/2014/main" id="{6D71AAF9-D528-1603-30A6-709706F22E67}"/>
              </a:ext>
            </a:extLst>
          </p:cNvPr>
          <p:cNvSpPr txBox="1"/>
          <p:nvPr/>
        </p:nvSpPr>
        <p:spPr>
          <a:xfrm>
            <a:off x="673100" y="3175000"/>
            <a:ext cx="7239000" cy="1587500"/>
          </a:xfrm>
          <a:prstGeom prst="rect">
            <a:avLst/>
          </a:prstGeom>
          <a:noFill/>
        </p:spPr>
        <p:txBody>
          <a:bodyPr vert="horz" wrap="square" lIns="0" tIns="0" rIns="0" bIns="0" rtlCol="0">
            <a:noAutofit/>
          </a:bodyPr>
          <a:lstStyle/>
          <a:p>
            <a:r>
              <a:rPr lang="en-US" sz="4000" b="1">
                <a:solidFill>
                  <a:srgbClr val="4EE6C0"/>
                </a:solidFill>
                <a:latin typeface="Segoe UI" panose="020B0502040204020203" pitchFamily="34" charset="0"/>
              </a:rPr>
              <a:t>Financial inclusion</a:t>
            </a:r>
          </a:p>
          <a:p>
            <a:r>
              <a:rPr lang="en-US" sz="4000" b="1">
                <a:solidFill>
                  <a:srgbClr val="4EE6C0"/>
                </a:solidFill>
                <a:latin typeface="Segoe UI" panose="020B0502040204020203" pitchFamily="34" charset="0"/>
              </a:rPr>
              <a:t>for small businesses</a:t>
            </a:r>
          </a:p>
        </p:txBody>
      </p:sp>
      <p:sp>
        <p:nvSpPr>
          <p:cNvPr id="14" name="Text Everyday records build a financial history">
            <a:extLst>
              <a:ext uri="{FF2B5EF4-FFF2-40B4-BE49-F238E27FC236}">
                <a16:creationId xmlns:a16="http://schemas.microsoft.com/office/drawing/2014/main" id="{6C0F983D-21CF-4E84-302E-8863D86AB4E9}"/>
              </a:ext>
            </a:extLst>
          </p:cNvPr>
          <p:cNvSpPr txBox="1"/>
          <p:nvPr/>
        </p:nvSpPr>
        <p:spPr>
          <a:xfrm>
            <a:off x="698500" y="5384800"/>
            <a:ext cx="6921500" cy="825500"/>
          </a:xfrm>
          <a:prstGeom prst="rect">
            <a:avLst/>
          </a:prstGeom>
          <a:noFill/>
        </p:spPr>
        <p:txBody>
          <a:bodyPr vert="horz" wrap="square" lIns="0" tIns="0" rIns="0" bIns="0" rtlCol="0">
            <a:noAutofit/>
          </a:bodyPr>
          <a:lstStyle/>
          <a:p>
            <a:r>
              <a:rPr lang="en-US" sz="2300">
                <a:solidFill>
                  <a:srgbClr val="C2D3DE"/>
                </a:solidFill>
                <a:latin typeface="Segoe UI" panose="020B0502040204020203" pitchFamily="34" charset="0"/>
              </a:rPr>
              <a:t>Everyday records build a financial history.</a:t>
            </a:r>
          </a:p>
        </p:txBody>
      </p:sp>
      <p:sp>
        <p:nvSpPr>
          <p:cNvPr id="15" name="!!HomePhone surround">
            <a:extLst>
              <a:ext uri="{FF2B5EF4-FFF2-40B4-BE49-F238E27FC236}">
                <a16:creationId xmlns:a16="http://schemas.microsoft.com/office/drawing/2014/main" id="{594EAA16-765C-D95C-7CA3-78FE1D33A727}"/>
              </a:ext>
            </a:extLst>
          </p:cNvPr>
          <p:cNvSpPr/>
          <p:nvPr/>
        </p:nvSpPr>
        <p:spPr>
          <a:xfrm>
            <a:off x="8563683" y="558800"/>
            <a:ext cx="2697334" cy="57277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HomePhone" descr="GreenBiz home screen, fictional sample data">
            <a:extLst>
              <a:ext uri="{FF2B5EF4-FFF2-40B4-BE49-F238E27FC236}">
                <a16:creationId xmlns:a16="http://schemas.microsoft.com/office/drawing/2014/main" id="{C2E6E1B7-17F5-BFC5-82A5-F19CCFD5A11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614483" y="609600"/>
            <a:ext cx="2595733" cy="5626100"/>
          </a:xfrm>
          <a:prstGeom prst="rect">
            <a:avLst/>
          </a:prstGeom>
        </p:spPr>
      </p:pic>
    </p:spTree>
    <p:extLst>
      <p:ext uri="{BB962C8B-B14F-4D97-AF65-F5344CB8AC3E}">
        <p14:creationId xmlns:p14="http://schemas.microsoft.com/office/powerpoint/2010/main" val="1561522277"/>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800"/>
                                        <p:tgtEl>
                                          <p:spTgt spid="12"/>
                                        </p:tgtEl>
                                      </p:cBhvr>
                                    </p:animEffect>
                                    <p:animScale>
                                      <p:cBhvr>
                                        <p:cTn id="8" dur="800" fill="hold">
                                          <p:stCondLst>
                                            <p:cond delay="0"/>
                                          </p:stCondLst>
                                        </p:cTn>
                                        <p:tgtEl>
                                          <p:spTgt spid="12"/>
                                        </p:tgtEl>
                                      </p:cBhvr>
                                      <p:from x="96000" y="96000"/>
                                      <p:to x="100000" y="100000"/>
                                    </p:animScale>
                                  </p:childTnLst>
                                </p:cTn>
                              </p:par>
                            </p:childTnLst>
                          </p:cTn>
                        </p:par>
                      </p:childTnLst>
                    </p:cTn>
                  </p:par>
                  <p:par>
                    <p:cTn id="9" fill="hold">
                      <p:stCondLst>
                        <p:cond delay="indefinite"/>
                      </p:stCondLst>
                      <p:childTnLst>
                        <p:par>
                          <p:cTn id="10" fill="hold">
                            <p:stCondLst>
                              <p:cond delay="0"/>
                            </p:stCondLst>
                            <p:childTnLst>
                              <p:par>
                                <p:cTn id="11" presetID="42" presetClass="entr" presetSubtype="0" accel="15000" decel="2500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80"/>
                                        <p:tgtEl>
                                          <p:spTgt spid="13"/>
                                        </p:tgtEl>
                                      </p:cBhvr>
                                    </p:animEffect>
                                    <p:anim calcmode="lin" valueType="num">
                                      <p:cBhvr>
                                        <p:cTn id="14" dur="580" fill="hold"/>
                                        <p:tgtEl>
                                          <p:spTgt spid="13"/>
                                        </p:tgtEl>
                                        <p:attrNameLst>
                                          <p:attrName>ppt_x</p:attrName>
                                        </p:attrNameLst>
                                      </p:cBhvr>
                                      <p:tavLst>
                                        <p:tav tm="0">
                                          <p:val>
                                            <p:strVal val="#ppt_x"/>
                                          </p:val>
                                        </p:tav>
                                        <p:tav tm="100000">
                                          <p:val>
                                            <p:strVal val="#ppt_x"/>
                                          </p:val>
                                        </p:tav>
                                      </p:tavLst>
                                    </p:anim>
                                    <p:anim calcmode="lin" valueType="num">
                                      <p:cBhvr>
                                        <p:cTn id="15" dur="58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accel="15000" decel="2500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8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accel="15000" decel="2500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800"/>
                                        <p:tgtEl>
                                          <p:spTgt spid="17"/>
                                        </p:tgtEl>
                                      </p:cBhvr>
                                    </p:animEffect>
                                    <p:animScale>
                                      <p:cBhvr>
                                        <p:cTn id="26" dur="800" fill="hold">
                                          <p:stCondLst>
                                            <p:cond delay="0"/>
                                          </p:stCondLst>
                                        </p:cTn>
                                        <p:tgtEl>
                                          <p:spTgt spid="17"/>
                                        </p:tgtEl>
                                      </p:cBhvr>
                                      <p:from x="96000" y="96000"/>
                                      <p:to x="100000" y="100000"/>
                                    </p:animScale>
                                  </p:childTnLst>
                                </p:cTn>
                              </p:par>
                              <p:par>
                                <p:cTn id="27" presetID="10" presetClass="entr" presetSubtype="0" accel="15000" decel="2500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3" name="Text The missing business history">
            <a:extLst>
              <a:ext uri="{FF2B5EF4-FFF2-40B4-BE49-F238E27FC236}">
                <a16:creationId xmlns:a16="http://schemas.microsoft.com/office/drawing/2014/main" id="{3B58A563-68F9-B76B-33DE-113F802DEF26}"/>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The missing business history</a:t>
            </a:r>
          </a:p>
        </p:txBody>
      </p:sp>
      <p:sp>
        <p:nvSpPr>
          <p:cNvPr id="14" name="Text GreenBiz">
            <a:extLst>
              <a:ext uri="{FF2B5EF4-FFF2-40B4-BE49-F238E27FC236}">
                <a16:creationId xmlns:a16="http://schemas.microsoft.com/office/drawing/2014/main" id="{FF5290CC-77C7-9321-76AC-D6ECB6B36B5E}"/>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5" name="Text 02 / 25">
            <a:extLst>
              <a:ext uri="{FF2B5EF4-FFF2-40B4-BE49-F238E27FC236}">
                <a16:creationId xmlns:a16="http://schemas.microsoft.com/office/drawing/2014/main" id="{B707C5D7-746A-195F-8EAE-105E73B33D2D}"/>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02 / 25</a:t>
            </a:r>
          </a:p>
        </p:txBody>
      </p:sp>
      <p:sp>
        <p:nvSpPr>
          <p:cNvPr id="16" name="Text An active business needs&#10;a history it can ">
            <a:extLst>
              <a:ext uri="{FF2B5EF4-FFF2-40B4-BE49-F238E27FC236}">
                <a16:creationId xmlns:a16="http://schemas.microsoft.com/office/drawing/2014/main" id="{AC1D1DC5-375D-5F6C-5621-A01C08359C01}"/>
              </a:ext>
            </a:extLst>
          </p:cNvPr>
          <p:cNvSpPr txBox="1"/>
          <p:nvPr/>
        </p:nvSpPr>
        <p:spPr>
          <a:xfrm>
            <a:off x="609600" y="1803400"/>
            <a:ext cx="7810500" cy="1320800"/>
          </a:xfrm>
          <a:prstGeom prst="rect">
            <a:avLst/>
          </a:prstGeom>
          <a:noFill/>
        </p:spPr>
        <p:txBody>
          <a:bodyPr vert="horz" wrap="square" lIns="0" tIns="0" rIns="0" bIns="0" rtlCol="0">
            <a:noAutofit/>
          </a:bodyPr>
          <a:lstStyle/>
          <a:p>
            <a:r>
              <a:rPr lang="en-US" sz="3700" b="1">
                <a:solidFill>
                  <a:srgbClr val="F4F8FC"/>
                </a:solidFill>
                <a:latin typeface="Segoe UI" panose="020B0502040204020203" pitchFamily="34" charset="0"/>
              </a:rPr>
              <a:t>An active business needs</a:t>
            </a:r>
          </a:p>
          <a:p>
            <a:r>
              <a:rPr lang="en-US" sz="3700" b="1">
                <a:solidFill>
                  <a:srgbClr val="F4F8FC"/>
                </a:solidFill>
                <a:latin typeface="Segoe UI" panose="020B0502040204020203" pitchFamily="34" charset="0"/>
              </a:rPr>
              <a:t>a history it can explain.</a:t>
            </a:r>
          </a:p>
        </p:txBody>
      </p:sp>
      <p:sp>
        <p:nvSpPr>
          <p:cNvPr id="17" name="Text Scattered records">
            <a:extLst>
              <a:ext uri="{FF2B5EF4-FFF2-40B4-BE49-F238E27FC236}">
                <a16:creationId xmlns:a16="http://schemas.microsoft.com/office/drawing/2014/main" id="{ECCEA09D-EE0B-7CE1-A8C6-11F8CC5A88A1}"/>
              </a:ext>
            </a:extLst>
          </p:cNvPr>
          <p:cNvSpPr txBox="1"/>
          <p:nvPr/>
        </p:nvSpPr>
        <p:spPr>
          <a:xfrm>
            <a:off x="609600" y="3581400"/>
            <a:ext cx="6731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Scattered records</a:t>
            </a:r>
          </a:p>
        </p:txBody>
      </p:sp>
      <p:sp>
        <p:nvSpPr>
          <p:cNvPr id="18" name="Text Sales, stock and payment messages sit in d">
            <a:extLst>
              <a:ext uri="{FF2B5EF4-FFF2-40B4-BE49-F238E27FC236}">
                <a16:creationId xmlns:a16="http://schemas.microsoft.com/office/drawing/2014/main" id="{806C3C3B-3547-20C6-D351-E03399BD0B45}"/>
              </a:ext>
            </a:extLst>
          </p:cNvPr>
          <p:cNvSpPr txBox="1"/>
          <p:nvPr/>
        </p:nvSpPr>
        <p:spPr>
          <a:xfrm>
            <a:off x="609600" y="4203700"/>
            <a:ext cx="6731000" cy="762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Sales, stock and payment messages sit in different places.</a:t>
            </a:r>
          </a:p>
        </p:txBody>
      </p:sp>
      <p:sp>
        <p:nvSpPr>
          <p:cNvPr id="19" name="Text Mixed money">
            <a:extLst>
              <a:ext uri="{FF2B5EF4-FFF2-40B4-BE49-F238E27FC236}">
                <a16:creationId xmlns:a16="http://schemas.microsoft.com/office/drawing/2014/main" id="{DE269DC9-D36B-D8C0-3F21-B9A8EAB88C4A}"/>
              </a:ext>
            </a:extLst>
          </p:cNvPr>
          <p:cNvSpPr txBox="1"/>
          <p:nvPr/>
        </p:nvSpPr>
        <p:spPr>
          <a:xfrm>
            <a:off x="609600" y="4953000"/>
            <a:ext cx="6731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Mixed money</a:t>
            </a:r>
          </a:p>
        </p:txBody>
      </p:sp>
      <p:sp>
        <p:nvSpPr>
          <p:cNvPr id="20" name="Text Personal transfers can obscure business pe">
            <a:extLst>
              <a:ext uri="{FF2B5EF4-FFF2-40B4-BE49-F238E27FC236}">
                <a16:creationId xmlns:a16="http://schemas.microsoft.com/office/drawing/2014/main" id="{92F9029C-5E76-A096-DB31-8F9ABC1525A7}"/>
              </a:ext>
            </a:extLst>
          </p:cNvPr>
          <p:cNvSpPr txBox="1"/>
          <p:nvPr/>
        </p:nvSpPr>
        <p:spPr>
          <a:xfrm>
            <a:off x="609600" y="5575300"/>
            <a:ext cx="6731000" cy="825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Personal transfers can obscure business performance.</a:t>
            </a:r>
          </a:p>
        </p:txBody>
      </p:sp>
      <p:sp>
        <p:nvSpPr>
          <p:cNvPr id="21" name="!!HomePhone surround">
            <a:extLst>
              <a:ext uri="{FF2B5EF4-FFF2-40B4-BE49-F238E27FC236}">
                <a16:creationId xmlns:a16="http://schemas.microsoft.com/office/drawing/2014/main" id="{57CD8A7D-3434-D7CD-FA4D-B3673FD98B60}"/>
              </a:ext>
            </a:extLst>
          </p:cNvPr>
          <p:cNvSpPr/>
          <p:nvPr/>
        </p:nvSpPr>
        <p:spPr>
          <a:xfrm>
            <a:off x="9128247" y="1663700"/>
            <a:ext cx="2152406" cy="45466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HomePhone" descr="GreenBiz home screen, fictional sample data">
            <a:extLst>
              <a:ext uri="{FF2B5EF4-FFF2-40B4-BE49-F238E27FC236}">
                <a16:creationId xmlns:a16="http://schemas.microsoft.com/office/drawing/2014/main" id="{8979E3FC-60CE-CD60-B901-DD76034BDFB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179047" y="1714500"/>
            <a:ext cx="2050805" cy="4445000"/>
          </a:xfrm>
          <a:prstGeom prst="rect">
            <a:avLst/>
          </a:prstGeom>
        </p:spPr>
      </p:pic>
    </p:spTree>
    <p:extLst>
      <p:ext uri="{BB962C8B-B14F-4D97-AF65-F5344CB8AC3E}">
        <p14:creationId xmlns:p14="http://schemas.microsoft.com/office/powerpoint/2010/main" val="16631686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80"/>
                                        <p:tgtEl>
                                          <p:spTgt spid="16"/>
                                        </p:tgtEl>
                                      </p:cBhvr>
                                    </p:animEffect>
                                    <p:anim calcmode="lin" valueType="num">
                                      <p:cBhvr>
                                        <p:cTn id="13" dur="580" fill="hold"/>
                                        <p:tgtEl>
                                          <p:spTgt spid="16"/>
                                        </p:tgtEl>
                                        <p:attrNameLst>
                                          <p:attrName>ppt_x</p:attrName>
                                        </p:attrNameLst>
                                      </p:cBhvr>
                                      <p:tavLst>
                                        <p:tav tm="0">
                                          <p:val>
                                            <p:strVal val="#ppt_x"/>
                                          </p:val>
                                        </p:tav>
                                        <p:tav tm="100000">
                                          <p:val>
                                            <p:strVal val="#ppt_x"/>
                                          </p:val>
                                        </p:tav>
                                      </p:tavLst>
                                    </p:anim>
                                    <p:anim calcmode="lin" valueType="num">
                                      <p:cBhvr>
                                        <p:cTn id="14" dur="58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accel="15000" decel="2500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80"/>
                                        <p:tgtEl>
                                          <p:spTgt spid="17"/>
                                        </p:tgtEl>
                                      </p:cBhvr>
                                    </p:animEffect>
                                    <p:anim calcmode="lin" valueType="num">
                                      <p:cBhvr>
                                        <p:cTn id="20" dur="580" fill="hold"/>
                                        <p:tgtEl>
                                          <p:spTgt spid="17"/>
                                        </p:tgtEl>
                                        <p:attrNameLst>
                                          <p:attrName>ppt_x</p:attrName>
                                        </p:attrNameLst>
                                      </p:cBhvr>
                                      <p:tavLst>
                                        <p:tav tm="0">
                                          <p:val>
                                            <p:strVal val="#ppt_x"/>
                                          </p:val>
                                        </p:tav>
                                        <p:tav tm="100000">
                                          <p:val>
                                            <p:strVal val="#ppt_x"/>
                                          </p:val>
                                        </p:tav>
                                      </p:tavLst>
                                    </p:anim>
                                    <p:anim calcmode="lin" valueType="num">
                                      <p:cBhvr>
                                        <p:cTn id="21" dur="580" fill="hold"/>
                                        <p:tgtEl>
                                          <p:spTgt spid="17"/>
                                        </p:tgtEl>
                                        <p:attrNameLst>
                                          <p:attrName>ppt_y</p:attrName>
                                        </p:attrNameLst>
                                      </p:cBhvr>
                                      <p:tavLst>
                                        <p:tav tm="0">
                                          <p:val>
                                            <p:strVal val="#ppt_y+.1"/>
                                          </p:val>
                                        </p:tav>
                                        <p:tav tm="100000">
                                          <p:val>
                                            <p:strVal val="#ppt_y"/>
                                          </p:val>
                                        </p:tav>
                                      </p:tavLst>
                                    </p:anim>
                                  </p:childTnLst>
                                </p:cTn>
                              </p:par>
                              <p:par>
                                <p:cTn id="22" presetID="42" presetClass="entr" presetSubtype="0" accel="15000" decel="25000" fill="hold" grpId="0" nodeType="withEffect">
                                  <p:stCondLst>
                                    <p:cond delay="7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80"/>
                                        <p:tgtEl>
                                          <p:spTgt spid="18"/>
                                        </p:tgtEl>
                                      </p:cBhvr>
                                    </p:animEffect>
                                    <p:anim calcmode="lin" valueType="num">
                                      <p:cBhvr>
                                        <p:cTn id="25" dur="580" fill="hold"/>
                                        <p:tgtEl>
                                          <p:spTgt spid="18"/>
                                        </p:tgtEl>
                                        <p:attrNameLst>
                                          <p:attrName>ppt_x</p:attrName>
                                        </p:attrNameLst>
                                      </p:cBhvr>
                                      <p:tavLst>
                                        <p:tav tm="0">
                                          <p:val>
                                            <p:strVal val="#ppt_x"/>
                                          </p:val>
                                        </p:tav>
                                        <p:tav tm="100000">
                                          <p:val>
                                            <p:strVal val="#ppt_x"/>
                                          </p:val>
                                        </p:tav>
                                      </p:tavLst>
                                    </p:anim>
                                    <p:anim calcmode="lin" valueType="num">
                                      <p:cBhvr>
                                        <p:cTn id="26" dur="58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accel="15000" decel="2500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80"/>
                                        <p:tgtEl>
                                          <p:spTgt spid="19"/>
                                        </p:tgtEl>
                                      </p:cBhvr>
                                    </p:animEffect>
                                    <p:anim calcmode="lin" valueType="num">
                                      <p:cBhvr>
                                        <p:cTn id="32" dur="580" fill="hold"/>
                                        <p:tgtEl>
                                          <p:spTgt spid="19"/>
                                        </p:tgtEl>
                                        <p:attrNameLst>
                                          <p:attrName>ppt_x</p:attrName>
                                        </p:attrNameLst>
                                      </p:cBhvr>
                                      <p:tavLst>
                                        <p:tav tm="0">
                                          <p:val>
                                            <p:strVal val="#ppt_x"/>
                                          </p:val>
                                        </p:tav>
                                        <p:tav tm="100000">
                                          <p:val>
                                            <p:strVal val="#ppt_x"/>
                                          </p:val>
                                        </p:tav>
                                      </p:tavLst>
                                    </p:anim>
                                    <p:anim calcmode="lin" valueType="num">
                                      <p:cBhvr>
                                        <p:cTn id="33" dur="58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accel="15000" decel="25000" fill="hold" grpId="0" nodeType="withEffect">
                                  <p:stCondLst>
                                    <p:cond delay="7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80"/>
                                        <p:tgtEl>
                                          <p:spTgt spid="20"/>
                                        </p:tgtEl>
                                      </p:cBhvr>
                                    </p:animEffect>
                                    <p:anim calcmode="lin" valueType="num">
                                      <p:cBhvr>
                                        <p:cTn id="37" dur="580" fill="hold"/>
                                        <p:tgtEl>
                                          <p:spTgt spid="20"/>
                                        </p:tgtEl>
                                        <p:attrNameLst>
                                          <p:attrName>ppt_x</p:attrName>
                                        </p:attrNameLst>
                                      </p:cBhvr>
                                      <p:tavLst>
                                        <p:tav tm="0">
                                          <p:val>
                                            <p:strVal val="#ppt_x"/>
                                          </p:val>
                                        </p:tav>
                                        <p:tav tm="100000">
                                          <p:val>
                                            <p:strVal val="#ppt_x"/>
                                          </p:val>
                                        </p:tav>
                                      </p:tavLst>
                                    </p:anim>
                                    <p:anim calcmode="lin" valueType="num">
                                      <p:cBhvr>
                                        <p:cTn id="38" dur="58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sp>
        <p:nvSpPr>
          <p:cNvPr id="20" name="Text The daily business cycle">
            <a:extLst>
              <a:ext uri="{FF2B5EF4-FFF2-40B4-BE49-F238E27FC236}">
                <a16:creationId xmlns:a16="http://schemas.microsoft.com/office/drawing/2014/main" id="{1B08D4E7-AC98-996C-5490-B84E9E0CE983}"/>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The daily business cycle</a:t>
            </a:r>
          </a:p>
        </p:txBody>
      </p:sp>
      <p:sp>
        <p:nvSpPr>
          <p:cNvPr id="21" name="Text GreenBiz">
            <a:extLst>
              <a:ext uri="{FF2B5EF4-FFF2-40B4-BE49-F238E27FC236}">
                <a16:creationId xmlns:a16="http://schemas.microsoft.com/office/drawing/2014/main" id="{F4DA8197-B1DF-0B4A-6982-5C3479DCB5FE}"/>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22" name="Text 03 / 25">
            <a:extLst>
              <a:ext uri="{FF2B5EF4-FFF2-40B4-BE49-F238E27FC236}">
                <a16:creationId xmlns:a16="http://schemas.microsoft.com/office/drawing/2014/main" id="{8181ECFD-C064-6CA6-C58F-0AFBC4522056}"/>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03 / 25</a:t>
            </a:r>
          </a:p>
        </p:txBody>
      </p:sp>
      <p:sp>
        <p:nvSpPr>
          <p:cNvPr id="23" name="Text 01">
            <a:extLst>
              <a:ext uri="{FF2B5EF4-FFF2-40B4-BE49-F238E27FC236}">
                <a16:creationId xmlns:a16="http://schemas.microsoft.com/office/drawing/2014/main" id="{5A6EBCED-ECED-9C71-15AE-E4C72EEA3966}"/>
              </a:ext>
            </a:extLst>
          </p:cNvPr>
          <p:cNvSpPr txBox="1"/>
          <p:nvPr/>
        </p:nvSpPr>
        <p:spPr>
          <a:xfrm>
            <a:off x="609600" y="1981200"/>
            <a:ext cx="2489200" cy="9652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01</a:t>
            </a:r>
          </a:p>
        </p:txBody>
      </p:sp>
      <p:sp>
        <p:nvSpPr>
          <p:cNvPr id="24" name="Text Stock arrives">
            <a:extLst>
              <a:ext uri="{FF2B5EF4-FFF2-40B4-BE49-F238E27FC236}">
                <a16:creationId xmlns:a16="http://schemas.microsoft.com/office/drawing/2014/main" id="{18BA2DC3-AF0A-FAD7-5A32-07998A724760}"/>
              </a:ext>
            </a:extLst>
          </p:cNvPr>
          <p:cNvSpPr txBox="1"/>
          <p:nvPr/>
        </p:nvSpPr>
        <p:spPr>
          <a:xfrm>
            <a:off x="609600" y="3619500"/>
            <a:ext cx="2501900" cy="9525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Stock arrives</a:t>
            </a:r>
          </a:p>
        </p:txBody>
      </p:sp>
      <p:sp>
        <p:nvSpPr>
          <p:cNvPr id="25" name="Text Add measured items, prices and quantities.">
            <a:extLst>
              <a:ext uri="{FF2B5EF4-FFF2-40B4-BE49-F238E27FC236}">
                <a16:creationId xmlns:a16="http://schemas.microsoft.com/office/drawing/2014/main" id="{3D681307-9818-2122-48CF-C4C1CEA3F546}"/>
              </a:ext>
            </a:extLst>
          </p:cNvPr>
          <p:cNvSpPr txBox="1"/>
          <p:nvPr/>
        </p:nvSpPr>
        <p:spPr>
          <a:xfrm>
            <a:off x="609600" y="4762500"/>
            <a:ext cx="2501900" cy="1333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Add measured items, prices and quantities.</a:t>
            </a:r>
          </a:p>
        </p:txBody>
      </p:sp>
      <p:cxnSp>
        <p:nvCxnSpPr>
          <p:cNvPr id="26" name="Straight Arrow Connector 25">
            <a:extLst>
              <a:ext uri="{FF2B5EF4-FFF2-40B4-BE49-F238E27FC236}">
                <a16:creationId xmlns:a16="http://schemas.microsoft.com/office/drawing/2014/main" id="{7572C6F3-E8EA-1BB5-9D03-308CC6FFFE8A}"/>
              </a:ext>
            </a:extLst>
          </p:cNvPr>
          <p:cNvCxnSpPr/>
          <p:nvPr/>
        </p:nvCxnSpPr>
        <p:spPr>
          <a:xfrm>
            <a:off x="1816100" y="2628900"/>
            <a:ext cx="13970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Text 02">
            <a:extLst>
              <a:ext uri="{FF2B5EF4-FFF2-40B4-BE49-F238E27FC236}">
                <a16:creationId xmlns:a16="http://schemas.microsoft.com/office/drawing/2014/main" id="{34AD2EA0-DA80-056D-6E76-95747F1D70AB}"/>
              </a:ext>
            </a:extLst>
          </p:cNvPr>
          <p:cNvSpPr txBox="1"/>
          <p:nvPr/>
        </p:nvSpPr>
        <p:spPr>
          <a:xfrm>
            <a:off x="3429000" y="1981200"/>
            <a:ext cx="2489200" cy="9652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02</a:t>
            </a:r>
          </a:p>
        </p:txBody>
      </p:sp>
      <p:sp>
        <p:nvSpPr>
          <p:cNvPr id="28" name="Text A sale happens">
            <a:extLst>
              <a:ext uri="{FF2B5EF4-FFF2-40B4-BE49-F238E27FC236}">
                <a16:creationId xmlns:a16="http://schemas.microsoft.com/office/drawing/2014/main" id="{6A998B2A-84AD-F837-8E78-8F9E39CA24C6}"/>
              </a:ext>
            </a:extLst>
          </p:cNvPr>
          <p:cNvSpPr txBox="1"/>
          <p:nvPr/>
        </p:nvSpPr>
        <p:spPr>
          <a:xfrm>
            <a:off x="3429000" y="3619500"/>
            <a:ext cx="2501900" cy="9525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A sale happens</a:t>
            </a:r>
          </a:p>
        </p:txBody>
      </p:sp>
      <p:sp>
        <p:nvSpPr>
          <p:cNvPr id="29" name="Text Review products, quantities and payment me">
            <a:extLst>
              <a:ext uri="{FF2B5EF4-FFF2-40B4-BE49-F238E27FC236}">
                <a16:creationId xmlns:a16="http://schemas.microsoft.com/office/drawing/2014/main" id="{3D8D7701-2F3A-F0DE-C72C-3C1EB479A1C8}"/>
              </a:ext>
            </a:extLst>
          </p:cNvPr>
          <p:cNvSpPr txBox="1"/>
          <p:nvPr/>
        </p:nvSpPr>
        <p:spPr>
          <a:xfrm>
            <a:off x="3429000" y="4762500"/>
            <a:ext cx="2501900" cy="1333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Review products, quantities and payment method.</a:t>
            </a:r>
          </a:p>
        </p:txBody>
      </p:sp>
      <p:cxnSp>
        <p:nvCxnSpPr>
          <p:cNvPr id="30" name="Straight Arrow Connector 29">
            <a:extLst>
              <a:ext uri="{FF2B5EF4-FFF2-40B4-BE49-F238E27FC236}">
                <a16:creationId xmlns:a16="http://schemas.microsoft.com/office/drawing/2014/main" id="{34BD0A97-CEF7-6727-6E5F-6476588BAE8E}"/>
              </a:ext>
            </a:extLst>
          </p:cNvPr>
          <p:cNvCxnSpPr/>
          <p:nvPr/>
        </p:nvCxnSpPr>
        <p:spPr>
          <a:xfrm>
            <a:off x="4635500" y="2628900"/>
            <a:ext cx="13970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1" name="Text 03">
            <a:extLst>
              <a:ext uri="{FF2B5EF4-FFF2-40B4-BE49-F238E27FC236}">
                <a16:creationId xmlns:a16="http://schemas.microsoft.com/office/drawing/2014/main" id="{AD0CFE58-C72A-00B8-D31D-B4B23CC47325}"/>
              </a:ext>
            </a:extLst>
          </p:cNvPr>
          <p:cNvSpPr txBox="1"/>
          <p:nvPr/>
        </p:nvSpPr>
        <p:spPr>
          <a:xfrm>
            <a:off x="6248400" y="1981200"/>
            <a:ext cx="2489200" cy="9652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03</a:t>
            </a:r>
          </a:p>
        </p:txBody>
      </p:sp>
      <p:sp>
        <p:nvSpPr>
          <p:cNvPr id="32" name="Text Money is recorded">
            <a:extLst>
              <a:ext uri="{FF2B5EF4-FFF2-40B4-BE49-F238E27FC236}">
                <a16:creationId xmlns:a16="http://schemas.microsoft.com/office/drawing/2014/main" id="{E521ED77-DD7F-8FE3-613B-925E1235E6BB}"/>
              </a:ext>
            </a:extLst>
          </p:cNvPr>
          <p:cNvSpPr txBox="1"/>
          <p:nvPr/>
        </p:nvSpPr>
        <p:spPr>
          <a:xfrm>
            <a:off x="6248400" y="3619500"/>
            <a:ext cx="2501900" cy="9525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Money is recorded</a:t>
            </a:r>
          </a:p>
        </p:txBody>
      </p:sp>
      <p:sp>
        <p:nvSpPr>
          <p:cNvPr id="33" name="Text Link a receipt and classify business activ">
            <a:extLst>
              <a:ext uri="{FF2B5EF4-FFF2-40B4-BE49-F238E27FC236}">
                <a16:creationId xmlns:a16="http://schemas.microsoft.com/office/drawing/2014/main" id="{03719319-D33E-F0FF-4D54-22FDA90E2201}"/>
              </a:ext>
            </a:extLst>
          </p:cNvPr>
          <p:cNvSpPr txBox="1"/>
          <p:nvPr/>
        </p:nvSpPr>
        <p:spPr>
          <a:xfrm>
            <a:off x="6248400" y="4762500"/>
            <a:ext cx="2501900" cy="1333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Link a receipt and classify business activity.</a:t>
            </a:r>
          </a:p>
        </p:txBody>
      </p:sp>
      <p:cxnSp>
        <p:nvCxnSpPr>
          <p:cNvPr id="34" name="Straight Arrow Connector 33">
            <a:extLst>
              <a:ext uri="{FF2B5EF4-FFF2-40B4-BE49-F238E27FC236}">
                <a16:creationId xmlns:a16="http://schemas.microsoft.com/office/drawing/2014/main" id="{B4C208F1-551B-9F48-38D9-ECBFEDDED1DB}"/>
              </a:ext>
            </a:extLst>
          </p:cNvPr>
          <p:cNvCxnSpPr/>
          <p:nvPr/>
        </p:nvCxnSpPr>
        <p:spPr>
          <a:xfrm>
            <a:off x="7454900" y="2628900"/>
            <a:ext cx="13970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5" name="Text 04">
            <a:extLst>
              <a:ext uri="{FF2B5EF4-FFF2-40B4-BE49-F238E27FC236}">
                <a16:creationId xmlns:a16="http://schemas.microsoft.com/office/drawing/2014/main" id="{436949E4-CFBE-710B-70F4-20A116C51841}"/>
              </a:ext>
            </a:extLst>
          </p:cNvPr>
          <p:cNvSpPr txBox="1"/>
          <p:nvPr/>
        </p:nvSpPr>
        <p:spPr>
          <a:xfrm>
            <a:off x="9067800" y="1981200"/>
            <a:ext cx="2489200" cy="9652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04</a:t>
            </a:r>
          </a:p>
        </p:txBody>
      </p:sp>
      <p:sp>
        <p:nvSpPr>
          <p:cNvPr id="36" name="Text A history grows">
            <a:extLst>
              <a:ext uri="{FF2B5EF4-FFF2-40B4-BE49-F238E27FC236}">
                <a16:creationId xmlns:a16="http://schemas.microsoft.com/office/drawing/2014/main" id="{4ED235ED-214D-2429-3850-7D728F249A83}"/>
              </a:ext>
            </a:extLst>
          </p:cNvPr>
          <p:cNvSpPr txBox="1"/>
          <p:nvPr/>
        </p:nvSpPr>
        <p:spPr>
          <a:xfrm>
            <a:off x="9067800" y="3619500"/>
            <a:ext cx="2501900" cy="9525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A history grows</a:t>
            </a:r>
          </a:p>
        </p:txBody>
      </p:sp>
      <p:sp>
        <p:nvSpPr>
          <p:cNvPr id="37" name="Text Read trends and improve the business profi">
            <a:extLst>
              <a:ext uri="{FF2B5EF4-FFF2-40B4-BE49-F238E27FC236}">
                <a16:creationId xmlns:a16="http://schemas.microsoft.com/office/drawing/2014/main" id="{AE6279DE-C7D8-6ED6-1C81-30FFB5D97233}"/>
              </a:ext>
            </a:extLst>
          </p:cNvPr>
          <p:cNvSpPr txBox="1"/>
          <p:nvPr/>
        </p:nvSpPr>
        <p:spPr>
          <a:xfrm>
            <a:off x="9067800" y="4762500"/>
            <a:ext cx="2501900" cy="1333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Read trends and improve the business profile.</a:t>
            </a:r>
          </a:p>
        </p:txBody>
      </p:sp>
    </p:spTree>
    <p:extLst>
      <p:ext uri="{BB962C8B-B14F-4D97-AF65-F5344CB8AC3E}">
        <p14:creationId xmlns:p14="http://schemas.microsoft.com/office/powerpoint/2010/main" val="1284846308"/>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5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par>
                                <p:cTn id="13" presetID="22" presetClass="entr" presetSubtype="8" fill="hold" grpId="0" nodeType="withEffect">
                                  <p:stCondLst>
                                    <p:cond delay="7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par>
                                <p:cTn id="16" presetID="22" presetClass="entr" presetSubtype="8" fill="hold" grpId="0" nodeType="withEffect">
                                  <p:stCondLst>
                                    <p:cond delay="14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par>
                                <p:cTn id="19" presetID="22" presetClass="entr" presetSubtype="8" fill="hold" nodeType="withEffect">
                                  <p:stCondLst>
                                    <p:cond delay="21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500"/>
                                        <p:tgtEl>
                                          <p:spTgt spid="27"/>
                                        </p:tgtEl>
                                      </p:cBhvr>
                                    </p:animEffect>
                                  </p:childTnLst>
                                </p:cTn>
                              </p:par>
                              <p:par>
                                <p:cTn id="27" presetID="22" presetClass="entr" presetSubtype="8" fill="hold" grpId="0" nodeType="withEffect">
                                  <p:stCondLst>
                                    <p:cond delay="70"/>
                                  </p:stCondLst>
                                  <p:childTnLst>
                                    <p:set>
                                      <p:cBhvr>
                                        <p:cTn id="28" dur="1" fill="hold">
                                          <p:stCondLst>
                                            <p:cond delay="0"/>
                                          </p:stCondLst>
                                        </p:cTn>
                                        <p:tgtEl>
                                          <p:spTgt spid="28"/>
                                        </p:tgtEl>
                                        <p:attrNameLst>
                                          <p:attrName>style.visibility</p:attrName>
                                        </p:attrNameLst>
                                      </p:cBhvr>
                                      <p:to>
                                        <p:strVal val="visible"/>
                                      </p:to>
                                    </p:set>
                                    <p:animEffect transition="in" filter="wipe(left)">
                                      <p:cBhvr>
                                        <p:cTn id="29" dur="500"/>
                                        <p:tgtEl>
                                          <p:spTgt spid="28"/>
                                        </p:tgtEl>
                                      </p:cBhvr>
                                    </p:animEffect>
                                  </p:childTnLst>
                                </p:cTn>
                              </p:par>
                              <p:par>
                                <p:cTn id="30" presetID="22" presetClass="entr" presetSubtype="8" fill="hold" grpId="0" nodeType="withEffect">
                                  <p:stCondLst>
                                    <p:cond delay="14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par>
                                <p:cTn id="33" presetID="22" presetClass="entr" presetSubtype="8" fill="hold" nodeType="withEffect">
                                  <p:stCondLst>
                                    <p:cond delay="210"/>
                                  </p:stCondLst>
                                  <p:childTnLst>
                                    <p:set>
                                      <p:cBhvr>
                                        <p:cTn id="34" dur="1" fill="hold">
                                          <p:stCondLst>
                                            <p:cond delay="0"/>
                                          </p:stCondLst>
                                        </p:cTn>
                                        <p:tgtEl>
                                          <p:spTgt spid="30"/>
                                        </p:tgtEl>
                                        <p:attrNameLst>
                                          <p:attrName>style.visibility</p:attrName>
                                        </p:attrNameLst>
                                      </p:cBhvr>
                                      <p:to>
                                        <p:strVal val="visible"/>
                                      </p:to>
                                    </p:set>
                                    <p:animEffect transition="in" filter="wipe(left)">
                                      <p:cBhvr>
                                        <p:cTn id="35" dur="50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500"/>
                                        <p:tgtEl>
                                          <p:spTgt spid="31"/>
                                        </p:tgtEl>
                                      </p:cBhvr>
                                    </p:animEffect>
                                  </p:childTnLst>
                                </p:cTn>
                              </p:par>
                              <p:par>
                                <p:cTn id="41" presetID="22" presetClass="entr" presetSubtype="8" fill="hold" grpId="0" nodeType="withEffect">
                                  <p:stCondLst>
                                    <p:cond delay="70"/>
                                  </p:stCondLst>
                                  <p:childTnLst>
                                    <p:set>
                                      <p:cBhvr>
                                        <p:cTn id="42" dur="1" fill="hold">
                                          <p:stCondLst>
                                            <p:cond delay="0"/>
                                          </p:stCondLst>
                                        </p:cTn>
                                        <p:tgtEl>
                                          <p:spTgt spid="32"/>
                                        </p:tgtEl>
                                        <p:attrNameLst>
                                          <p:attrName>style.visibility</p:attrName>
                                        </p:attrNameLst>
                                      </p:cBhvr>
                                      <p:to>
                                        <p:strVal val="visible"/>
                                      </p:to>
                                    </p:set>
                                    <p:animEffect transition="in" filter="wipe(left)">
                                      <p:cBhvr>
                                        <p:cTn id="43" dur="500"/>
                                        <p:tgtEl>
                                          <p:spTgt spid="32"/>
                                        </p:tgtEl>
                                      </p:cBhvr>
                                    </p:animEffect>
                                  </p:childTnLst>
                                </p:cTn>
                              </p:par>
                              <p:par>
                                <p:cTn id="44" presetID="22" presetClass="entr" presetSubtype="8" fill="hold" grpId="0" nodeType="withEffect">
                                  <p:stCondLst>
                                    <p:cond delay="140"/>
                                  </p:stCondLst>
                                  <p:childTnLst>
                                    <p:set>
                                      <p:cBhvr>
                                        <p:cTn id="45" dur="1" fill="hold">
                                          <p:stCondLst>
                                            <p:cond delay="0"/>
                                          </p:stCondLst>
                                        </p:cTn>
                                        <p:tgtEl>
                                          <p:spTgt spid="33"/>
                                        </p:tgtEl>
                                        <p:attrNameLst>
                                          <p:attrName>style.visibility</p:attrName>
                                        </p:attrNameLst>
                                      </p:cBhvr>
                                      <p:to>
                                        <p:strVal val="visible"/>
                                      </p:to>
                                    </p:set>
                                    <p:animEffect transition="in" filter="wipe(left)">
                                      <p:cBhvr>
                                        <p:cTn id="46" dur="500"/>
                                        <p:tgtEl>
                                          <p:spTgt spid="33"/>
                                        </p:tgtEl>
                                      </p:cBhvr>
                                    </p:animEffect>
                                  </p:childTnLst>
                                </p:cTn>
                              </p:par>
                              <p:par>
                                <p:cTn id="47" presetID="22" presetClass="entr" presetSubtype="8" fill="hold" nodeType="withEffect">
                                  <p:stCondLst>
                                    <p:cond delay="210"/>
                                  </p:stCondLst>
                                  <p:childTnLst>
                                    <p:set>
                                      <p:cBhvr>
                                        <p:cTn id="48" dur="1" fill="hold">
                                          <p:stCondLst>
                                            <p:cond delay="0"/>
                                          </p:stCondLst>
                                        </p:cTn>
                                        <p:tgtEl>
                                          <p:spTgt spid="34"/>
                                        </p:tgtEl>
                                        <p:attrNameLst>
                                          <p:attrName>style.visibility</p:attrName>
                                        </p:attrNameLst>
                                      </p:cBhvr>
                                      <p:to>
                                        <p:strVal val="visible"/>
                                      </p:to>
                                    </p:set>
                                    <p:animEffect transition="in" filter="wipe(left)">
                                      <p:cBhvr>
                                        <p:cTn id="49" dur="500"/>
                                        <p:tgtEl>
                                          <p:spTgt spid="3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wipe(left)">
                                      <p:cBhvr>
                                        <p:cTn id="54" dur="500"/>
                                        <p:tgtEl>
                                          <p:spTgt spid="35"/>
                                        </p:tgtEl>
                                      </p:cBhvr>
                                    </p:animEffect>
                                  </p:childTnLst>
                                </p:cTn>
                              </p:par>
                              <p:par>
                                <p:cTn id="55" presetID="22" presetClass="entr" presetSubtype="8" fill="hold" grpId="0" nodeType="withEffect">
                                  <p:stCondLst>
                                    <p:cond delay="70"/>
                                  </p:stCondLst>
                                  <p:childTnLst>
                                    <p:set>
                                      <p:cBhvr>
                                        <p:cTn id="56" dur="1" fill="hold">
                                          <p:stCondLst>
                                            <p:cond delay="0"/>
                                          </p:stCondLst>
                                        </p:cTn>
                                        <p:tgtEl>
                                          <p:spTgt spid="36"/>
                                        </p:tgtEl>
                                        <p:attrNameLst>
                                          <p:attrName>style.visibility</p:attrName>
                                        </p:attrNameLst>
                                      </p:cBhvr>
                                      <p:to>
                                        <p:strVal val="visible"/>
                                      </p:to>
                                    </p:set>
                                    <p:animEffect transition="in" filter="wipe(left)">
                                      <p:cBhvr>
                                        <p:cTn id="57" dur="500"/>
                                        <p:tgtEl>
                                          <p:spTgt spid="36"/>
                                        </p:tgtEl>
                                      </p:cBhvr>
                                    </p:animEffect>
                                  </p:childTnLst>
                                </p:cTn>
                              </p:par>
                              <p:par>
                                <p:cTn id="58" presetID="22" presetClass="entr" presetSubtype="8" fill="hold" grpId="0" nodeType="withEffect">
                                  <p:stCondLst>
                                    <p:cond delay="140"/>
                                  </p:stCondLst>
                                  <p:childTnLst>
                                    <p:set>
                                      <p:cBhvr>
                                        <p:cTn id="59" dur="1" fill="hold">
                                          <p:stCondLst>
                                            <p:cond delay="0"/>
                                          </p:stCondLst>
                                        </p:cTn>
                                        <p:tgtEl>
                                          <p:spTgt spid="37"/>
                                        </p:tgtEl>
                                        <p:attrNameLst>
                                          <p:attrName>style.visibility</p:attrName>
                                        </p:attrNameLst>
                                      </p:cBhvr>
                                      <p:to>
                                        <p:strVal val="visible"/>
                                      </p:to>
                                    </p:set>
                                    <p:animEffect transition="in" filter="wipe(left)">
                                      <p:cBhvr>
                                        <p:cTn id="6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P spid="24" grpId="0"/>
      <p:bldP spid="25" grpId="0"/>
      <p:bldP spid="27" grpId="0"/>
      <p:bldP spid="28" grpId="0"/>
      <p:bldP spid="29" grpId="0"/>
      <p:bldP spid="31" grpId="0"/>
      <p:bldP spid="32" grpId="0"/>
      <p:bldP spid="33" grpId="0"/>
      <p:bldP spid="35" grpId="0"/>
      <p:bldP spid="36" grpId="0"/>
      <p:bldP spid="3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7" name="Text The full product at a glance">
            <a:extLst>
              <a:ext uri="{FF2B5EF4-FFF2-40B4-BE49-F238E27FC236}">
                <a16:creationId xmlns:a16="http://schemas.microsoft.com/office/drawing/2014/main" id="{4DCE7D1C-B40A-867E-7C66-4D68146ADB7D}"/>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The full product at a glance</a:t>
            </a:r>
          </a:p>
        </p:txBody>
      </p:sp>
      <p:sp>
        <p:nvSpPr>
          <p:cNvPr id="18" name="Text GreenBiz">
            <a:extLst>
              <a:ext uri="{FF2B5EF4-FFF2-40B4-BE49-F238E27FC236}">
                <a16:creationId xmlns:a16="http://schemas.microsoft.com/office/drawing/2014/main" id="{77C985B3-9725-46B4-BC10-EF5E2598F72F}"/>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9" name="Text 04 / 25">
            <a:extLst>
              <a:ext uri="{FF2B5EF4-FFF2-40B4-BE49-F238E27FC236}">
                <a16:creationId xmlns:a16="http://schemas.microsoft.com/office/drawing/2014/main" id="{E918FC1F-7D75-08B8-1B38-B9322EC14CA9}"/>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04 / 25</a:t>
            </a:r>
          </a:p>
        </p:txBody>
      </p:sp>
      <p:sp>
        <p:nvSpPr>
          <p:cNvPr id="20" name="Text Separate shops">
            <a:extLst>
              <a:ext uri="{FF2B5EF4-FFF2-40B4-BE49-F238E27FC236}">
                <a16:creationId xmlns:a16="http://schemas.microsoft.com/office/drawing/2014/main" id="{B1653CF7-0872-6A71-34AE-82BABF957012}"/>
              </a:ext>
            </a:extLst>
          </p:cNvPr>
          <p:cNvSpPr txBox="1"/>
          <p:nvPr/>
        </p:nvSpPr>
        <p:spPr>
          <a:xfrm>
            <a:off x="609600" y="1727200"/>
            <a:ext cx="51943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Separate shops</a:t>
            </a:r>
          </a:p>
        </p:txBody>
      </p:sp>
      <p:sp>
        <p:nvSpPr>
          <p:cNvPr id="21" name="Text Each business keeps its own workspace.">
            <a:extLst>
              <a:ext uri="{FF2B5EF4-FFF2-40B4-BE49-F238E27FC236}">
                <a16:creationId xmlns:a16="http://schemas.microsoft.com/office/drawing/2014/main" id="{F4F820A9-0788-B2A5-3444-606BA8D482B3}"/>
              </a:ext>
            </a:extLst>
          </p:cNvPr>
          <p:cNvSpPr txBox="1"/>
          <p:nvPr/>
        </p:nvSpPr>
        <p:spPr>
          <a:xfrm>
            <a:off x="609600" y="2349500"/>
            <a:ext cx="5194300" cy="838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Each business keeps its own workspace.</a:t>
            </a:r>
          </a:p>
        </p:txBody>
      </p:sp>
      <p:sp>
        <p:nvSpPr>
          <p:cNvPr id="22" name="Text Stock and checkout">
            <a:extLst>
              <a:ext uri="{FF2B5EF4-FFF2-40B4-BE49-F238E27FC236}">
                <a16:creationId xmlns:a16="http://schemas.microsoft.com/office/drawing/2014/main" id="{9984EA74-5F1D-9987-B5AA-58A5524263F9}"/>
              </a:ext>
            </a:extLst>
          </p:cNvPr>
          <p:cNvSpPr txBox="1"/>
          <p:nvPr/>
        </p:nvSpPr>
        <p:spPr>
          <a:xfrm>
            <a:off x="6324600" y="1727200"/>
            <a:ext cx="51943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Stock and checkout</a:t>
            </a:r>
          </a:p>
        </p:txBody>
      </p:sp>
      <p:sp>
        <p:nvSpPr>
          <p:cNvPr id="23" name="Text Measured quantities and linked stock updat">
            <a:extLst>
              <a:ext uri="{FF2B5EF4-FFF2-40B4-BE49-F238E27FC236}">
                <a16:creationId xmlns:a16="http://schemas.microsoft.com/office/drawing/2014/main" id="{6E559278-8ED0-1243-976E-155277179162}"/>
              </a:ext>
            </a:extLst>
          </p:cNvPr>
          <p:cNvSpPr txBox="1"/>
          <p:nvPr/>
        </p:nvSpPr>
        <p:spPr>
          <a:xfrm>
            <a:off x="6324600" y="2349500"/>
            <a:ext cx="5194300" cy="838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Measured quantities and linked stock updates.</a:t>
            </a:r>
          </a:p>
        </p:txBody>
      </p:sp>
      <p:sp>
        <p:nvSpPr>
          <p:cNvPr id="24" name="Text Payments and expenses">
            <a:extLst>
              <a:ext uri="{FF2B5EF4-FFF2-40B4-BE49-F238E27FC236}">
                <a16:creationId xmlns:a16="http://schemas.microsoft.com/office/drawing/2014/main" id="{3C3D1A87-A584-1D23-F155-BA4B1D8FB8FD}"/>
              </a:ext>
            </a:extLst>
          </p:cNvPr>
          <p:cNvSpPr txBox="1"/>
          <p:nvPr/>
        </p:nvSpPr>
        <p:spPr>
          <a:xfrm>
            <a:off x="609600" y="3225800"/>
            <a:ext cx="51943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Payments and expenses</a:t>
            </a:r>
          </a:p>
        </p:txBody>
      </p:sp>
      <p:sp>
        <p:nvSpPr>
          <p:cNvPr id="25" name="Text SMS review, manual records and classificat">
            <a:extLst>
              <a:ext uri="{FF2B5EF4-FFF2-40B4-BE49-F238E27FC236}">
                <a16:creationId xmlns:a16="http://schemas.microsoft.com/office/drawing/2014/main" id="{E88C02A6-83EB-335E-0476-907AADE82E47}"/>
              </a:ext>
            </a:extLst>
          </p:cNvPr>
          <p:cNvSpPr txBox="1"/>
          <p:nvPr/>
        </p:nvSpPr>
        <p:spPr>
          <a:xfrm>
            <a:off x="609600" y="3848100"/>
            <a:ext cx="5194300" cy="838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SMS review, manual records and classifications.</a:t>
            </a:r>
          </a:p>
        </p:txBody>
      </p:sp>
      <p:sp>
        <p:nvSpPr>
          <p:cNvPr id="26" name="Text Reports">
            <a:extLst>
              <a:ext uri="{FF2B5EF4-FFF2-40B4-BE49-F238E27FC236}">
                <a16:creationId xmlns:a16="http://schemas.microsoft.com/office/drawing/2014/main" id="{8628F92E-0F18-D333-DADF-1693B90FD53B}"/>
              </a:ext>
            </a:extLst>
          </p:cNvPr>
          <p:cNvSpPr txBox="1"/>
          <p:nvPr/>
        </p:nvSpPr>
        <p:spPr>
          <a:xfrm>
            <a:off x="6324600" y="3225800"/>
            <a:ext cx="51943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Reports</a:t>
            </a:r>
          </a:p>
        </p:txBody>
      </p:sp>
      <p:sp>
        <p:nvSpPr>
          <p:cNvPr id="27" name="Text Period trends, comparisons and exports.">
            <a:extLst>
              <a:ext uri="{FF2B5EF4-FFF2-40B4-BE49-F238E27FC236}">
                <a16:creationId xmlns:a16="http://schemas.microsoft.com/office/drawing/2014/main" id="{CA43E63A-CA29-BC24-0E73-D1F232B1F720}"/>
              </a:ext>
            </a:extLst>
          </p:cNvPr>
          <p:cNvSpPr txBox="1"/>
          <p:nvPr/>
        </p:nvSpPr>
        <p:spPr>
          <a:xfrm>
            <a:off x="6324600" y="3848100"/>
            <a:ext cx="5194300" cy="838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Period trends, comparisons and exports.</a:t>
            </a:r>
          </a:p>
        </p:txBody>
      </p:sp>
      <p:sp>
        <p:nvSpPr>
          <p:cNvPr id="28" name="Text Credit and loan plans">
            <a:extLst>
              <a:ext uri="{FF2B5EF4-FFF2-40B4-BE49-F238E27FC236}">
                <a16:creationId xmlns:a16="http://schemas.microsoft.com/office/drawing/2014/main" id="{340F7C73-05E2-6E92-AC0B-7018888DBBD5}"/>
              </a:ext>
            </a:extLst>
          </p:cNvPr>
          <p:cNvSpPr txBox="1"/>
          <p:nvPr/>
        </p:nvSpPr>
        <p:spPr>
          <a:xfrm>
            <a:off x="609600" y="4724400"/>
            <a:ext cx="51943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Credit and loan plans</a:t>
            </a:r>
          </a:p>
        </p:txBody>
      </p:sp>
      <p:sp>
        <p:nvSpPr>
          <p:cNvPr id="29" name="Text Explainable indicators and published-term ">
            <a:extLst>
              <a:ext uri="{FF2B5EF4-FFF2-40B4-BE49-F238E27FC236}">
                <a16:creationId xmlns:a16="http://schemas.microsoft.com/office/drawing/2014/main" id="{1C3C0423-9DA7-C21F-A82E-1F30B0BE7741}"/>
              </a:ext>
            </a:extLst>
          </p:cNvPr>
          <p:cNvSpPr txBox="1"/>
          <p:nvPr/>
        </p:nvSpPr>
        <p:spPr>
          <a:xfrm>
            <a:off x="609600" y="5346700"/>
            <a:ext cx="5194300" cy="838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Explainable indicators and published-term estimates.</a:t>
            </a:r>
          </a:p>
        </p:txBody>
      </p:sp>
      <p:sp>
        <p:nvSpPr>
          <p:cNvPr id="30" name="Text AI assistance">
            <a:extLst>
              <a:ext uri="{FF2B5EF4-FFF2-40B4-BE49-F238E27FC236}">
                <a16:creationId xmlns:a16="http://schemas.microsoft.com/office/drawing/2014/main" id="{EFB0E0D8-077C-958E-2BA7-5E98774591E2}"/>
              </a:ext>
            </a:extLst>
          </p:cNvPr>
          <p:cNvSpPr txBox="1"/>
          <p:nvPr/>
        </p:nvSpPr>
        <p:spPr>
          <a:xfrm>
            <a:off x="6324600" y="4724400"/>
            <a:ext cx="51943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AI assistance</a:t>
            </a:r>
          </a:p>
        </p:txBody>
      </p:sp>
      <p:sp>
        <p:nvSpPr>
          <p:cNvPr id="31" name="Text Photo drafts, sale matching and advice.">
            <a:extLst>
              <a:ext uri="{FF2B5EF4-FFF2-40B4-BE49-F238E27FC236}">
                <a16:creationId xmlns:a16="http://schemas.microsoft.com/office/drawing/2014/main" id="{9E0FD3D6-E126-BCCE-999B-52ACB776B290}"/>
              </a:ext>
            </a:extLst>
          </p:cNvPr>
          <p:cNvSpPr txBox="1"/>
          <p:nvPr/>
        </p:nvSpPr>
        <p:spPr>
          <a:xfrm>
            <a:off x="6324600" y="5346700"/>
            <a:ext cx="5194300" cy="838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Photo drafts, sale matching and advice.</a:t>
            </a:r>
          </a:p>
        </p:txBody>
      </p:sp>
    </p:spTree>
    <p:extLst>
      <p:ext uri="{BB962C8B-B14F-4D97-AF65-F5344CB8AC3E}">
        <p14:creationId xmlns:p14="http://schemas.microsoft.com/office/powerpoint/2010/main" val="1490803438"/>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5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80"/>
                                        <p:tgtEl>
                                          <p:spTgt spid="20"/>
                                        </p:tgtEl>
                                      </p:cBhvr>
                                    </p:animEffect>
                                    <p:anim calcmode="lin" valueType="num">
                                      <p:cBhvr>
                                        <p:cTn id="13" dur="580" fill="hold"/>
                                        <p:tgtEl>
                                          <p:spTgt spid="20"/>
                                        </p:tgtEl>
                                        <p:attrNameLst>
                                          <p:attrName>ppt_x</p:attrName>
                                        </p:attrNameLst>
                                      </p:cBhvr>
                                      <p:tavLst>
                                        <p:tav tm="0">
                                          <p:val>
                                            <p:strVal val="#ppt_x"/>
                                          </p:val>
                                        </p:tav>
                                        <p:tav tm="100000">
                                          <p:val>
                                            <p:strVal val="#ppt_x"/>
                                          </p:val>
                                        </p:tav>
                                      </p:tavLst>
                                    </p:anim>
                                    <p:anim calcmode="lin" valueType="num">
                                      <p:cBhvr>
                                        <p:cTn id="14" dur="58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80"/>
                                        <p:tgtEl>
                                          <p:spTgt spid="21"/>
                                        </p:tgtEl>
                                      </p:cBhvr>
                                    </p:animEffect>
                                    <p:anim calcmode="lin" valueType="num">
                                      <p:cBhvr>
                                        <p:cTn id="18" dur="580" fill="hold"/>
                                        <p:tgtEl>
                                          <p:spTgt spid="21"/>
                                        </p:tgtEl>
                                        <p:attrNameLst>
                                          <p:attrName>ppt_x</p:attrName>
                                        </p:attrNameLst>
                                      </p:cBhvr>
                                      <p:tavLst>
                                        <p:tav tm="0">
                                          <p:val>
                                            <p:strVal val="#ppt_x"/>
                                          </p:val>
                                        </p:tav>
                                        <p:tav tm="100000">
                                          <p:val>
                                            <p:strVal val="#ppt_x"/>
                                          </p:val>
                                        </p:tav>
                                      </p:tavLst>
                                    </p:anim>
                                    <p:anim calcmode="lin" valueType="num">
                                      <p:cBhvr>
                                        <p:cTn id="19" dur="58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80"/>
                                        <p:tgtEl>
                                          <p:spTgt spid="22"/>
                                        </p:tgtEl>
                                      </p:cBhvr>
                                    </p:animEffect>
                                    <p:anim calcmode="lin" valueType="num">
                                      <p:cBhvr>
                                        <p:cTn id="25" dur="580" fill="hold"/>
                                        <p:tgtEl>
                                          <p:spTgt spid="22"/>
                                        </p:tgtEl>
                                        <p:attrNameLst>
                                          <p:attrName>ppt_x</p:attrName>
                                        </p:attrNameLst>
                                      </p:cBhvr>
                                      <p:tavLst>
                                        <p:tav tm="0">
                                          <p:val>
                                            <p:strVal val="#ppt_x"/>
                                          </p:val>
                                        </p:tav>
                                        <p:tav tm="100000">
                                          <p:val>
                                            <p:strVal val="#ppt_x"/>
                                          </p:val>
                                        </p:tav>
                                      </p:tavLst>
                                    </p:anim>
                                    <p:anim calcmode="lin" valueType="num">
                                      <p:cBhvr>
                                        <p:cTn id="26" dur="580" fill="hold"/>
                                        <p:tgtEl>
                                          <p:spTgt spid="22"/>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80"/>
                                        <p:tgtEl>
                                          <p:spTgt spid="23"/>
                                        </p:tgtEl>
                                      </p:cBhvr>
                                    </p:animEffect>
                                    <p:anim calcmode="lin" valueType="num">
                                      <p:cBhvr>
                                        <p:cTn id="30" dur="580" fill="hold"/>
                                        <p:tgtEl>
                                          <p:spTgt spid="23"/>
                                        </p:tgtEl>
                                        <p:attrNameLst>
                                          <p:attrName>ppt_x</p:attrName>
                                        </p:attrNameLst>
                                      </p:cBhvr>
                                      <p:tavLst>
                                        <p:tav tm="0">
                                          <p:val>
                                            <p:strVal val="#ppt_x"/>
                                          </p:val>
                                        </p:tav>
                                        <p:tav tm="100000">
                                          <p:val>
                                            <p:strVal val="#ppt_x"/>
                                          </p:val>
                                        </p:tav>
                                      </p:tavLst>
                                    </p:anim>
                                    <p:anim calcmode="lin" valueType="num">
                                      <p:cBhvr>
                                        <p:cTn id="31" dur="58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accel="15000" decel="2500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80"/>
                                        <p:tgtEl>
                                          <p:spTgt spid="24"/>
                                        </p:tgtEl>
                                      </p:cBhvr>
                                    </p:animEffect>
                                    <p:anim calcmode="lin" valueType="num">
                                      <p:cBhvr>
                                        <p:cTn id="37" dur="580" fill="hold"/>
                                        <p:tgtEl>
                                          <p:spTgt spid="24"/>
                                        </p:tgtEl>
                                        <p:attrNameLst>
                                          <p:attrName>ppt_x</p:attrName>
                                        </p:attrNameLst>
                                      </p:cBhvr>
                                      <p:tavLst>
                                        <p:tav tm="0">
                                          <p:val>
                                            <p:strVal val="#ppt_x"/>
                                          </p:val>
                                        </p:tav>
                                        <p:tav tm="100000">
                                          <p:val>
                                            <p:strVal val="#ppt_x"/>
                                          </p:val>
                                        </p:tav>
                                      </p:tavLst>
                                    </p:anim>
                                    <p:anim calcmode="lin" valueType="num">
                                      <p:cBhvr>
                                        <p:cTn id="38" dur="580" fill="hold"/>
                                        <p:tgtEl>
                                          <p:spTgt spid="24"/>
                                        </p:tgtEl>
                                        <p:attrNameLst>
                                          <p:attrName>ppt_y</p:attrName>
                                        </p:attrNameLst>
                                      </p:cBhvr>
                                      <p:tavLst>
                                        <p:tav tm="0">
                                          <p:val>
                                            <p:strVal val="#ppt_y+.1"/>
                                          </p:val>
                                        </p:tav>
                                        <p:tav tm="100000">
                                          <p:val>
                                            <p:strVal val="#ppt_y"/>
                                          </p:val>
                                        </p:tav>
                                      </p:tavLst>
                                    </p:anim>
                                  </p:childTnLst>
                                </p:cTn>
                              </p:par>
                              <p:par>
                                <p:cTn id="39" presetID="42" presetClass="entr" presetSubtype="0" accel="15000" decel="25000" fill="hold" grpId="0" nodeType="withEffect">
                                  <p:stCondLst>
                                    <p:cond delay="7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580"/>
                                        <p:tgtEl>
                                          <p:spTgt spid="25"/>
                                        </p:tgtEl>
                                      </p:cBhvr>
                                    </p:animEffect>
                                    <p:anim calcmode="lin" valueType="num">
                                      <p:cBhvr>
                                        <p:cTn id="42" dur="580" fill="hold"/>
                                        <p:tgtEl>
                                          <p:spTgt spid="25"/>
                                        </p:tgtEl>
                                        <p:attrNameLst>
                                          <p:attrName>ppt_x</p:attrName>
                                        </p:attrNameLst>
                                      </p:cBhvr>
                                      <p:tavLst>
                                        <p:tav tm="0">
                                          <p:val>
                                            <p:strVal val="#ppt_x"/>
                                          </p:val>
                                        </p:tav>
                                        <p:tav tm="100000">
                                          <p:val>
                                            <p:strVal val="#ppt_x"/>
                                          </p:val>
                                        </p:tav>
                                      </p:tavLst>
                                    </p:anim>
                                    <p:anim calcmode="lin" valueType="num">
                                      <p:cBhvr>
                                        <p:cTn id="43" dur="58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accel="15000" decel="25000"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80"/>
                                        <p:tgtEl>
                                          <p:spTgt spid="26"/>
                                        </p:tgtEl>
                                      </p:cBhvr>
                                    </p:animEffect>
                                    <p:anim calcmode="lin" valueType="num">
                                      <p:cBhvr>
                                        <p:cTn id="49" dur="580" fill="hold"/>
                                        <p:tgtEl>
                                          <p:spTgt spid="26"/>
                                        </p:tgtEl>
                                        <p:attrNameLst>
                                          <p:attrName>ppt_x</p:attrName>
                                        </p:attrNameLst>
                                      </p:cBhvr>
                                      <p:tavLst>
                                        <p:tav tm="0">
                                          <p:val>
                                            <p:strVal val="#ppt_x"/>
                                          </p:val>
                                        </p:tav>
                                        <p:tav tm="100000">
                                          <p:val>
                                            <p:strVal val="#ppt_x"/>
                                          </p:val>
                                        </p:tav>
                                      </p:tavLst>
                                    </p:anim>
                                    <p:anim calcmode="lin" valueType="num">
                                      <p:cBhvr>
                                        <p:cTn id="50" dur="580" fill="hold"/>
                                        <p:tgtEl>
                                          <p:spTgt spid="26"/>
                                        </p:tgtEl>
                                        <p:attrNameLst>
                                          <p:attrName>ppt_y</p:attrName>
                                        </p:attrNameLst>
                                      </p:cBhvr>
                                      <p:tavLst>
                                        <p:tav tm="0">
                                          <p:val>
                                            <p:strVal val="#ppt_y+.1"/>
                                          </p:val>
                                        </p:tav>
                                        <p:tav tm="100000">
                                          <p:val>
                                            <p:strVal val="#ppt_y"/>
                                          </p:val>
                                        </p:tav>
                                      </p:tavLst>
                                    </p:anim>
                                  </p:childTnLst>
                                </p:cTn>
                              </p:par>
                              <p:par>
                                <p:cTn id="51" presetID="42" presetClass="entr" presetSubtype="0" accel="15000" decel="25000" fill="hold" grpId="0" nodeType="withEffect">
                                  <p:stCondLst>
                                    <p:cond delay="7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580"/>
                                        <p:tgtEl>
                                          <p:spTgt spid="27"/>
                                        </p:tgtEl>
                                      </p:cBhvr>
                                    </p:animEffect>
                                    <p:anim calcmode="lin" valueType="num">
                                      <p:cBhvr>
                                        <p:cTn id="54" dur="580" fill="hold"/>
                                        <p:tgtEl>
                                          <p:spTgt spid="27"/>
                                        </p:tgtEl>
                                        <p:attrNameLst>
                                          <p:attrName>ppt_x</p:attrName>
                                        </p:attrNameLst>
                                      </p:cBhvr>
                                      <p:tavLst>
                                        <p:tav tm="0">
                                          <p:val>
                                            <p:strVal val="#ppt_x"/>
                                          </p:val>
                                        </p:tav>
                                        <p:tav tm="100000">
                                          <p:val>
                                            <p:strVal val="#ppt_x"/>
                                          </p:val>
                                        </p:tav>
                                      </p:tavLst>
                                    </p:anim>
                                    <p:anim calcmode="lin" valueType="num">
                                      <p:cBhvr>
                                        <p:cTn id="55" dur="58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accel="15000" decel="25000" fill="hold" grpId="0" nodeType="click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580"/>
                                        <p:tgtEl>
                                          <p:spTgt spid="28"/>
                                        </p:tgtEl>
                                      </p:cBhvr>
                                    </p:animEffect>
                                    <p:anim calcmode="lin" valueType="num">
                                      <p:cBhvr>
                                        <p:cTn id="61" dur="580" fill="hold"/>
                                        <p:tgtEl>
                                          <p:spTgt spid="28"/>
                                        </p:tgtEl>
                                        <p:attrNameLst>
                                          <p:attrName>ppt_x</p:attrName>
                                        </p:attrNameLst>
                                      </p:cBhvr>
                                      <p:tavLst>
                                        <p:tav tm="0">
                                          <p:val>
                                            <p:strVal val="#ppt_x"/>
                                          </p:val>
                                        </p:tav>
                                        <p:tav tm="100000">
                                          <p:val>
                                            <p:strVal val="#ppt_x"/>
                                          </p:val>
                                        </p:tav>
                                      </p:tavLst>
                                    </p:anim>
                                    <p:anim calcmode="lin" valueType="num">
                                      <p:cBhvr>
                                        <p:cTn id="62" dur="580" fill="hold"/>
                                        <p:tgtEl>
                                          <p:spTgt spid="28"/>
                                        </p:tgtEl>
                                        <p:attrNameLst>
                                          <p:attrName>ppt_y</p:attrName>
                                        </p:attrNameLst>
                                      </p:cBhvr>
                                      <p:tavLst>
                                        <p:tav tm="0">
                                          <p:val>
                                            <p:strVal val="#ppt_y+.1"/>
                                          </p:val>
                                        </p:tav>
                                        <p:tav tm="100000">
                                          <p:val>
                                            <p:strVal val="#ppt_y"/>
                                          </p:val>
                                        </p:tav>
                                      </p:tavLst>
                                    </p:anim>
                                  </p:childTnLst>
                                </p:cTn>
                              </p:par>
                              <p:par>
                                <p:cTn id="63" presetID="42" presetClass="entr" presetSubtype="0" accel="15000" decel="25000" fill="hold" grpId="0" nodeType="withEffect">
                                  <p:stCondLst>
                                    <p:cond delay="7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580"/>
                                        <p:tgtEl>
                                          <p:spTgt spid="29"/>
                                        </p:tgtEl>
                                      </p:cBhvr>
                                    </p:animEffect>
                                    <p:anim calcmode="lin" valueType="num">
                                      <p:cBhvr>
                                        <p:cTn id="66" dur="580" fill="hold"/>
                                        <p:tgtEl>
                                          <p:spTgt spid="29"/>
                                        </p:tgtEl>
                                        <p:attrNameLst>
                                          <p:attrName>ppt_x</p:attrName>
                                        </p:attrNameLst>
                                      </p:cBhvr>
                                      <p:tavLst>
                                        <p:tav tm="0">
                                          <p:val>
                                            <p:strVal val="#ppt_x"/>
                                          </p:val>
                                        </p:tav>
                                        <p:tav tm="100000">
                                          <p:val>
                                            <p:strVal val="#ppt_x"/>
                                          </p:val>
                                        </p:tav>
                                      </p:tavLst>
                                    </p:anim>
                                    <p:anim calcmode="lin" valueType="num">
                                      <p:cBhvr>
                                        <p:cTn id="67" dur="58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accel="15000" decel="25000"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80"/>
                                        <p:tgtEl>
                                          <p:spTgt spid="30"/>
                                        </p:tgtEl>
                                      </p:cBhvr>
                                    </p:animEffect>
                                    <p:anim calcmode="lin" valueType="num">
                                      <p:cBhvr>
                                        <p:cTn id="73" dur="580" fill="hold"/>
                                        <p:tgtEl>
                                          <p:spTgt spid="30"/>
                                        </p:tgtEl>
                                        <p:attrNameLst>
                                          <p:attrName>ppt_x</p:attrName>
                                        </p:attrNameLst>
                                      </p:cBhvr>
                                      <p:tavLst>
                                        <p:tav tm="0">
                                          <p:val>
                                            <p:strVal val="#ppt_x"/>
                                          </p:val>
                                        </p:tav>
                                        <p:tav tm="100000">
                                          <p:val>
                                            <p:strVal val="#ppt_x"/>
                                          </p:val>
                                        </p:tav>
                                      </p:tavLst>
                                    </p:anim>
                                    <p:anim calcmode="lin" valueType="num">
                                      <p:cBhvr>
                                        <p:cTn id="74" dur="580" fill="hold"/>
                                        <p:tgtEl>
                                          <p:spTgt spid="30"/>
                                        </p:tgtEl>
                                        <p:attrNameLst>
                                          <p:attrName>ppt_y</p:attrName>
                                        </p:attrNameLst>
                                      </p:cBhvr>
                                      <p:tavLst>
                                        <p:tav tm="0">
                                          <p:val>
                                            <p:strVal val="#ppt_y+.1"/>
                                          </p:val>
                                        </p:tav>
                                        <p:tav tm="100000">
                                          <p:val>
                                            <p:strVal val="#ppt_y"/>
                                          </p:val>
                                        </p:tav>
                                      </p:tavLst>
                                    </p:anim>
                                  </p:childTnLst>
                                </p:cTn>
                              </p:par>
                              <p:par>
                                <p:cTn id="75" presetID="42" presetClass="entr" presetSubtype="0" accel="15000" decel="25000" fill="hold" grpId="0" nodeType="withEffect">
                                  <p:stCondLst>
                                    <p:cond delay="7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580"/>
                                        <p:tgtEl>
                                          <p:spTgt spid="31"/>
                                        </p:tgtEl>
                                      </p:cBhvr>
                                    </p:animEffect>
                                    <p:anim calcmode="lin" valueType="num">
                                      <p:cBhvr>
                                        <p:cTn id="78" dur="580" fill="hold"/>
                                        <p:tgtEl>
                                          <p:spTgt spid="31"/>
                                        </p:tgtEl>
                                        <p:attrNameLst>
                                          <p:attrName>ppt_x</p:attrName>
                                        </p:attrNameLst>
                                      </p:cBhvr>
                                      <p:tavLst>
                                        <p:tav tm="0">
                                          <p:val>
                                            <p:strVal val="#ppt_x"/>
                                          </p:val>
                                        </p:tav>
                                        <p:tav tm="100000">
                                          <p:val>
                                            <p:strVal val="#ppt_x"/>
                                          </p:val>
                                        </p:tav>
                                      </p:tavLst>
                                    </p:anim>
                                    <p:anim calcmode="lin" valueType="num">
                                      <p:cBhvr>
                                        <p:cTn id="79" dur="58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1" grpId="0"/>
      <p:bldP spid="22" grpId="0"/>
      <p:bldP spid="23" grpId="0"/>
      <p:bldP spid="24" grpId="0"/>
      <p:bldP spid="25" grpId="0"/>
      <p:bldP spid="26" grpId="0"/>
      <p:bldP spid="27" grpId="0"/>
      <p:bldP spid="28" grpId="0"/>
      <p:bldP spid="29" grpId="0"/>
      <p:bldP spid="30"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A first session with no server setup">
            <a:extLst>
              <a:ext uri="{FF2B5EF4-FFF2-40B4-BE49-F238E27FC236}">
                <a16:creationId xmlns:a16="http://schemas.microsoft.com/office/drawing/2014/main" id="{D24790F0-F3F5-EEBE-7416-DB35E6A8FC78}"/>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A first session with no server setup</a:t>
            </a:r>
          </a:p>
        </p:txBody>
      </p:sp>
      <p:sp>
        <p:nvSpPr>
          <p:cNvPr id="15" name="Text GreenBiz">
            <a:extLst>
              <a:ext uri="{FF2B5EF4-FFF2-40B4-BE49-F238E27FC236}">
                <a16:creationId xmlns:a16="http://schemas.microsoft.com/office/drawing/2014/main" id="{D31C461A-F649-8EFA-DE6B-C016A8E1962C}"/>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6" name="Text 05 / 25">
            <a:extLst>
              <a:ext uri="{FF2B5EF4-FFF2-40B4-BE49-F238E27FC236}">
                <a16:creationId xmlns:a16="http://schemas.microsoft.com/office/drawing/2014/main" id="{92EBEA8D-CF42-A6F3-B9B8-F46DB84088A3}"/>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05 / 25</a:t>
            </a:r>
          </a:p>
        </p:txBody>
      </p:sp>
      <p:sp>
        <p:nvSpPr>
          <p:cNvPr id="17" name="Screen surround onboarding">
            <a:extLst>
              <a:ext uri="{FF2B5EF4-FFF2-40B4-BE49-F238E27FC236}">
                <a16:creationId xmlns:a16="http://schemas.microsoft.com/office/drawing/2014/main" id="{641F864D-51EB-C752-D799-F82083524547}"/>
              </a:ext>
            </a:extLst>
          </p:cNvPr>
          <p:cNvSpPr/>
          <p:nvPr/>
        </p:nvSpPr>
        <p:spPr>
          <a:xfrm>
            <a:off x="1151680" y="1625600"/>
            <a:ext cx="2205140" cy="46609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App screen onboarding" descr="GreenBiz onboarding screen, fictional sample data">
            <a:extLst>
              <a:ext uri="{FF2B5EF4-FFF2-40B4-BE49-F238E27FC236}">
                <a16:creationId xmlns:a16="http://schemas.microsoft.com/office/drawing/2014/main" id="{12F98EB8-EF9E-377B-EBB8-6BF17A40BED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02480" y="1676400"/>
            <a:ext cx="2103540" cy="4559300"/>
          </a:xfrm>
          <a:prstGeom prst="rect">
            <a:avLst/>
          </a:prstGeom>
        </p:spPr>
      </p:pic>
      <p:sp>
        <p:nvSpPr>
          <p:cNvPr id="20" name="Text Create a real shop">
            <a:extLst>
              <a:ext uri="{FF2B5EF4-FFF2-40B4-BE49-F238E27FC236}">
                <a16:creationId xmlns:a16="http://schemas.microsoft.com/office/drawing/2014/main" id="{E78F3048-7A2D-8784-77B7-58B2C8A22F44}"/>
              </a:ext>
            </a:extLst>
          </p:cNvPr>
          <p:cNvSpPr txBox="1"/>
          <p:nvPr/>
        </p:nvSpPr>
        <p:spPr>
          <a:xfrm>
            <a:off x="4572000" y="1879600"/>
            <a:ext cx="68326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Create a real shop</a:t>
            </a:r>
          </a:p>
        </p:txBody>
      </p:sp>
      <p:sp>
        <p:nvSpPr>
          <p:cNvPr id="21" name="Text Enter the shop details and start with empt">
            <a:extLst>
              <a:ext uri="{FF2B5EF4-FFF2-40B4-BE49-F238E27FC236}">
                <a16:creationId xmlns:a16="http://schemas.microsoft.com/office/drawing/2014/main" id="{BC66214E-5081-7BD1-4383-607E66A479EC}"/>
              </a:ext>
            </a:extLst>
          </p:cNvPr>
          <p:cNvSpPr txBox="1"/>
          <p:nvPr/>
        </p:nvSpPr>
        <p:spPr>
          <a:xfrm>
            <a:off x="4572000" y="2501900"/>
            <a:ext cx="6832600" cy="825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Enter the shop details and start with empty records.</a:t>
            </a:r>
          </a:p>
        </p:txBody>
      </p:sp>
      <p:sp>
        <p:nvSpPr>
          <p:cNvPr id="22" name="Text Add the first items">
            <a:extLst>
              <a:ext uri="{FF2B5EF4-FFF2-40B4-BE49-F238E27FC236}">
                <a16:creationId xmlns:a16="http://schemas.microsoft.com/office/drawing/2014/main" id="{3574CC1A-F0F7-EDE8-534E-4CC8FD3E3714}"/>
              </a:ext>
            </a:extLst>
          </p:cNvPr>
          <p:cNvSpPr txBox="1"/>
          <p:nvPr/>
        </p:nvSpPr>
        <p:spPr>
          <a:xfrm>
            <a:off x="4572000" y="3352800"/>
            <a:ext cx="68326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Add the first items</a:t>
            </a:r>
          </a:p>
        </p:txBody>
      </p:sp>
      <p:sp>
        <p:nvSpPr>
          <p:cNvPr id="23" name="Text Use manual entry or review photo suggestio">
            <a:extLst>
              <a:ext uri="{FF2B5EF4-FFF2-40B4-BE49-F238E27FC236}">
                <a16:creationId xmlns:a16="http://schemas.microsoft.com/office/drawing/2014/main" id="{9F5F2700-5DD2-6E17-E664-44A7B6284423}"/>
              </a:ext>
            </a:extLst>
          </p:cNvPr>
          <p:cNvSpPr txBox="1"/>
          <p:nvPr/>
        </p:nvSpPr>
        <p:spPr>
          <a:xfrm>
            <a:off x="4572000" y="3975100"/>
            <a:ext cx="6832600" cy="825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Use manual entry or review photo suggestions.</a:t>
            </a:r>
          </a:p>
        </p:txBody>
      </p:sp>
      <p:sp>
        <p:nvSpPr>
          <p:cNvPr id="24" name="Text Make the first sale">
            <a:extLst>
              <a:ext uri="{FF2B5EF4-FFF2-40B4-BE49-F238E27FC236}">
                <a16:creationId xmlns:a16="http://schemas.microsoft.com/office/drawing/2014/main" id="{BE9F4B54-9B77-0976-3EC9-9F3552E2E602}"/>
              </a:ext>
            </a:extLst>
          </p:cNvPr>
          <p:cNvSpPr txBox="1"/>
          <p:nvPr/>
        </p:nvSpPr>
        <p:spPr>
          <a:xfrm>
            <a:off x="4572000" y="4826000"/>
            <a:ext cx="68326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Make the first sale</a:t>
            </a:r>
          </a:p>
        </p:txBody>
      </p:sp>
      <p:sp>
        <p:nvSpPr>
          <p:cNvPr id="25" name="Text Keep the stock, sale and payment connected">
            <a:extLst>
              <a:ext uri="{FF2B5EF4-FFF2-40B4-BE49-F238E27FC236}">
                <a16:creationId xmlns:a16="http://schemas.microsoft.com/office/drawing/2014/main" id="{C4E3C2A0-6882-5A72-885C-BF8768FC76AB}"/>
              </a:ext>
            </a:extLst>
          </p:cNvPr>
          <p:cNvSpPr txBox="1"/>
          <p:nvPr/>
        </p:nvSpPr>
        <p:spPr>
          <a:xfrm>
            <a:off x="4572000" y="5448300"/>
            <a:ext cx="6832600" cy="825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Keep the stock, sale and payment connected.</a:t>
            </a:r>
          </a:p>
        </p:txBody>
      </p:sp>
    </p:spTree>
    <p:extLst>
      <p:ext uri="{BB962C8B-B14F-4D97-AF65-F5344CB8AC3E}">
        <p14:creationId xmlns:p14="http://schemas.microsoft.com/office/powerpoint/2010/main" val="1559811472"/>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800"/>
                                        <p:tgtEl>
                                          <p:spTgt spid="19"/>
                                        </p:tgtEl>
                                      </p:cBhvr>
                                    </p:animEffect>
                                    <p:animScale>
                                      <p:cBhvr>
                                        <p:cTn id="13" dur="800" fill="hold">
                                          <p:stCondLst>
                                            <p:cond delay="0"/>
                                          </p:stCondLst>
                                        </p:cTn>
                                        <p:tgtEl>
                                          <p:spTgt spid="19"/>
                                        </p:tgtEl>
                                      </p:cBhvr>
                                      <p:from x="96000" y="96000"/>
                                      <p:to x="100000" y="100000"/>
                                    </p:animScale>
                                  </p:childTnLst>
                                </p:cTn>
                              </p:par>
                              <p:par>
                                <p:cTn id="14" presetID="10" presetClass="entr" presetSubtype="0" accel="15000" decel="2500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6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accel="15000" decel="2500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80"/>
                                        <p:tgtEl>
                                          <p:spTgt spid="20"/>
                                        </p:tgtEl>
                                      </p:cBhvr>
                                    </p:animEffect>
                                    <p:anim calcmode="lin" valueType="num">
                                      <p:cBhvr>
                                        <p:cTn id="22" dur="580" fill="hold"/>
                                        <p:tgtEl>
                                          <p:spTgt spid="20"/>
                                        </p:tgtEl>
                                        <p:attrNameLst>
                                          <p:attrName>ppt_x</p:attrName>
                                        </p:attrNameLst>
                                      </p:cBhvr>
                                      <p:tavLst>
                                        <p:tav tm="0">
                                          <p:val>
                                            <p:strVal val="#ppt_x"/>
                                          </p:val>
                                        </p:tav>
                                        <p:tav tm="100000">
                                          <p:val>
                                            <p:strVal val="#ppt_x"/>
                                          </p:val>
                                        </p:tav>
                                      </p:tavLst>
                                    </p:anim>
                                    <p:anim calcmode="lin" valueType="num">
                                      <p:cBhvr>
                                        <p:cTn id="23" dur="580" fill="hold"/>
                                        <p:tgtEl>
                                          <p:spTgt spid="20"/>
                                        </p:tgtEl>
                                        <p:attrNameLst>
                                          <p:attrName>ppt_y</p:attrName>
                                        </p:attrNameLst>
                                      </p:cBhvr>
                                      <p:tavLst>
                                        <p:tav tm="0">
                                          <p:val>
                                            <p:strVal val="#ppt_y+.1"/>
                                          </p:val>
                                        </p:tav>
                                        <p:tav tm="100000">
                                          <p:val>
                                            <p:strVal val="#ppt_y"/>
                                          </p:val>
                                        </p:tav>
                                      </p:tavLst>
                                    </p:anim>
                                  </p:childTnLst>
                                </p:cTn>
                              </p:par>
                              <p:par>
                                <p:cTn id="24" presetID="42" presetClass="entr" presetSubtype="0" accel="15000" decel="25000" fill="hold" grpId="0" nodeType="withEffect">
                                  <p:stCondLst>
                                    <p:cond delay="7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80"/>
                                        <p:tgtEl>
                                          <p:spTgt spid="21"/>
                                        </p:tgtEl>
                                      </p:cBhvr>
                                    </p:animEffect>
                                    <p:anim calcmode="lin" valueType="num">
                                      <p:cBhvr>
                                        <p:cTn id="27" dur="580" fill="hold"/>
                                        <p:tgtEl>
                                          <p:spTgt spid="21"/>
                                        </p:tgtEl>
                                        <p:attrNameLst>
                                          <p:attrName>ppt_x</p:attrName>
                                        </p:attrNameLst>
                                      </p:cBhvr>
                                      <p:tavLst>
                                        <p:tav tm="0">
                                          <p:val>
                                            <p:strVal val="#ppt_x"/>
                                          </p:val>
                                        </p:tav>
                                        <p:tav tm="100000">
                                          <p:val>
                                            <p:strVal val="#ppt_x"/>
                                          </p:val>
                                        </p:tav>
                                      </p:tavLst>
                                    </p:anim>
                                    <p:anim calcmode="lin" valueType="num">
                                      <p:cBhvr>
                                        <p:cTn id="28" dur="58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accel="15000" decel="2500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80"/>
                                        <p:tgtEl>
                                          <p:spTgt spid="22"/>
                                        </p:tgtEl>
                                      </p:cBhvr>
                                    </p:animEffect>
                                    <p:anim calcmode="lin" valueType="num">
                                      <p:cBhvr>
                                        <p:cTn id="34" dur="580" fill="hold"/>
                                        <p:tgtEl>
                                          <p:spTgt spid="22"/>
                                        </p:tgtEl>
                                        <p:attrNameLst>
                                          <p:attrName>ppt_x</p:attrName>
                                        </p:attrNameLst>
                                      </p:cBhvr>
                                      <p:tavLst>
                                        <p:tav tm="0">
                                          <p:val>
                                            <p:strVal val="#ppt_x"/>
                                          </p:val>
                                        </p:tav>
                                        <p:tav tm="100000">
                                          <p:val>
                                            <p:strVal val="#ppt_x"/>
                                          </p:val>
                                        </p:tav>
                                      </p:tavLst>
                                    </p:anim>
                                    <p:anim calcmode="lin" valueType="num">
                                      <p:cBhvr>
                                        <p:cTn id="35" dur="580" fill="hold"/>
                                        <p:tgtEl>
                                          <p:spTgt spid="22"/>
                                        </p:tgtEl>
                                        <p:attrNameLst>
                                          <p:attrName>ppt_y</p:attrName>
                                        </p:attrNameLst>
                                      </p:cBhvr>
                                      <p:tavLst>
                                        <p:tav tm="0">
                                          <p:val>
                                            <p:strVal val="#ppt_y+.1"/>
                                          </p:val>
                                        </p:tav>
                                        <p:tav tm="100000">
                                          <p:val>
                                            <p:strVal val="#ppt_y"/>
                                          </p:val>
                                        </p:tav>
                                      </p:tavLst>
                                    </p:anim>
                                  </p:childTnLst>
                                </p:cTn>
                              </p:par>
                              <p:par>
                                <p:cTn id="36" presetID="42" presetClass="entr" presetSubtype="0" accel="15000" decel="25000" fill="hold" grpId="0" nodeType="withEffect">
                                  <p:stCondLst>
                                    <p:cond delay="7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80"/>
                                        <p:tgtEl>
                                          <p:spTgt spid="23"/>
                                        </p:tgtEl>
                                      </p:cBhvr>
                                    </p:animEffect>
                                    <p:anim calcmode="lin" valueType="num">
                                      <p:cBhvr>
                                        <p:cTn id="39" dur="580" fill="hold"/>
                                        <p:tgtEl>
                                          <p:spTgt spid="23"/>
                                        </p:tgtEl>
                                        <p:attrNameLst>
                                          <p:attrName>ppt_x</p:attrName>
                                        </p:attrNameLst>
                                      </p:cBhvr>
                                      <p:tavLst>
                                        <p:tav tm="0">
                                          <p:val>
                                            <p:strVal val="#ppt_x"/>
                                          </p:val>
                                        </p:tav>
                                        <p:tav tm="100000">
                                          <p:val>
                                            <p:strVal val="#ppt_x"/>
                                          </p:val>
                                        </p:tav>
                                      </p:tavLst>
                                    </p:anim>
                                    <p:anim calcmode="lin" valueType="num">
                                      <p:cBhvr>
                                        <p:cTn id="40" dur="58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accel="15000" decel="2500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80"/>
                                        <p:tgtEl>
                                          <p:spTgt spid="24"/>
                                        </p:tgtEl>
                                      </p:cBhvr>
                                    </p:animEffect>
                                    <p:anim calcmode="lin" valueType="num">
                                      <p:cBhvr>
                                        <p:cTn id="46" dur="580" fill="hold"/>
                                        <p:tgtEl>
                                          <p:spTgt spid="24"/>
                                        </p:tgtEl>
                                        <p:attrNameLst>
                                          <p:attrName>ppt_x</p:attrName>
                                        </p:attrNameLst>
                                      </p:cBhvr>
                                      <p:tavLst>
                                        <p:tav tm="0">
                                          <p:val>
                                            <p:strVal val="#ppt_x"/>
                                          </p:val>
                                        </p:tav>
                                        <p:tav tm="100000">
                                          <p:val>
                                            <p:strVal val="#ppt_x"/>
                                          </p:val>
                                        </p:tav>
                                      </p:tavLst>
                                    </p:anim>
                                    <p:anim calcmode="lin" valueType="num">
                                      <p:cBhvr>
                                        <p:cTn id="47" dur="580" fill="hold"/>
                                        <p:tgtEl>
                                          <p:spTgt spid="24"/>
                                        </p:tgtEl>
                                        <p:attrNameLst>
                                          <p:attrName>ppt_y</p:attrName>
                                        </p:attrNameLst>
                                      </p:cBhvr>
                                      <p:tavLst>
                                        <p:tav tm="0">
                                          <p:val>
                                            <p:strVal val="#ppt_y+.1"/>
                                          </p:val>
                                        </p:tav>
                                        <p:tav tm="100000">
                                          <p:val>
                                            <p:strVal val="#ppt_y"/>
                                          </p:val>
                                        </p:tav>
                                      </p:tavLst>
                                    </p:anim>
                                  </p:childTnLst>
                                </p:cTn>
                              </p:par>
                              <p:par>
                                <p:cTn id="48" presetID="42" presetClass="entr" presetSubtype="0" accel="15000" decel="25000" fill="hold" grpId="0" nodeType="withEffect">
                                  <p:stCondLst>
                                    <p:cond delay="7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80"/>
                                        <p:tgtEl>
                                          <p:spTgt spid="25"/>
                                        </p:tgtEl>
                                      </p:cBhvr>
                                    </p:animEffect>
                                    <p:anim calcmode="lin" valueType="num">
                                      <p:cBhvr>
                                        <p:cTn id="51" dur="580" fill="hold"/>
                                        <p:tgtEl>
                                          <p:spTgt spid="25"/>
                                        </p:tgtEl>
                                        <p:attrNameLst>
                                          <p:attrName>ppt_x</p:attrName>
                                        </p:attrNameLst>
                                      </p:cBhvr>
                                      <p:tavLst>
                                        <p:tav tm="0">
                                          <p:val>
                                            <p:strVal val="#ppt_x"/>
                                          </p:val>
                                        </p:tav>
                                        <p:tav tm="100000">
                                          <p:val>
                                            <p:strVal val="#ppt_x"/>
                                          </p:val>
                                        </p:tav>
                                      </p:tavLst>
                                    </p:anim>
                                    <p:anim calcmode="lin" valueType="num">
                                      <p:cBhvr>
                                        <p:cTn id="52" dur="58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animBg="1"/>
      <p:bldP spid="20" grpId="0"/>
      <p:bldP spid="21" grpId="0"/>
      <p:bldP spid="22" grpId="0"/>
      <p:bldP spid="23" grpId="0"/>
      <p:bldP spid="24"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Inventory that supports everyday work">
            <a:extLst>
              <a:ext uri="{FF2B5EF4-FFF2-40B4-BE49-F238E27FC236}">
                <a16:creationId xmlns:a16="http://schemas.microsoft.com/office/drawing/2014/main" id="{52DEC18A-5345-4F52-95DD-22641CC80357}"/>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Inventory that supports everyday work</a:t>
            </a:r>
          </a:p>
        </p:txBody>
      </p:sp>
      <p:sp>
        <p:nvSpPr>
          <p:cNvPr id="15" name="Text GreenBiz">
            <a:extLst>
              <a:ext uri="{FF2B5EF4-FFF2-40B4-BE49-F238E27FC236}">
                <a16:creationId xmlns:a16="http://schemas.microsoft.com/office/drawing/2014/main" id="{833E2829-BA12-3537-F7C4-CB2BE6A66DAB}"/>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6" name="Text 06 / 25">
            <a:extLst>
              <a:ext uri="{FF2B5EF4-FFF2-40B4-BE49-F238E27FC236}">
                <a16:creationId xmlns:a16="http://schemas.microsoft.com/office/drawing/2014/main" id="{A34C3454-8AE5-72EC-7DF7-263180974C92}"/>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06 / 25</a:t>
            </a:r>
          </a:p>
        </p:txBody>
      </p:sp>
      <p:sp>
        <p:nvSpPr>
          <p:cNvPr id="17" name="Text Measured goods">
            <a:extLst>
              <a:ext uri="{FF2B5EF4-FFF2-40B4-BE49-F238E27FC236}">
                <a16:creationId xmlns:a16="http://schemas.microsoft.com/office/drawing/2014/main" id="{1244B574-AB9B-5E39-30C8-B056A46FC355}"/>
              </a:ext>
            </a:extLst>
          </p:cNvPr>
          <p:cNvSpPr txBox="1"/>
          <p:nvPr/>
        </p:nvSpPr>
        <p:spPr>
          <a:xfrm>
            <a:off x="609600" y="1892300"/>
            <a:ext cx="5016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Measured goods</a:t>
            </a:r>
          </a:p>
        </p:txBody>
      </p:sp>
      <p:sp>
        <p:nvSpPr>
          <p:cNvPr id="18" name="Text Pieces, bottles and fractional quantities,">
            <a:extLst>
              <a:ext uri="{FF2B5EF4-FFF2-40B4-BE49-F238E27FC236}">
                <a16:creationId xmlns:a16="http://schemas.microsoft.com/office/drawing/2014/main" id="{959EF73B-1E8D-63ED-C443-B71934776848}"/>
              </a:ext>
            </a:extLst>
          </p:cNvPr>
          <p:cNvSpPr txBox="1"/>
          <p:nvPr/>
        </p:nvSpPr>
        <p:spPr>
          <a:xfrm>
            <a:off x="609600" y="2514600"/>
            <a:ext cx="5016500" cy="1270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Pieces, bottles and fractional quantities, including weight-based sales.</a:t>
            </a:r>
          </a:p>
        </p:txBody>
      </p:sp>
      <p:sp>
        <p:nvSpPr>
          <p:cNvPr id="19" name="Text Stock at a glance">
            <a:extLst>
              <a:ext uri="{FF2B5EF4-FFF2-40B4-BE49-F238E27FC236}">
                <a16:creationId xmlns:a16="http://schemas.microsoft.com/office/drawing/2014/main" id="{3C2A9B11-21DB-D648-8935-A56865F16412}"/>
              </a:ext>
            </a:extLst>
          </p:cNvPr>
          <p:cNvSpPr txBox="1"/>
          <p:nvPr/>
        </p:nvSpPr>
        <p:spPr>
          <a:xfrm>
            <a:off x="609600" y="3492500"/>
            <a:ext cx="5016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Stock at a glance</a:t>
            </a:r>
          </a:p>
        </p:txBody>
      </p:sp>
      <p:sp>
        <p:nvSpPr>
          <p:cNvPr id="20" name="Text See stock value and products running low o">
            <a:extLst>
              <a:ext uri="{FF2B5EF4-FFF2-40B4-BE49-F238E27FC236}">
                <a16:creationId xmlns:a16="http://schemas.microsoft.com/office/drawing/2014/main" id="{DD57445E-0302-35EE-7C2A-3C0A81E8DCAB}"/>
              </a:ext>
            </a:extLst>
          </p:cNvPr>
          <p:cNvSpPr txBox="1"/>
          <p:nvPr/>
        </p:nvSpPr>
        <p:spPr>
          <a:xfrm>
            <a:off x="609600" y="4114800"/>
            <a:ext cx="5016500" cy="1206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See stock value and products running low or out of stock.</a:t>
            </a:r>
          </a:p>
        </p:txBody>
      </p:sp>
      <p:sp>
        <p:nvSpPr>
          <p:cNvPr id="21" name="Text Quick actions">
            <a:extLst>
              <a:ext uri="{FF2B5EF4-FFF2-40B4-BE49-F238E27FC236}">
                <a16:creationId xmlns:a16="http://schemas.microsoft.com/office/drawing/2014/main" id="{46A9F129-3528-6360-E3B1-A2287023133A}"/>
              </a:ext>
            </a:extLst>
          </p:cNvPr>
          <p:cNvSpPr txBox="1"/>
          <p:nvPr/>
        </p:nvSpPr>
        <p:spPr>
          <a:xfrm>
            <a:off x="609600" y="5092700"/>
            <a:ext cx="5016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Quick actions</a:t>
            </a:r>
          </a:p>
        </p:txBody>
      </p:sp>
      <p:sp>
        <p:nvSpPr>
          <p:cNvPr id="22" name="Text Sell directly or restock with −1, +1, +5 a">
            <a:extLst>
              <a:ext uri="{FF2B5EF4-FFF2-40B4-BE49-F238E27FC236}">
                <a16:creationId xmlns:a16="http://schemas.microsoft.com/office/drawing/2014/main" id="{8A962B26-46F7-EF5E-F0DC-2837EBC0D58B}"/>
              </a:ext>
            </a:extLst>
          </p:cNvPr>
          <p:cNvSpPr txBox="1"/>
          <p:nvPr/>
        </p:nvSpPr>
        <p:spPr>
          <a:xfrm>
            <a:off x="609600" y="5715000"/>
            <a:ext cx="5016500" cy="1016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Sell directly or restock with −1, +1, +5 and +10 controls.</a:t>
            </a:r>
          </a:p>
        </p:txBody>
      </p:sp>
      <p:sp>
        <p:nvSpPr>
          <p:cNvPr id="23" name="!!StockView surround">
            <a:extLst>
              <a:ext uri="{FF2B5EF4-FFF2-40B4-BE49-F238E27FC236}">
                <a16:creationId xmlns:a16="http://schemas.microsoft.com/office/drawing/2014/main" id="{2DFAC5E5-B1EB-EA90-3F01-09694D9F3053}"/>
              </a:ext>
            </a:extLst>
          </p:cNvPr>
          <p:cNvSpPr/>
          <p:nvPr/>
        </p:nvSpPr>
        <p:spPr>
          <a:xfrm>
            <a:off x="64148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StockView" descr="GreenBiz stock screen, fictional sample data">
            <a:extLst>
              <a:ext uri="{FF2B5EF4-FFF2-40B4-BE49-F238E27FC236}">
                <a16:creationId xmlns:a16="http://schemas.microsoft.com/office/drawing/2014/main" id="{172AC67A-7232-37F2-DF90-ED22CC5612D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65663" y="1562100"/>
            <a:ext cx="2156275" cy="4673600"/>
          </a:xfrm>
          <a:prstGeom prst="rect">
            <a:avLst/>
          </a:prstGeom>
        </p:spPr>
      </p:pic>
      <p:sp>
        <p:nvSpPr>
          <p:cNvPr id="26" name="!!StockDetail surround">
            <a:extLst>
              <a:ext uri="{FF2B5EF4-FFF2-40B4-BE49-F238E27FC236}">
                <a16:creationId xmlns:a16="http://schemas.microsoft.com/office/drawing/2014/main" id="{1FB6A9BB-1750-3401-FB3A-C2296D104014}"/>
              </a:ext>
            </a:extLst>
          </p:cNvPr>
          <p:cNvSpPr/>
          <p:nvPr/>
        </p:nvSpPr>
        <p:spPr>
          <a:xfrm>
            <a:off x="90945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StockDetail" descr="GreenBiz restock screen, fictional sample data">
            <a:extLst>
              <a:ext uri="{FF2B5EF4-FFF2-40B4-BE49-F238E27FC236}">
                <a16:creationId xmlns:a16="http://schemas.microsoft.com/office/drawing/2014/main" id="{35BAE45C-2C65-3911-7315-D2A7DCD32C9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145363" y="1562100"/>
            <a:ext cx="2156275" cy="4673600"/>
          </a:xfrm>
          <a:prstGeom prst="rect">
            <a:avLst/>
          </a:prstGeom>
        </p:spPr>
      </p:pic>
    </p:spTree>
    <p:extLst>
      <p:ext uri="{BB962C8B-B14F-4D97-AF65-F5344CB8AC3E}">
        <p14:creationId xmlns:p14="http://schemas.microsoft.com/office/powerpoint/2010/main" val="636711235"/>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80"/>
                                        <p:tgtEl>
                                          <p:spTgt spid="17"/>
                                        </p:tgtEl>
                                      </p:cBhvr>
                                    </p:animEffect>
                                    <p:anim calcmode="lin" valueType="num">
                                      <p:cBhvr>
                                        <p:cTn id="13" dur="580" fill="hold"/>
                                        <p:tgtEl>
                                          <p:spTgt spid="17"/>
                                        </p:tgtEl>
                                        <p:attrNameLst>
                                          <p:attrName>ppt_x</p:attrName>
                                        </p:attrNameLst>
                                      </p:cBhvr>
                                      <p:tavLst>
                                        <p:tav tm="0">
                                          <p:val>
                                            <p:strVal val="#ppt_x"/>
                                          </p:val>
                                        </p:tav>
                                        <p:tav tm="100000">
                                          <p:val>
                                            <p:strVal val="#ppt_x"/>
                                          </p:val>
                                        </p:tav>
                                      </p:tavLst>
                                    </p:anim>
                                    <p:anim calcmode="lin" valueType="num">
                                      <p:cBhvr>
                                        <p:cTn id="14" dur="58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80"/>
                                        <p:tgtEl>
                                          <p:spTgt spid="18"/>
                                        </p:tgtEl>
                                      </p:cBhvr>
                                    </p:animEffect>
                                    <p:anim calcmode="lin" valueType="num">
                                      <p:cBhvr>
                                        <p:cTn id="18" dur="580" fill="hold"/>
                                        <p:tgtEl>
                                          <p:spTgt spid="18"/>
                                        </p:tgtEl>
                                        <p:attrNameLst>
                                          <p:attrName>ppt_x</p:attrName>
                                        </p:attrNameLst>
                                      </p:cBhvr>
                                      <p:tavLst>
                                        <p:tav tm="0">
                                          <p:val>
                                            <p:strVal val="#ppt_x"/>
                                          </p:val>
                                        </p:tav>
                                        <p:tav tm="100000">
                                          <p:val>
                                            <p:strVal val="#ppt_x"/>
                                          </p:val>
                                        </p:tav>
                                      </p:tavLst>
                                    </p:anim>
                                    <p:anim calcmode="lin" valueType="num">
                                      <p:cBhvr>
                                        <p:cTn id="19" dur="58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80"/>
                                        <p:tgtEl>
                                          <p:spTgt spid="19"/>
                                        </p:tgtEl>
                                      </p:cBhvr>
                                    </p:animEffect>
                                    <p:anim calcmode="lin" valueType="num">
                                      <p:cBhvr>
                                        <p:cTn id="25" dur="580" fill="hold"/>
                                        <p:tgtEl>
                                          <p:spTgt spid="19"/>
                                        </p:tgtEl>
                                        <p:attrNameLst>
                                          <p:attrName>ppt_x</p:attrName>
                                        </p:attrNameLst>
                                      </p:cBhvr>
                                      <p:tavLst>
                                        <p:tav tm="0">
                                          <p:val>
                                            <p:strVal val="#ppt_x"/>
                                          </p:val>
                                        </p:tav>
                                        <p:tav tm="100000">
                                          <p:val>
                                            <p:strVal val="#ppt_x"/>
                                          </p:val>
                                        </p:tav>
                                      </p:tavLst>
                                    </p:anim>
                                    <p:anim calcmode="lin" valueType="num">
                                      <p:cBhvr>
                                        <p:cTn id="26" dur="580" fill="hold"/>
                                        <p:tgtEl>
                                          <p:spTgt spid="19"/>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80"/>
                                        <p:tgtEl>
                                          <p:spTgt spid="20"/>
                                        </p:tgtEl>
                                      </p:cBhvr>
                                    </p:animEffect>
                                    <p:anim calcmode="lin" valueType="num">
                                      <p:cBhvr>
                                        <p:cTn id="30" dur="580" fill="hold"/>
                                        <p:tgtEl>
                                          <p:spTgt spid="20"/>
                                        </p:tgtEl>
                                        <p:attrNameLst>
                                          <p:attrName>ppt_x</p:attrName>
                                        </p:attrNameLst>
                                      </p:cBhvr>
                                      <p:tavLst>
                                        <p:tav tm="0">
                                          <p:val>
                                            <p:strVal val="#ppt_x"/>
                                          </p:val>
                                        </p:tav>
                                        <p:tav tm="100000">
                                          <p:val>
                                            <p:strVal val="#ppt_x"/>
                                          </p:val>
                                        </p:tav>
                                      </p:tavLst>
                                    </p:anim>
                                    <p:anim calcmode="lin" valueType="num">
                                      <p:cBhvr>
                                        <p:cTn id="31" dur="58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accel="15000" decel="2500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80"/>
                                        <p:tgtEl>
                                          <p:spTgt spid="21"/>
                                        </p:tgtEl>
                                      </p:cBhvr>
                                    </p:animEffect>
                                    <p:anim calcmode="lin" valueType="num">
                                      <p:cBhvr>
                                        <p:cTn id="37" dur="580" fill="hold"/>
                                        <p:tgtEl>
                                          <p:spTgt spid="21"/>
                                        </p:tgtEl>
                                        <p:attrNameLst>
                                          <p:attrName>ppt_x</p:attrName>
                                        </p:attrNameLst>
                                      </p:cBhvr>
                                      <p:tavLst>
                                        <p:tav tm="0">
                                          <p:val>
                                            <p:strVal val="#ppt_x"/>
                                          </p:val>
                                        </p:tav>
                                        <p:tav tm="100000">
                                          <p:val>
                                            <p:strVal val="#ppt_x"/>
                                          </p:val>
                                        </p:tav>
                                      </p:tavLst>
                                    </p:anim>
                                    <p:anim calcmode="lin" valueType="num">
                                      <p:cBhvr>
                                        <p:cTn id="38" dur="580" fill="hold"/>
                                        <p:tgtEl>
                                          <p:spTgt spid="21"/>
                                        </p:tgtEl>
                                        <p:attrNameLst>
                                          <p:attrName>ppt_y</p:attrName>
                                        </p:attrNameLst>
                                      </p:cBhvr>
                                      <p:tavLst>
                                        <p:tav tm="0">
                                          <p:val>
                                            <p:strVal val="#ppt_y+.1"/>
                                          </p:val>
                                        </p:tav>
                                        <p:tav tm="100000">
                                          <p:val>
                                            <p:strVal val="#ppt_y"/>
                                          </p:val>
                                        </p:tav>
                                      </p:tavLst>
                                    </p:anim>
                                  </p:childTnLst>
                                </p:cTn>
                              </p:par>
                              <p:par>
                                <p:cTn id="39" presetID="42" presetClass="entr" presetSubtype="0" accel="15000" decel="25000" fill="hold" grpId="0" nodeType="withEffect">
                                  <p:stCondLst>
                                    <p:cond delay="7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80"/>
                                        <p:tgtEl>
                                          <p:spTgt spid="22"/>
                                        </p:tgtEl>
                                      </p:cBhvr>
                                    </p:animEffect>
                                    <p:anim calcmode="lin" valueType="num">
                                      <p:cBhvr>
                                        <p:cTn id="42" dur="580" fill="hold"/>
                                        <p:tgtEl>
                                          <p:spTgt spid="22"/>
                                        </p:tgtEl>
                                        <p:attrNameLst>
                                          <p:attrName>ppt_x</p:attrName>
                                        </p:attrNameLst>
                                      </p:cBhvr>
                                      <p:tavLst>
                                        <p:tav tm="0">
                                          <p:val>
                                            <p:strVal val="#ppt_x"/>
                                          </p:val>
                                        </p:tav>
                                        <p:tav tm="100000">
                                          <p:val>
                                            <p:strVal val="#ppt_x"/>
                                          </p:val>
                                        </p:tav>
                                      </p:tavLst>
                                    </p:anim>
                                    <p:anim calcmode="lin" valueType="num">
                                      <p:cBhvr>
                                        <p:cTn id="43" dur="58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accel="15000" decel="25000" fill="hold"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800"/>
                                        <p:tgtEl>
                                          <p:spTgt spid="25"/>
                                        </p:tgtEl>
                                      </p:cBhvr>
                                    </p:animEffect>
                                    <p:animScale>
                                      <p:cBhvr>
                                        <p:cTn id="49" dur="800" fill="hold">
                                          <p:stCondLst>
                                            <p:cond delay="0"/>
                                          </p:stCondLst>
                                        </p:cTn>
                                        <p:tgtEl>
                                          <p:spTgt spid="25"/>
                                        </p:tgtEl>
                                      </p:cBhvr>
                                      <p:from x="96000" y="96000"/>
                                      <p:to x="100000" y="100000"/>
                                    </p:animScale>
                                  </p:childTnLst>
                                </p:cTn>
                              </p:par>
                              <p:par>
                                <p:cTn id="50" presetID="10" presetClass="entr" presetSubtype="0" accel="15000" decel="2500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6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accel="15000" decel="25000" fill="hold"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800"/>
                                        <p:tgtEl>
                                          <p:spTgt spid="28"/>
                                        </p:tgtEl>
                                      </p:cBhvr>
                                    </p:animEffect>
                                    <p:animScale>
                                      <p:cBhvr>
                                        <p:cTn id="58" dur="800" fill="hold">
                                          <p:stCondLst>
                                            <p:cond delay="0"/>
                                          </p:stCondLst>
                                        </p:cTn>
                                        <p:tgtEl>
                                          <p:spTgt spid="28"/>
                                        </p:tgtEl>
                                      </p:cBhvr>
                                      <p:from x="96000" y="96000"/>
                                      <p:to x="100000" y="100000"/>
                                    </p:animScale>
                                  </p:childTnLst>
                                </p:cTn>
                              </p:par>
                              <p:par>
                                <p:cTn id="59" presetID="10" presetClass="entr" presetSubtype="0" accel="15000" decel="2500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0" grpId="0"/>
      <p:bldP spid="21" grpId="0"/>
      <p:bldP spid="22" grpId="0"/>
      <p:bldP spid="23"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3" name="Text Photo stock entry with owner review">
            <a:extLst>
              <a:ext uri="{FF2B5EF4-FFF2-40B4-BE49-F238E27FC236}">
                <a16:creationId xmlns:a16="http://schemas.microsoft.com/office/drawing/2014/main" id="{D1806D5D-96FF-076A-F5A6-2DAAA61390D3}"/>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Photo stock entry with owner review</a:t>
            </a:r>
          </a:p>
        </p:txBody>
      </p:sp>
      <p:sp>
        <p:nvSpPr>
          <p:cNvPr id="14" name="Text GreenBiz">
            <a:extLst>
              <a:ext uri="{FF2B5EF4-FFF2-40B4-BE49-F238E27FC236}">
                <a16:creationId xmlns:a16="http://schemas.microsoft.com/office/drawing/2014/main" id="{F388594C-3150-A35B-EE06-AC73BC434387}"/>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5" name="Text 07 / 25">
            <a:extLst>
              <a:ext uri="{FF2B5EF4-FFF2-40B4-BE49-F238E27FC236}">
                <a16:creationId xmlns:a16="http://schemas.microsoft.com/office/drawing/2014/main" id="{96326AFC-17D8-48D7-A91C-DF7A72FAED6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07 / 25</a:t>
            </a:r>
          </a:p>
        </p:txBody>
      </p:sp>
      <p:sp>
        <p:nvSpPr>
          <p:cNvPr id="16" name="Text Capture or choose a photo">
            <a:extLst>
              <a:ext uri="{FF2B5EF4-FFF2-40B4-BE49-F238E27FC236}">
                <a16:creationId xmlns:a16="http://schemas.microsoft.com/office/drawing/2014/main" id="{13520C54-EACA-57EA-C3AE-6F52CEF26BBD}"/>
              </a:ext>
            </a:extLst>
          </p:cNvPr>
          <p:cNvSpPr txBox="1"/>
          <p:nvPr/>
        </p:nvSpPr>
        <p:spPr>
          <a:xfrm>
            <a:off x="609600" y="1930400"/>
            <a:ext cx="5080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Capture or choose a photo</a:t>
            </a:r>
          </a:p>
        </p:txBody>
      </p:sp>
      <p:sp>
        <p:nvSpPr>
          <p:cNvPr id="17" name="Text The scan proposes draft products and quant">
            <a:extLst>
              <a:ext uri="{FF2B5EF4-FFF2-40B4-BE49-F238E27FC236}">
                <a16:creationId xmlns:a16="http://schemas.microsoft.com/office/drawing/2014/main" id="{843CD5AB-F719-2BFA-223C-CC71E3D9E93F}"/>
              </a:ext>
            </a:extLst>
          </p:cNvPr>
          <p:cNvSpPr txBox="1"/>
          <p:nvPr/>
        </p:nvSpPr>
        <p:spPr>
          <a:xfrm>
            <a:off x="609600" y="2552700"/>
            <a:ext cx="5080000" cy="1079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The scan proposes draft products and quantities.</a:t>
            </a:r>
          </a:p>
        </p:txBody>
      </p:sp>
      <p:sp>
        <p:nvSpPr>
          <p:cNvPr id="18" name="Text Review every field">
            <a:extLst>
              <a:ext uri="{FF2B5EF4-FFF2-40B4-BE49-F238E27FC236}">
                <a16:creationId xmlns:a16="http://schemas.microsoft.com/office/drawing/2014/main" id="{6A691F9A-6BC3-9CCC-BFFA-2B6CD97DDF79}"/>
              </a:ext>
            </a:extLst>
          </p:cNvPr>
          <p:cNvSpPr txBox="1"/>
          <p:nvPr/>
        </p:nvSpPr>
        <p:spPr>
          <a:xfrm>
            <a:off x="609600" y="3644900"/>
            <a:ext cx="5080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Review every field</a:t>
            </a:r>
          </a:p>
        </p:txBody>
      </p:sp>
      <p:sp>
        <p:nvSpPr>
          <p:cNvPr id="19" name="Text Check the name, unit, count, cost and sell">
            <a:extLst>
              <a:ext uri="{FF2B5EF4-FFF2-40B4-BE49-F238E27FC236}">
                <a16:creationId xmlns:a16="http://schemas.microsoft.com/office/drawing/2014/main" id="{67829D0C-3021-BE14-41A7-EF203397D186}"/>
              </a:ext>
            </a:extLst>
          </p:cNvPr>
          <p:cNvSpPr txBox="1"/>
          <p:nvPr/>
        </p:nvSpPr>
        <p:spPr>
          <a:xfrm>
            <a:off x="609600" y="4267200"/>
            <a:ext cx="5080000" cy="1397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Check the name, unit, count, cost and selling price before saving.</a:t>
            </a:r>
          </a:p>
        </p:txBody>
      </p:sp>
      <p:sp>
        <p:nvSpPr>
          <p:cNvPr id="20" name="Text Sample scan results, shown in the real app">
            <a:extLst>
              <a:ext uri="{FF2B5EF4-FFF2-40B4-BE49-F238E27FC236}">
                <a16:creationId xmlns:a16="http://schemas.microsoft.com/office/drawing/2014/main" id="{480519D4-FE45-F920-8568-F8D7DE092FEC}"/>
              </a:ext>
            </a:extLst>
          </p:cNvPr>
          <p:cNvSpPr txBox="1"/>
          <p:nvPr/>
        </p:nvSpPr>
        <p:spPr>
          <a:xfrm>
            <a:off x="609600" y="5715000"/>
            <a:ext cx="5334000" cy="520700"/>
          </a:xfrm>
          <a:prstGeom prst="rect">
            <a:avLst/>
          </a:prstGeom>
          <a:noFill/>
        </p:spPr>
        <p:txBody>
          <a:bodyPr vert="horz" wrap="square" lIns="0" tIns="0" rIns="0" bIns="0" rtlCol="0">
            <a:noAutofit/>
          </a:bodyPr>
          <a:lstStyle/>
          <a:p>
            <a:r>
              <a:rPr lang="en-US">
                <a:solidFill>
                  <a:srgbClr val="8EA7BA"/>
                </a:solidFill>
                <a:latin typeface="Segoe UI" panose="020B0502040204020203" pitchFamily="34" charset="0"/>
              </a:rPr>
              <a:t>Sample scan results, shown in the real app UI</a:t>
            </a:r>
          </a:p>
        </p:txBody>
      </p:sp>
      <p:sp>
        <p:nvSpPr>
          <p:cNvPr id="21" name="!!StockView surround">
            <a:extLst>
              <a:ext uri="{FF2B5EF4-FFF2-40B4-BE49-F238E27FC236}">
                <a16:creationId xmlns:a16="http://schemas.microsoft.com/office/drawing/2014/main" id="{32E49F4A-A9E4-4D39-BB05-722A840531C7}"/>
              </a:ext>
            </a:extLst>
          </p:cNvPr>
          <p:cNvSpPr/>
          <p:nvPr/>
        </p:nvSpPr>
        <p:spPr>
          <a:xfrm>
            <a:off x="64148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StockView" descr="GreenBiz camera-result screen, fictional sample data">
            <a:extLst>
              <a:ext uri="{FF2B5EF4-FFF2-40B4-BE49-F238E27FC236}">
                <a16:creationId xmlns:a16="http://schemas.microsoft.com/office/drawing/2014/main" id="{CF0651A6-A6DE-AEB4-851C-E15713C0B77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65663" y="1562100"/>
            <a:ext cx="2156275" cy="4673600"/>
          </a:xfrm>
          <a:prstGeom prst="rect">
            <a:avLst/>
          </a:prstGeom>
        </p:spPr>
      </p:pic>
      <p:sp>
        <p:nvSpPr>
          <p:cNvPr id="24" name="!!StockDetail surround">
            <a:extLst>
              <a:ext uri="{FF2B5EF4-FFF2-40B4-BE49-F238E27FC236}">
                <a16:creationId xmlns:a16="http://schemas.microsoft.com/office/drawing/2014/main" id="{B216632E-E051-8F45-2DF1-92F2C4FC6EDB}"/>
              </a:ext>
            </a:extLst>
          </p:cNvPr>
          <p:cNvSpPr/>
          <p:nvPr/>
        </p:nvSpPr>
        <p:spPr>
          <a:xfrm>
            <a:off x="90945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StockDetail" descr="GreenBiz ai-review screen, fictional sample data">
            <a:extLst>
              <a:ext uri="{FF2B5EF4-FFF2-40B4-BE49-F238E27FC236}">
                <a16:creationId xmlns:a16="http://schemas.microsoft.com/office/drawing/2014/main" id="{45107B70-9122-ADD2-D22E-6A1CD13C2C9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145363" y="1562100"/>
            <a:ext cx="2156275" cy="4673600"/>
          </a:xfrm>
          <a:prstGeom prst="rect">
            <a:avLst/>
          </a:prstGeom>
        </p:spPr>
      </p:pic>
    </p:spTree>
    <p:extLst>
      <p:ext uri="{BB962C8B-B14F-4D97-AF65-F5344CB8AC3E}">
        <p14:creationId xmlns:p14="http://schemas.microsoft.com/office/powerpoint/2010/main" val="11583350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80"/>
                                        <p:tgtEl>
                                          <p:spTgt spid="16"/>
                                        </p:tgtEl>
                                      </p:cBhvr>
                                    </p:animEffect>
                                    <p:anim calcmode="lin" valueType="num">
                                      <p:cBhvr>
                                        <p:cTn id="13" dur="580" fill="hold"/>
                                        <p:tgtEl>
                                          <p:spTgt spid="16"/>
                                        </p:tgtEl>
                                        <p:attrNameLst>
                                          <p:attrName>ppt_x</p:attrName>
                                        </p:attrNameLst>
                                      </p:cBhvr>
                                      <p:tavLst>
                                        <p:tav tm="0">
                                          <p:val>
                                            <p:strVal val="#ppt_x"/>
                                          </p:val>
                                        </p:tav>
                                        <p:tav tm="100000">
                                          <p:val>
                                            <p:strVal val="#ppt_x"/>
                                          </p:val>
                                        </p:tav>
                                      </p:tavLst>
                                    </p:anim>
                                    <p:anim calcmode="lin" valueType="num">
                                      <p:cBhvr>
                                        <p:cTn id="14" dur="58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80"/>
                                        <p:tgtEl>
                                          <p:spTgt spid="17"/>
                                        </p:tgtEl>
                                      </p:cBhvr>
                                    </p:animEffect>
                                    <p:anim calcmode="lin" valueType="num">
                                      <p:cBhvr>
                                        <p:cTn id="18" dur="580" fill="hold"/>
                                        <p:tgtEl>
                                          <p:spTgt spid="17"/>
                                        </p:tgtEl>
                                        <p:attrNameLst>
                                          <p:attrName>ppt_x</p:attrName>
                                        </p:attrNameLst>
                                      </p:cBhvr>
                                      <p:tavLst>
                                        <p:tav tm="0">
                                          <p:val>
                                            <p:strVal val="#ppt_x"/>
                                          </p:val>
                                        </p:tav>
                                        <p:tav tm="100000">
                                          <p:val>
                                            <p:strVal val="#ppt_x"/>
                                          </p:val>
                                        </p:tav>
                                      </p:tavLst>
                                    </p:anim>
                                    <p:anim calcmode="lin" valueType="num">
                                      <p:cBhvr>
                                        <p:cTn id="19" dur="58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80"/>
                                        <p:tgtEl>
                                          <p:spTgt spid="18"/>
                                        </p:tgtEl>
                                      </p:cBhvr>
                                    </p:animEffect>
                                    <p:anim calcmode="lin" valueType="num">
                                      <p:cBhvr>
                                        <p:cTn id="25" dur="580" fill="hold"/>
                                        <p:tgtEl>
                                          <p:spTgt spid="18"/>
                                        </p:tgtEl>
                                        <p:attrNameLst>
                                          <p:attrName>ppt_x</p:attrName>
                                        </p:attrNameLst>
                                      </p:cBhvr>
                                      <p:tavLst>
                                        <p:tav tm="0">
                                          <p:val>
                                            <p:strVal val="#ppt_x"/>
                                          </p:val>
                                        </p:tav>
                                        <p:tav tm="100000">
                                          <p:val>
                                            <p:strVal val="#ppt_x"/>
                                          </p:val>
                                        </p:tav>
                                      </p:tavLst>
                                    </p:anim>
                                    <p:anim calcmode="lin" valueType="num">
                                      <p:cBhvr>
                                        <p:cTn id="26" dur="580" fill="hold"/>
                                        <p:tgtEl>
                                          <p:spTgt spid="18"/>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80"/>
                                        <p:tgtEl>
                                          <p:spTgt spid="19"/>
                                        </p:tgtEl>
                                      </p:cBhvr>
                                    </p:animEffect>
                                    <p:anim calcmode="lin" valueType="num">
                                      <p:cBhvr>
                                        <p:cTn id="30" dur="580" fill="hold"/>
                                        <p:tgtEl>
                                          <p:spTgt spid="19"/>
                                        </p:tgtEl>
                                        <p:attrNameLst>
                                          <p:attrName>ppt_x</p:attrName>
                                        </p:attrNameLst>
                                      </p:cBhvr>
                                      <p:tavLst>
                                        <p:tav tm="0">
                                          <p:val>
                                            <p:strVal val="#ppt_x"/>
                                          </p:val>
                                        </p:tav>
                                        <p:tav tm="100000">
                                          <p:val>
                                            <p:strVal val="#ppt_x"/>
                                          </p:val>
                                        </p:tav>
                                      </p:tavLst>
                                    </p:anim>
                                    <p:anim calcmode="lin" valueType="num">
                                      <p:cBhvr>
                                        <p:cTn id="31" dur="58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accel="15000" decel="2500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8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8" grpId="0"/>
      <p:bldP spid="19"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Checkout by touch, text or voice">
            <a:extLst>
              <a:ext uri="{FF2B5EF4-FFF2-40B4-BE49-F238E27FC236}">
                <a16:creationId xmlns:a16="http://schemas.microsoft.com/office/drawing/2014/main" id="{8AB526BF-BBBF-F330-574D-FC9BFCDD37A6}"/>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Checkout by touch, text or voice</a:t>
            </a:r>
          </a:p>
        </p:txBody>
      </p:sp>
      <p:sp>
        <p:nvSpPr>
          <p:cNvPr id="15" name="Text GreenBiz">
            <a:extLst>
              <a:ext uri="{FF2B5EF4-FFF2-40B4-BE49-F238E27FC236}">
                <a16:creationId xmlns:a16="http://schemas.microsoft.com/office/drawing/2014/main" id="{5E5B3CEA-0241-888B-1BD3-CC750DC1BBF5}"/>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6" name="Text 08 / 25">
            <a:extLst>
              <a:ext uri="{FF2B5EF4-FFF2-40B4-BE49-F238E27FC236}">
                <a16:creationId xmlns:a16="http://schemas.microsoft.com/office/drawing/2014/main" id="{3E5B79AE-345F-1BE7-40D8-D6EE8F3CF2CF}"/>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08 / 25</a:t>
            </a:r>
          </a:p>
        </p:txBody>
      </p:sp>
      <p:sp>
        <p:nvSpPr>
          <p:cNvPr id="17" name="Text “Sell 1.5 kg rice”">
            <a:extLst>
              <a:ext uri="{FF2B5EF4-FFF2-40B4-BE49-F238E27FC236}">
                <a16:creationId xmlns:a16="http://schemas.microsoft.com/office/drawing/2014/main" id="{CF6ACD6E-4A69-76CC-34DD-5323DE890870}"/>
              </a:ext>
            </a:extLst>
          </p:cNvPr>
          <p:cNvSpPr txBox="1"/>
          <p:nvPr/>
        </p:nvSpPr>
        <p:spPr>
          <a:xfrm>
            <a:off x="609600" y="1955800"/>
            <a:ext cx="7175500" cy="1143000"/>
          </a:xfrm>
          <a:prstGeom prst="rect">
            <a:avLst/>
          </a:prstGeom>
          <a:noFill/>
        </p:spPr>
        <p:txBody>
          <a:bodyPr vert="horz" wrap="square" lIns="0" tIns="0" rIns="0" bIns="0" rtlCol="0">
            <a:noAutofit/>
          </a:bodyPr>
          <a:lstStyle/>
          <a:p>
            <a:r>
              <a:rPr lang="en-US" sz="4100" b="1">
                <a:solidFill>
                  <a:srgbClr val="4EE6C0"/>
                </a:solidFill>
                <a:latin typeface="Segoe UI" panose="020B0502040204020203" pitchFamily="34" charset="0"/>
              </a:rPr>
              <a:t>“Sell 1.5 kg rice”</a:t>
            </a:r>
          </a:p>
        </p:txBody>
      </p:sp>
      <p:sp>
        <p:nvSpPr>
          <p:cNvPr id="18" name="Text Type, speak or tap">
            <a:extLst>
              <a:ext uri="{FF2B5EF4-FFF2-40B4-BE49-F238E27FC236}">
                <a16:creationId xmlns:a16="http://schemas.microsoft.com/office/drawing/2014/main" id="{9BFC437D-474C-2E70-AEC2-03254C55C66C}"/>
              </a:ext>
            </a:extLst>
          </p:cNvPr>
          <p:cNvSpPr txBox="1"/>
          <p:nvPr/>
        </p:nvSpPr>
        <p:spPr>
          <a:xfrm>
            <a:off x="609600" y="3746500"/>
            <a:ext cx="67056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Type, speak or tap</a:t>
            </a:r>
          </a:p>
        </p:txBody>
      </p:sp>
      <p:sp>
        <p:nvSpPr>
          <p:cNvPr id="19" name="Text Offline name matching and online AI assist">
            <a:extLst>
              <a:ext uri="{FF2B5EF4-FFF2-40B4-BE49-F238E27FC236}">
                <a16:creationId xmlns:a16="http://schemas.microsoft.com/office/drawing/2014/main" id="{5804EF4D-D388-381F-5162-09811AFA4EEE}"/>
              </a:ext>
            </a:extLst>
          </p:cNvPr>
          <p:cNvSpPr txBox="1"/>
          <p:nvPr/>
        </p:nvSpPr>
        <p:spPr>
          <a:xfrm>
            <a:off x="609600" y="4368800"/>
            <a:ext cx="6705600" cy="1206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Offline name matching and online AI assistance help choose existing products.</a:t>
            </a:r>
          </a:p>
        </p:txBody>
      </p:sp>
      <p:sp>
        <p:nvSpPr>
          <p:cNvPr id="20" name="Text Confirm the sale">
            <a:extLst>
              <a:ext uri="{FF2B5EF4-FFF2-40B4-BE49-F238E27FC236}">
                <a16:creationId xmlns:a16="http://schemas.microsoft.com/office/drawing/2014/main" id="{BF0B136D-40D6-449C-FD1C-632975B5AD4B}"/>
              </a:ext>
            </a:extLst>
          </p:cNvPr>
          <p:cNvSpPr txBox="1"/>
          <p:nvPr/>
        </p:nvSpPr>
        <p:spPr>
          <a:xfrm>
            <a:off x="609600" y="5257800"/>
            <a:ext cx="67056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Confirm the sale</a:t>
            </a:r>
          </a:p>
        </p:txBody>
      </p:sp>
      <p:sp>
        <p:nvSpPr>
          <p:cNvPr id="21" name="Text Review quantity and payment method. Stock ">
            <a:extLst>
              <a:ext uri="{FF2B5EF4-FFF2-40B4-BE49-F238E27FC236}">
                <a16:creationId xmlns:a16="http://schemas.microsoft.com/office/drawing/2014/main" id="{A423C163-4F97-777A-FD09-D85F81C3C80A}"/>
              </a:ext>
            </a:extLst>
          </p:cNvPr>
          <p:cNvSpPr txBox="1"/>
          <p:nvPr/>
        </p:nvSpPr>
        <p:spPr>
          <a:xfrm>
            <a:off x="609600" y="5880100"/>
            <a:ext cx="6705600" cy="965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Review quantity and payment method. Stock updates with the saved sale.</a:t>
            </a:r>
          </a:p>
        </p:txBody>
      </p:sp>
      <p:sp>
        <p:nvSpPr>
          <p:cNvPr id="22" name="Screen surround sale">
            <a:extLst>
              <a:ext uri="{FF2B5EF4-FFF2-40B4-BE49-F238E27FC236}">
                <a16:creationId xmlns:a16="http://schemas.microsoft.com/office/drawing/2014/main" id="{6390817F-07A6-A074-A346-28B69CE471D8}"/>
              </a:ext>
            </a:extLst>
          </p:cNvPr>
          <p:cNvSpPr/>
          <p:nvPr/>
        </p:nvSpPr>
        <p:spPr>
          <a:xfrm>
            <a:off x="8992472" y="1536700"/>
            <a:ext cx="2246156" cy="47498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App screen sale" descr="GreenBiz sale screen, fictional sample data">
            <a:extLst>
              <a:ext uri="{FF2B5EF4-FFF2-40B4-BE49-F238E27FC236}">
                <a16:creationId xmlns:a16="http://schemas.microsoft.com/office/drawing/2014/main" id="{4B55C786-FF79-FC7A-9A4C-57E5AD2E237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043272" y="1587500"/>
            <a:ext cx="2144556" cy="4648200"/>
          </a:xfrm>
          <a:prstGeom prst="rect">
            <a:avLst/>
          </a:prstGeom>
        </p:spPr>
      </p:pic>
    </p:spTree>
    <p:extLst>
      <p:ext uri="{BB962C8B-B14F-4D97-AF65-F5344CB8AC3E}">
        <p14:creationId xmlns:p14="http://schemas.microsoft.com/office/powerpoint/2010/main" val="648661388"/>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800"/>
                                        <p:tgtEl>
                                          <p:spTgt spid="17"/>
                                        </p:tgtEl>
                                      </p:cBhvr>
                                    </p:animEffect>
                                    <p:animScale>
                                      <p:cBhvr>
                                        <p:cTn id="13" dur="800" fill="hold">
                                          <p:stCondLst>
                                            <p:cond delay="0"/>
                                          </p:stCondLst>
                                        </p:cTn>
                                        <p:tgtEl>
                                          <p:spTgt spid="17"/>
                                        </p:tgtEl>
                                      </p:cBhvr>
                                      <p:from x="96000" y="96000"/>
                                      <p:to x="100000" y="100000"/>
                                    </p:animScale>
                                  </p:childTnLst>
                                </p:cTn>
                              </p:par>
                            </p:childTnLst>
                          </p:cTn>
                        </p:par>
                      </p:childTnLst>
                    </p:cTn>
                  </p:par>
                  <p:par>
                    <p:cTn id="14" fill="hold">
                      <p:stCondLst>
                        <p:cond delay="indefinite"/>
                      </p:stCondLst>
                      <p:childTnLst>
                        <p:par>
                          <p:cTn id="15" fill="hold">
                            <p:stCondLst>
                              <p:cond delay="0"/>
                            </p:stCondLst>
                            <p:childTnLst>
                              <p:par>
                                <p:cTn id="16" presetID="42" presetClass="entr" presetSubtype="0" accel="15000" decel="2500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80"/>
                                        <p:tgtEl>
                                          <p:spTgt spid="18"/>
                                        </p:tgtEl>
                                      </p:cBhvr>
                                    </p:animEffect>
                                    <p:anim calcmode="lin" valueType="num">
                                      <p:cBhvr>
                                        <p:cTn id="19" dur="580" fill="hold"/>
                                        <p:tgtEl>
                                          <p:spTgt spid="18"/>
                                        </p:tgtEl>
                                        <p:attrNameLst>
                                          <p:attrName>ppt_x</p:attrName>
                                        </p:attrNameLst>
                                      </p:cBhvr>
                                      <p:tavLst>
                                        <p:tav tm="0">
                                          <p:val>
                                            <p:strVal val="#ppt_x"/>
                                          </p:val>
                                        </p:tav>
                                        <p:tav tm="100000">
                                          <p:val>
                                            <p:strVal val="#ppt_x"/>
                                          </p:val>
                                        </p:tav>
                                      </p:tavLst>
                                    </p:anim>
                                    <p:anim calcmode="lin" valueType="num">
                                      <p:cBhvr>
                                        <p:cTn id="20" dur="580" fill="hold"/>
                                        <p:tgtEl>
                                          <p:spTgt spid="18"/>
                                        </p:tgtEl>
                                        <p:attrNameLst>
                                          <p:attrName>ppt_y</p:attrName>
                                        </p:attrNameLst>
                                      </p:cBhvr>
                                      <p:tavLst>
                                        <p:tav tm="0">
                                          <p:val>
                                            <p:strVal val="#ppt_y+.1"/>
                                          </p:val>
                                        </p:tav>
                                        <p:tav tm="100000">
                                          <p:val>
                                            <p:strVal val="#ppt_y"/>
                                          </p:val>
                                        </p:tav>
                                      </p:tavLst>
                                    </p:anim>
                                  </p:childTnLst>
                                </p:cTn>
                              </p:par>
                              <p:par>
                                <p:cTn id="21" presetID="42" presetClass="entr" presetSubtype="0" accel="15000" decel="25000" fill="hold" grpId="0" nodeType="withEffect">
                                  <p:stCondLst>
                                    <p:cond delay="7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80"/>
                                        <p:tgtEl>
                                          <p:spTgt spid="19"/>
                                        </p:tgtEl>
                                      </p:cBhvr>
                                    </p:animEffect>
                                    <p:anim calcmode="lin" valueType="num">
                                      <p:cBhvr>
                                        <p:cTn id="24" dur="580" fill="hold"/>
                                        <p:tgtEl>
                                          <p:spTgt spid="19"/>
                                        </p:tgtEl>
                                        <p:attrNameLst>
                                          <p:attrName>ppt_x</p:attrName>
                                        </p:attrNameLst>
                                      </p:cBhvr>
                                      <p:tavLst>
                                        <p:tav tm="0">
                                          <p:val>
                                            <p:strVal val="#ppt_x"/>
                                          </p:val>
                                        </p:tav>
                                        <p:tav tm="100000">
                                          <p:val>
                                            <p:strVal val="#ppt_x"/>
                                          </p:val>
                                        </p:tav>
                                      </p:tavLst>
                                    </p:anim>
                                    <p:anim calcmode="lin" valueType="num">
                                      <p:cBhvr>
                                        <p:cTn id="25" dur="58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accel="15000" decel="2500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80"/>
                                        <p:tgtEl>
                                          <p:spTgt spid="20"/>
                                        </p:tgtEl>
                                      </p:cBhvr>
                                    </p:animEffect>
                                    <p:anim calcmode="lin" valueType="num">
                                      <p:cBhvr>
                                        <p:cTn id="31" dur="580" fill="hold"/>
                                        <p:tgtEl>
                                          <p:spTgt spid="20"/>
                                        </p:tgtEl>
                                        <p:attrNameLst>
                                          <p:attrName>ppt_x</p:attrName>
                                        </p:attrNameLst>
                                      </p:cBhvr>
                                      <p:tavLst>
                                        <p:tav tm="0">
                                          <p:val>
                                            <p:strVal val="#ppt_x"/>
                                          </p:val>
                                        </p:tav>
                                        <p:tav tm="100000">
                                          <p:val>
                                            <p:strVal val="#ppt_x"/>
                                          </p:val>
                                        </p:tav>
                                      </p:tavLst>
                                    </p:anim>
                                    <p:anim calcmode="lin" valueType="num">
                                      <p:cBhvr>
                                        <p:cTn id="32" dur="580" fill="hold"/>
                                        <p:tgtEl>
                                          <p:spTgt spid="20"/>
                                        </p:tgtEl>
                                        <p:attrNameLst>
                                          <p:attrName>ppt_y</p:attrName>
                                        </p:attrNameLst>
                                      </p:cBhvr>
                                      <p:tavLst>
                                        <p:tav tm="0">
                                          <p:val>
                                            <p:strVal val="#ppt_y+.1"/>
                                          </p:val>
                                        </p:tav>
                                        <p:tav tm="100000">
                                          <p:val>
                                            <p:strVal val="#ppt_y"/>
                                          </p:val>
                                        </p:tav>
                                      </p:tavLst>
                                    </p:anim>
                                  </p:childTnLst>
                                </p:cTn>
                              </p:par>
                              <p:par>
                                <p:cTn id="33" presetID="42" presetClass="entr" presetSubtype="0" accel="15000" decel="25000" fill="hold" grpId="0" nodeType="withEffect">
                                  <p:stCondLst>
                                    <p:cond delay="7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80"/>
                                        <p:tgtEl>
                                          <p:spTgt spid="21"/>
                                        </p:tgtEl>
                                      </p:cBhvr>
                                    </p:animEffect>
                                    <p:anim calcmode="lin" valueType="num">
                                      <p:cBhvr>
                                        <p:cTn id="36" dur="580" fill="hold"/>
                                        <p:tgtEl>
                                          <p:spTgt spid="21"/>
                                        </p:tgtEl>
                                        <p:attrNameLst>
                                          <p:attrName>ppt_x</p:attrName>
                                        </p:attrNameLst>
                                      </p:cBhvr>
                                      <p:tavLst>
                                        <p:tav tm="0">
                                          <p:val>
                                            <p:strVal val="#ppt_x"/>
                                          </p:val>
                                        </p:tav>
                                        <p:tav tm="100000">
                                          <p:val>
                                            <p:strVal val="#ppt_x"/>
                                          </p:val>
                                        </p:tav>
                                      </p:tavLst>
                                    </p:anim>
                                    <p:anim calcmode="lin" valueType="num">
                                      <p:cBhvr>
                                        <p:cTn id="37" dur="58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accel="15000" decel="25000"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800"/>
                                        <p:tgtEl>
                                          <p:spTgt spid="24"/>
                                        </p:tgtEl>
                                      </p:cBhvr>
                                    </p:animEffect>
                                    <p:animScale>
                                      <p:cBhvr>
                                        <p:cTn id="43" dur="800" fill="hold">
                                          <p:stCondLst>
                                            <p:cond delay="0"/>
                                          </p:stCondLst>
                                        </p:cTn>
                                        <p:tgtEl>
                                          <p:spTgt spid="24"/>
                                        </p:tgtEl>
                                      </p:cBhvr>
                                      <p:from x="96000" y="96000"/>
                                      <p:to x="100000" y="100000"/>
                                    </p:animScale>
                                  </p:childTnLst>
                                </p:cTn>
                              </p:par>
                              <p:par>
                                <p:cTn id="44" presetID="10" presetClass="entr" presetSubtype="0" accel="15000" decel="2500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0" grpId="0"/>
      <p:bldP spid="21" grpId="0"/>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9" name="Text Payment messages become useful records">
            <a:extLst>
              <a:ext uri="{FF2B5EF4-FFF2-40B4-BE49-F238E27FC236}">
                <a16:creationId xmlns:a16="http://schemas.microsoft.com/office/drawing/2014/main" id="{FD93F428-B668-FFC2-D0CD-33CEE6AE44FA}"/>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Payment messages become useful records</a:t>
            </a:r>
          </a:p>
        </p:txBody>
      </p:sp>
      <p:sp>
        <p:nvSpPr>
          <p:cNvPr id="10" name="Text GreenBiz">
            <a:extLst>
              <a:ext uri="{FF2B5EF4-FFF2-40B4-BE49-F238E27FC236}">
                <a16:creationId xmlns:a16="http://schemas.microsoft.com/office/drawing/2014/main" id="{717CC7E1-2A63-D583-1C6B-634E19E3577F}"/>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1" name="Text 09 / 25">
            <a:extLst>
              <a:ext uri="{FF2B5EF4-FFF2-40B4-BE49-F238E27FC236}">
                <a16:creationId xmlns:a16="http://schemas.microsoft.com/office/drawing/2014/main" id="{49E17B97-651B-BD48-20FC-6C1A6166E67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09 / 25</a:t>
            </a:r>
          </a:p>
        </p:txBody>
      </p:sp>
      <p:sp>
        <p:nvSpPr>
          <p:cNvPr id="12" name="Text Review payment evidence">
            <a:extLst>
              <a:ext uri="{FF2B5EF4-FFF2-40B4-BE49-F238E27FC236}">
                <a16:creationId xmlns:a16="http://schemas.microsoft.com/office/drawing/2014/main" id="{B5DFDFA5-D6C9-C04D-C03D-BDC23585E191}"/>
              </a:ext>
            </a:extLst>
          </p:cNvPr>
          <p:cNvSpPr txBox="1"/>
          <p:nvPr/>
        </p:nvSpPr>
        <p:spPr>
          <a:xfrm>
            <a:off x="609600" y="1930400"/>
            <a:ext cx="5080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Review payment evidence</a:t>
            </a:r>
          </a:p>
        </p:txBody>
      </p:sp>
      <p:sp>
        <p:nvSpPr>
          <p:cNvPr id="13" name="Text Import supported SMS or enter a payment ma">
            <a:extLst>
              <a:ext uri="{FF2B5EF4-FFF2-40B4-BE49-F238E27FC236}">
                <a16:creationId xmlns:a16="http://schemas.microsoft.com/office/drawing/2014/main" id="{C571B643-19A0-A17E-21D1-F62867794502}"/>
              </a:ext>
            </a:extLst>
          </p:cNvPr>
          <p:cNvSpPr txBox="1"/>
          <p:nvPr/>
        </p:nvSpPr>
        <p:spPr>
          <a:xfrm>
            <a:off x="609600" y="2552700"/>
            <a:ext cx="5080000" cy="1333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Import supported SMS or enter a payment manually. Read a message before import.</a:t>
            </a:r>
          </a:p>
        </p:txBody>
      </p:sp>
      <p:sp>
        <p:nvSpPr>
          <p:cNvPr id="14" name="Text Keep the purpose clear">
            <a:extLst>
              <a:ext uri="{FF2B5EF4-FFF2-40B4-BE49-F238E27FC236}">
                <a16:creationId xmlns:a16="http://schemas.microsoft.com/office/drawing/2014/main" id="{D5B76D69-FD32-2C5E-63CB-09C763A8A270}"/>
              </a:ext>
            </a:extLst>
          </p:cNvPr>
          <p:cNvSpPr txBox="1"/>
          <p:nvPr/>
        </p:nvSpPr>
        <p:spPr>
          <a:xfrm>
            <a:off x="609600" y="3619500"/>
            <a:ext cx="5080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Keep the purpose clear</a:t>
            </a:r>
          </a:p>
        </p:txBody>
      </p:sp>
      <p:sp>
        <p:nvSpPr>
          <p:cNvPr id="15" name="Text Filter All, SMS, Manual, Business or Perso">
            <a:extLst>
              <a:ext uri="{FF2B5EF4-FFF2-40B4-BE49-F238E27FC236}">
                <a16:creationId xmlns:a16="http://schemas.microsoft.com/office/drawing/2014/main" id="{D5D41943-8983-99EA-BD9C-4F471A9345F0}"/>
              </a:ext>
            </a:extLst>
          </p:cNvPr>
          <p:cNvSpPr txBox="1"/>
          <p:nvPr/>
        </p:nvSpPr>
        <p:spPr>
          <a:xfrm>
            <a:off x="609600" y="4241800"/>
            <a:ext cx="5080000" cy="1397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Filter All, SMS, Manual, Business or Personal. Tap a record for details.</a:t>
            </a:r>
          </a:p>
        </p:txBody>
      </p:sp>
      <p:sp>
        <p:nvSpPr>
          <p:cNvPr id="16" name="Text Actual payment-account checks remain the o">
            <a:extLst>
              <a:ext uri="{FF2B5EF4-FFF2-40B4-BE49-F238E27FC236}">
                <a16:creationId xmlns:a16="http://schemas.microsoft.com/office/drawing/2014/main" id="{374E729B-28D6-84FA-629C-DF7C0F36AC3B}"/>
              </a:ext>
            </a:extLst>
          </p:cNvPr>
          <p:cNvSpPr txBox="1"/>
          <p:nvPr/>
        </p:nvSpPr>
        <p:spPr>
          <a:xfrm>
            <a:off x="609600" y="5575300"/>
            <a:ext cx="5105400" cy="673100"/>
          </a:xfrm>
          <a:prstGeom prst="rect">
            <a:avLst/>
          </a:prstGeom>
          <a:noFill/>
        </p:spPr>
        <p:txBody>
          <a:bodyPr vert="horz" wrap="square" lIns="0" tIns="0" rIns="0" bIns="0" rtlCol="0">
            <a:noAutofit/>
          </a:bodyPr>
          <a:lstStyle/>
          <a:p>
            <a:r>
              <a:rPr lang="en-US" b="1">
                <a:solidFill>
                  <a:srgbClr val="F4B84A"/>
                </a:solidFill>
                <a:latin typeface="Segoe UI" panose="020B0502040204020203" pitchFamily="34" charset="0"/>
              </a:rPr>
              <a:t>Actual payment-account checks remain the owner's responsibility.</a:t>
            </a:r>
          </a:p>
        </p:txBody>
      </p:sp>
      <p:sp>
        <p:nvSpPr>
          <p:cNvPr id="17" name="Screen surround transactions">
            <a:extLst>
              <a:ext uri="{FF2B5EF4-FFF2-40B4-BE49-F238E27FC236}">
                <a16:creationId xmlns:a16="http://schemas.microsoft.com/office/drawing/2014/main" id="{290B3A96-134A-1C8C-6D78-18B0C0162CD3}"/>
              </a:ext>
            </a:extLst>
          </p:cNvPr>
          <p:cNvSpPr/>
          <p:nvPr/>
        </p:nvSpPr>
        <p:spPr>
          <a:xfrm>
            <a:off x="64148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App screen transactions" descr="GreenBiz transactions screen, fictional sample data">
            <a:extLst>
              <a:ext uri="{FF2B5EF4-FFF2-40B4-BE49-F238E27FC236}">
                <a16:creationId xmlns:a16="http://schemas.microsoft.com/office/drawing/2014/main" id="{63DF3353-1AD3-FCB3-B113-40B40707BB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65663" y="1562100"/>
            <a:ext cx="2156275" cy="4673600"/>
          </a:xfrm>
          <a:prstGeom prst="rect">
            <a:avLst/>
          </a:prstGeom>
        </p:spPr>
      </p:pic>
      <p:sp>
        <p:nvSpPr>
          <p:cNvPr id="20" name="Screen surround payments">
            <a:extLst>
              <a:ext uri="{FF2B5EF4-FFF2-40B4-BE49-F238E27FC236}">
                <a16:creationId xmlns:a16="http://schemas.microsoft.com/office/drawing/2014/main" id="{38720837-A50A-7603-3736-F22235A39392}"/>
              </a:ext>
            </a:extLst>
          </p:cNvPr>
          <p:cNvSpPr/>
          <p:nvPr/>
        </p:nvSpPr>
        <p:spPr>
          <a:xfrm>
            <a:off x="90945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App screen payments" descr="GreenBiz payments screen, fictional sample data">
            <a:extLst>
              <a:ext uri="{FF2B5EF4-FFF2-40B4-BE49-F238E27FC236}">
                <a16:creationId xmlns:a16="http://schemas.microsoft.com/office/drawing/2014/main" id="{70C85E0B-85F6-AF6A-2D8B-9B8CBFD5BCB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145363" y="1562100"/>
            <a:ext cx="2156275" cy="4673600"/>
          </a:xfrm>
          <a:prstGeom prst="rect">
            <a:avLst/>
          </a:prstGeom>
        </p:spPr>
      </p:pic>
    </p:spTree>
    <p:extLst>
      <p:ext uri="{BB962C8B-B14F-4D97-AF65-F5344CB8AC3E}">
        <p14:creationId xmlns:p14="http://schemas.microsoft.com/office/powerpoint/2010/main" val="24424645"/>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80"/>
                                        <p:tgtEl>
                                          <p:spTgt spid="12"/>
                                        </p:tgtEl>
                                      </p:cBhvr>
                                    </p:animEffect>
                                    <p:anim calcmode="lin" valueType="num">
                                      <p:cBhvr>
                                        <p:cTn id="13" dur="580" fill="hold"/>
                                        <p:tgtEl>
                                          <p:spTgt spid="12"/>
                                        </p:tgtEl>
                                        <p:attrNameLst>
                                          <p:attrName>ppt_x</p:attrName>
                                        </p:attrNameLst>
                                      </p:cBhvr>
                                      <p:tavLst>
                                        <p:tav tm="0">
                                          <p:val>
                                            <p:strVal val="#ppt_x"/>
                                          </p:val>
                                        </p:tav>
                                        <p:tav tm="100000">
                                          <p:val>
                                            <p:strVal val="#ppt_x"/>
                                          </p:val>
                                        </p:tav>
                                      </p:tavLst>
                                    </p:anim>
                                    <p:anim calcmode="lin" valueType="num">
                                      <p:cBhvr>
                                        <p:cTn id="14" dur="58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80"/>
                                        <p:tgtEl>
                                          <p:spTgt spid="13"/>
                                        </p:tgtEl>
                                      </p:cBhvr>
                                    </p:animEffect>
                                    <p:anim calcmode="lin" valueType="num">
                                      <p:cBhvr>
                                        <p:cTn id="18" dur="580" fill="hold"/>
                                        <p:tgtEl>
                                          <p:spTgt spid="13"/>
                                        </p:tgtEl>
                                        <p:attrNameLst>
                                          <p:attrName>ppt_x</p:attrName>
                                        </p:attrNameLst>
                                      </p:cBhvr>
                                      <p:tavLst>
                                        <p:tav tm="0">
                                          <p:val>
                                            <p:strVal val="#ppt_x"/>
                                          </p:val>
                                        </p:tav>
                                        <p:tav tm="100000">
                                          <p:val>
                                            <p:strVal val="#ppt_x"/>
                                          </p:val>
                                        </p:tav>
                                      </p:tavLst>
                                    </p:anim>
                                    <p:anim calcmode="lin" valueType="num">
                                      <p:cBhvr>
                                        <p:cTn id="19" dur="58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80"/>
                                        <p:tgtEl>
                                          <p:spTgt spid="14"/>
                                        </p:tgtEl>
                                      </p:cBhvr>
                                    </p:animEffect>
                                    <p:anim calcmode="lin" valueType="num">
                                      <p:cBhvr>
                                        <p:cTn id="25" dur="580" fill="hold"/>
                                        <p:tgtEl>
                                          <p:spTgt spid="14"/>
                                        </p:tgtEl>
                                        <p:attrNameLst>
                                          <p:attrName>ppt_x</p:attrName>
                                        </p:attrNameLst>
                                      </p:cBhvr>
                                      <p:tavLst>
                                        <p:tav tm="0">
                                          <p:val>
                                            <p:strVal val="#ppt_x"/>
                                          </p:val>
                                        </p:tav>
                                        <p:tav tm="100000">
                                          <p:val>
                                            <p:strVal val="#ppt_x"/>
                                          </p:val>
                                        </p:tav>
                                      </p:tavLst>
                                    </p:anim>
                                    <p:anim calcmode="lin" valueType="num">
                                      <p:cBhvr>
                                        <p:cTn id="26" dur="580" fill="hold"/>
                                        <p:tgtEl>
                                          <p:spTgt spid="14"/>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80"/>
                                        <p:tgtEl>
                                          <p:spTgt spid="15"/>
                                        </p:tgtEl>
                                      </p:cBhvr>
                                    </p:animEffect>
                                    <p:anim calcmode="lin" valueType="num">
                                      <p:cBhvr>
                                        <p:cTn id="30" dur="580" fill="hold"/>
                                        <p:tgtEl>
                                          <p:spTgt spid="15"/>
                                        </p:tgtEl>
                                        <p:attrNameLst>
                                          <p:attrName>ppt_x</p:attrName>
                                        </p:attrNameLst>
                                      </p:cBhvr>
                                      <p:tavLst>
                                        <p:tav tm="0">
                                          <p:val>
                                            <p:strVal val="#ppt_x"/>
                                          </p:val>
                                        </p:tav>
                                        <p:tav tm="100000">
                                          <p:val>
                                            <p:strVal val="#ppt_x"/>
                                          </p:val>
                                        </p:tav>
                                      </p:tavLst>
                                    </p:anim>
                                    <p:anim calcmode="lin" valueType="num">
                                      <p:cBhvr>
                                        <p:cTn id="31" dur="58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accel="15000" decel="2500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8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15000" decel="2500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800"/>
                                        <p:tgtEl>
                                          <p:spTgt spid="19"/>
                                        </p:tgtEl>
                                      </p:cBhvr>
                                    </p:animEffect>
                                    <p:animScale>
                                      <p:cBhvr>
                                        <p:cTn id="42" dur="800" fill="hold">
                                          <p:stCondLst>
                                            <p:cond delay="0"/>
                                          </p:stCondLst>
                                        </p:cTn>
                                        <p:tgtEl>
                                          <p:spTgt spid="19"/>
                                        </p:tgtEl>
                                      </p:cBhvr>
                                      <p:from x="96000" y="96000"/>
                                      <p:to x="100000" y="100000"/>
                                    </p:animScale>
                                  </p:childTnLst>
                                </p:cTn>
                              </p:par>
                              <p:par>
                                <p:cTn id="43" presetID="10" presetClass="entr" presetSubtype="0" accel="15000" decel="2500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6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accel="15000" decel="25000" fill="hold"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800"/>
                                        <p:tgtEl>
                                          <p:spTgt spid="22"/>
                                        </p:tgtEl>
                                      </p:cBhvr>
                                    </p:animEffect>
                                    <p:animScale>
                                      <p:cBhvr>
                                        <p:cTn id="51" dur="800" fill="hold">
                                          <p:stCondLst>
                                            <p:cond delay="0"/>
                                          </p:stCondLst>
                                        </p:cTn>
                                        <p:tgtEl>
                                          <p:spTgt spid="22"/>
                                        </p:tgtEl>
                                      </p:cBhvr>
                                      <p:from x="96000" y="96000"/>
                                      <p:to x="100000" y="100000"/>
                                    </p:animScale>
                                  </p:childTnLst>
                                </p:cTn>
                              </p:par>
                              <p:par>
                                <p:cTn id="52" presetID="10" presetClass="entr" presetSubtype="0" accel="15000" decel="2500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4" grpId="0"/>
      <p:bldP spid="15" grpId="0"/>
      <p:bldP spid="16" grpId="0"/>
      <p:bldP spid="17"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A payment matched to the sale">
            <a:extLst>
              <a:ext uri="{FF2B5EF4-FFF2-40B4-BE49-F238E27FC236}">
                <a16:creationId xmlns:a16="http://schemas.microsoft.com/office/drawing/2014/main" id="{EC00E467-749F-DA9A-5F94-E4B9F90ACD14}"/>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A payment matched to the sale</a:t>
            </a:r>
          </a:p>
        </p:txBody>
      </p:sp>
      <p:sp>
        <p:nvSpPr>
          <p:cNvPr id="15" name="Text GreenBiz">
            <a:extLst>
              <a:ext uri="{FF2B5EF4-FFF2-40B4-BE49-F238E27FC236}">
                <a16:creationId xmlns:a16="http://schemas.microsoft.com/office/drawing/2014/main" id="{C5991E74-16BA-516F-2F24-82E7E8C08760}"/>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6" name="Text 10 / 25">
            <a:extLst>
              <a:ext uri="{FF2B5EF4-FFF2-40B4-BE49-F238E27FC236}">
                <a16:creationId xmlns:a16="http://schemas.microsoft.com/office/drawing/2014/main" id="{36212799-6EC8-DDD7-FEF0-EBB53D32581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10 / 25</a:t>
            </a:r>
          </a:p>
        </p:txBody>
      </p:sp>
      <p:sp>
        <p:nvSpPr>
          <p:cNvPr id="17" name="Text The closest recent match">
            <a:extLst>
              <a:ext uri="{FF2B5EF4-FFF2-40B4-BE49-F238E27FC236}">
                <a16:creationId xmlns:a16="http://schemas.microsoft.com/office/drawing/2014/main" id="{588A81CF-B3E6-4E86-A7C6-3514396DDBF9}"/>
              </a:ext>
            </a:extLst>
          </p:cNvPr>
          <p:cNvSpPr txBox="1"/>
          <p:nvPr/>
        </p:nvSpPr>
        <p:spPr>
          <a:xfrm>
            <a:off x="609600" y="1905000"/>
            <a:ext cx="6731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The closest recent match</a:t>
            </a:r>
          </a:p>
        </p:txBody>
      </p:sp>
      <p:sp>
        <p:nvSpPr>
          <p:cNvPr id="18" name="Text Recent payment messages appear first, rank">
            <a:extLst>
              <a:ext uri="{FF2B5EF4-FFF2-40B4-BE49-F238E27FC236}">
                <a16:creationId xmlns:a16="http://schemas.microsoft.com/office/drawing/2014/main" id="{75AD2061-BAB0-A6F7-36B5-54EB8145BD15}"/>
              </a:ext>
            </a:extLst>
          </p:cNvPr>
          <p:cNvSpPr txBox="1"/>
          <p:nvPr/>
        </p:nvSpPr>
        <p:spPr>
          <a:xfrm>
            <a:off x="609600" y="2527300"/>
            <a:ext cx="6731000" cy="9906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Recent payment messages appear first, ranked by amount.</a:t>
            </a:r>
          </a:p>
        </p:txBody>
      </p:sp>
      <p:sp>
        <p:nvSpPr>
          <p:cNvPr id="19" name="Text A small charge difference">
            <a:extLst>
              <a:ext uri="{FF2B5EF4-FFF2-40B4-BE49-F238E27FC236}">
                <a16:creationId xmlns:a16="http://schemas.microsoft.com/office/drawing/2014/main" id="{0B0FE29C-1595-9BE4-B7D1-E908FA4A8B48}"/>
              </a:ext>
            </a:extLst>
          </p:cNvPr>
          <p:cNvSpPr txBox="1"/>
          <p:nvPr/>
        </p:nvSpPr>
        <p:spPr>
          <a:xfrm>
            <a:off x="609600" y="3492500"/>
            <a:ext cx="6731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 small charge difference</a:t>
            </a:r>
          </a:p>
        </p:txBody>
      </p:sp>
      <p:sp>
        <p:nvSpPr>
          <p:cNvPr id="20" name="Text Match within 2% of the bill, with a minimu">
            <a:extLst>
              <a:ext uri="{FF2B5EF4-FFF2-40B4-BE49-F238E27FC236}">
                <a16:creationId xmlns:a16="http://schemas.microsoft.com/office/drawing/2014/main" id="{F3FF7952-60A5-7EC1-48A8-203C014E52B1}"/>
              </a:ext>
            </a:extLst>
          </p:cNvPr>
          <p:cNvSpPr txBox="1"/>
          <p:nvPr/>
        </p:nvSpPr>
        <p:spPr>
          <a:xfrm>
            <a:off x="609600" y="4114800"/>
            <a:ext cx="6731000" cy="13081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Match within 2% of the bill, with a minimum allowance of 1 base-currency unit.</a:t>
            </a:r>
          </a:p>
        </p:txBody>
      </p:sp>
      <p:sp>
        <p:nvSpPr>
          <p:cNvPr id="21" name="Text A clear exception path">
            <a:extLst>
              <a:ext uri="{FF2B5EF4-FFF2-40B4-BE49-F238E27FC236}">
                <a16:creationId xmlns:a16="http://schemas.microsoft.com/office/drawing/2014/main" id="{F5FFABEA-5672-3AD5-3874-6B73B7381D9D}"/>
              </a:ext>
            </a:extLst>
          </p:cNvPr>
          <p:cNvSpPr txBox="1"/>
          <p:nvPr/>
        </p:nvSpPr>
        <p:spPr>
          <a:xfrm>
            <a:off x="609600" y="5181600"/>
            <a:ext cx="6731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 clear exception path</a:t>
            </a:r>
          </a:p>
        </p:txBody>
      </p:sp>
      <p:sp>
        <p:nvSpPr>
          <p:cNvPr id="22" name="Text Refresh, look further back or record manua">
            <a:extLst>
              <a:ext uri="{FF2B5EF4-FFF2-40B4-BE49-F238E27FC236}">
                <a16:creationId xmlns:a16="http://schemas.microsoft.com/office/drawing/2014/main" id="{AFD1ABA1-3202-51A7-97D2-573461EE69E9}"/>
              </a:ext>
            </a:extLst>
          </p:cNvPr>
          <p:cNvSpPr txBox="1"/>
          <p:nvPr/>
        </p:nvSpPr>
        <p:spPr>
          <a:xfrm>
            <a:off x="609600" y="5803900"/>
            <a:ext cx="6731000" cy="1079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Refresh, look further back or record manually. Ask before saving a mismatch separately.</a:t>
            </a:r>
          </a:p>
        </p:txBody>
      </p:sp>
      <p:sp>
        <p:nvSpPr>
          <p:cNvPr id="23" name="Screen surround payment-picker">
            <a:extLst>
              <a:ext uri="{FF2B5EF4-FFF2-40B4-BE49-F238E27FC236}">
                <a16:creationId xmlns:a16="http://schemas.microsoft.com/office/drawing/2014/main" id="{85A358FE-6CF1-B008-BD11-A7A372945F68}"/>
              </a:ext>
            </a:extLst>
          </p:cNvPr>
          <p:cNvSpPr/>
          <p:nvPr/>
        </p:nvSpPr>
        <p:spPr>
          <a:xfrm>
            <a:off x="8992472" y="1536700"/>
            <a:ext cx="2246156" cy="47498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App screen payment-picker" descr="GreenBiz payment-picker screen, fictional sample data">
            <a:extLst>
              <a:ext uri="{FF2B5EF4-FFF2-40B4-BE49-F238E27FC236}">
                <a16:creationId xmlns:a16="http://schemas.microsoft.com/office/drawing/2014/main" id="{84C6D322-9CFA-87A7-6104-EE29453D4B4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043272" y="1587500"/>
            <a:ext cx="2144556" cy="4648200"/>
          </a:xfrm>
          <a:prstGeom prst="rect">
            <a:avLst/>
          </a:prstGeom>
        </p:spPr>
      </p:pic>
    </p:spTree>
    <p:extLst>
      <p:ext uri="{BB962C8B-B14F-4D97-AF65-F5344CB8AC3E}">
        <p14:creationId xmlns:p14="http://schemas.microsoft.com/office/powerpoint/2010/main" val="492197236"/>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80"/>
                                        <p:tgtEl>
                                          <p:spTgt spid="17"/>
                                        </p:tgtEl>
                                      </p:cBhvr>
                                    </p:animEffect>
                                    <p:anim calcmode="lin" valueType="num">
                                      <p:cBhvr>
                                        <p:cTn id="13" dur="580" fill="hold"/>
                                        <p:tgtEl>
                                          <p:spTgt spid="17"/>
                                        </p:tgtEl>
                                        <p:attrNameLst>
                                          <p:attrName>ppt_x</p:attrName>
                                        </p:attrNameLst>
                                      </p:cBhvr>
                                      <p:tavLst>
                                        <p:tav tm="0">
                                          <p:val>
                                            <p:strVal val="#ppt_x"/>
                                          </p:val>
                                        </p:tav>
                                        <p:tav tm="100000">
                                          <p:val>
                                            <p:strVal val="#ppt_x"/>
                                          </p:val>
                                        </p:tav>
                                      </p:tavLst>
                                    </p:anim>
                                    <p:anim calcmode="lin" valueType="num">
                                      <p:cBhvr>
                                        <p:cTn id="14" dur="58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80"/>
                                        <p:tgtEl>
                                          <p:spTgt spid="18"/>
                                        </p:tgtEl>
                                      </p:cBhvr>
                                    </p:animEffect>
                                    <p:anim calcmode="lin" valueType="num">
                                      <p:cBhvr>
                                        <p:cTn id="18" dur="580" fill="hold"/>
                                        <p:tgtEl>
                                          <p:spTgt spid="18"/>
                                        </p:tgtEl>
                                        <p:attrNameLst>
                                          <p:attrName>ppt_x</p:attrName>
                                        </p:attrNameLst>
                                      </p:cBhvr>
                                      <p:tavLst>
                                        <p:tav tm="0">
                                          <p:val>
                                            <p:strVal val="#ppt_x"/>
                                          </p:val>
                                        </p:tav>
                                        <p:tav tm="100000">
                                          <p:val>
                                            <p:strVal val="#ppt_x"/>
                                          </p:val>
                                        </p:tav>
                                      </p:tavLst>
                                    </p:anim>
                                    <p:anim calcmode="lin" valueType="num">
                                      <p:cBhvr>
                                        <p:cTn id="19" dur="58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80"/>
                                        <p:tgtEl>
                                          <p:spTgt spid="19"/>
                                        </p:tgtEl>
                                      </p:cBhvr>
                                    </p:animEffect>
                                    <p:anim calcmode="lin" valueType="num">
                                      <p:cBhvr>
                                        <p:cTn id="25" dur="580" fill="hold"/>
                                        <p:tgtEl>
                                          <p:spTgt spid="19"/>
                                        </p:tgtEl>
                                        <p:attrNameLst>
                                          <p:attrName>ppt_x</p:attrName>
                                        </p:attrNameLst>
                                      </p:cBhvr>
                                      <p:tavLst>
                                        <p:tav tm="0">
                                          <p:val>
                                            <p:strVal val="#ppt_x"/>
                                          </p:val>
                                        </p:tav>
                                        <p:tav tm="100000">
                                          <p:val>
                                            <p:strVal val="#ppt_x"/>
                                          </p:val>
                                        </p:tav>
                                      </p:tavLst>
                                    </p:anim>
                                    <p:anim calcmode="lin" valueType="num">
                                      <p:cBhvr>
                                        <p:cTn id="26" dur="580" fill="hold"/>
                                        <p:tgtEl>
                                          <p:spTgt spid="19"/>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80"/>
                                        <p:tgtEl>
                                          <p:spTgt spid="20"/>
                                        </p:tgtEl>
                                      </p:cBhvr>
                                    </p:animEffect>
                                    <p:anim calcmode="lin" valueType="num">
                                      <p:cBhvr>
                                        <p:cTn id="30" dur="580" fill="hold"/>
                                        <p:tgtEl>
                                          <p:spTgt spid="20"/>
                                        </p:tgtEl>
                                        <p:attrNameLst>
                                          <p:attrName>ppt_x</p:attrName>
                                        </p:attrNameLst>
                                      </p:cBhvr>
                                      <p:tavLst>
                                        <p:tav tm="0">
                                          <p:val>
                                            <p:strVal val="#ppt_x"/>
                                          </p:val>
                                        </p:tav>
                                        <p:tav tm="100000">
                                          <p:val>
                                            <p:strVal val="#ppt_x"/>
                                          </p:val>
                                        </p:tav>
                                      </p:tavLst>
                                    </p:anim>
                                    <p:anim calcmode="lin" valueType="num">
                                      <p:cBhvr>
                                        <p:cTn id="31" dur="58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accel="15000" decel="2500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80"/>
                                        <p:tgtEl>
                                          <p:spTgt spid="21"/>
                                        </p:tgtEl>
                                      </p:cBhvr>
                                    </p:animEffect>
                                    <p:anim calcmode="lin" valueType="num">
                                      <p:cBhvr>
                                        <p:cTn id="37" dur="580" fill="hold"/>
                                        <p:tgtEl>
                                          <p:spTgt spid="21"/>
                                        </p:tgtEl>
                                        <p:attrNameLst>
                                          <p:attrName>ppt_x</p:attrName>
                                        </p:attrNameLst>
                                      </p:cBhvr>
                                      <p:tavLst>
                                        <p:tav tm="0">
                                          <p:val>
                                            <p:strVal val="#ppt_x"/>
                                          </p:val>
                                        </p:tav>
                                        <p:tav tm="100000">
                                          <p:val>
                                            <p:strVal val="#ppt_x"/>
                                          </p:val>
                                        </p:tav>
                                      </p:tavLst>
                                    </p:anim>
                                    <p:anim calcmode="lin" valueType="num">
                                      <p:cBhvr>
                                        <p:cTn id="38" dur="580" fill="hold"/>
                                        <p:tgtEl>
                                          <p:spTgt spid="21"/>
                                        </p:tgtEl>
                                        <p:attrNameLst>
                                          <p:attrName>ppt_y</p:attrName>
                                        </p:attrNameLst>
                                      </p:cBhvr>
                                      <p:tavLst>
                                        <p:tav tm="0">
                                          <p:val>
                                            <p:strVal val="#ppt_y+.1"/>
                                          </p:val>
                                        </p:tav>
                                        <p:tav tm="100000">
                                          <p:val>
                                            <p:strVal val="#ppt_y"/>
                                          </p:val>
                                        </p:tav>
                                      </p:tavLst>
                                    </p:anim>
                                  </p:childTnLst>
                                </p:cTn>
                              </p:par>
                              <p:par>
                                <p:cTn id="39" presetID="42" presetClass="entr" presetSubtype="0" accel="15000" decel="25000" fill="hold" grpId="0" nodeType="withEffect">
                                  <p:stCondLst>
                                    <p:cond delay="7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80"/>
                                        <p:tgtEl>
                                          <p:spTgt spid="22"/>
                                        </p:tgtEl>
                                      </p:cBhvr>
                                    </p:animEffect>
                                    <p:anim calcmode="lin" valueType="num">
                                      <p:cBhvr>
                                        <p:cTn id="42" dur="580" fill="hold"/>
                                        <p:tgtEl>
                                          <p:spTgt spid="22"/>
                                        </p:tgtEl>
                                        <p:attrNameLst>
                                          <p:attrName>ppt_x</p:attrName>
                                        </p:attrNameLst>
                                      </p:cBhvr>
                                      <p:tavLst>
                                        <p:tav tm="0">
                                          <p:val>
                                            <p:strVal val="#ppt_x"/>
                                          </p:val>
                                        </p:tav>
                                        <p:tav tm="100000">
                                          <p:val>
                                            <p:strVal val="#ppt_x"/>
                                          </p:val>
                                        </p:tav>
                                      </p:tavLst>
                                    </p:anim>
                                    <p:anim calcmode="lin" valueType="num">
                                      <p:cBhvr>
                                        <p:cTn id="43" dur="58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accel="15000" decel="25000" fill="hold"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800"/>
                                        <p:tgtEl>
                                          <p:spTgt spid="25"/>
                                        </p:tgtEl>
                                      </p:cBhvr>
                                    </p:animEffect>
                                    <p:animScale>
                                      <p:cBhvr>
                                        <p:cTn id="49" dur="800" fill="hold">
                                          <p:stCondLst>
                                            <p:cond delay="0"/>
                                          </p:stCondLst>
                                        </p:cTn>
                                        <p:tgtEl>
                                          <p:spTgt spid="25"/>
                                        </p:tgtEl>
                                      </p:cBhvr>
                                      <p:from x="96000" y="96000"/>
                                      <p:to x="100000" y="100000"/>
                                    </p:animScale>
                                  </p:childTnLst>
                                </p:cTn>
                              </p:par>
                              <p:par>
                                <p:cTn id="50" presetID="10" presetClass="entr" presetSubtype="0" accel="15000" decel="2500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0" grpId="0"/>
      <p:bldP spid="21" grpId="0"/>
      <p:bldP spid="22" grpId="0"/>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Live payments and a clear receipt">
            <a:extLst>
              <a:ext uri="{FF2B5EF4-FFF2-40B4-BE49-F238E27FC236}">
                <a16:creationId xmlns:a16="http://schemas.microsoft.com/office/drawing/2014/main" id="{D7E0EBF0-A842-C1FA-DC31-A7EF0E8BE4CE}"/>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Live payments and a clear receipt</a:t>
            </a:r>
          </a:p>
        </p:txBody>
      </p:sp>
      <p:sp>
        <p:nvSpPr>
          <p:cNvPr id="15" name="Text GreenBiz">
            <a:extLst>
              <a:ext uri="{FF2B5EF4-FFF2-40B4-BE49-F238E27FC236}">
                <a16:creationId xmlns:a16="http://schemas.microsoft.com/office/drawing/2014/main" id="{EE3047EF-D539-B693-B405-726DB196697C}"/>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6" name="Text 11 / 25">
            <a:extLst>
              <a:ext uri="{FF2B5EF4-FFF2-40B4-BE49-F238E27FC236}">
                <a16:creationId xmlns:a16="http://schemas.microsoft.com/office/drawing/2014/main" id="{0D800A02-9742-4D43-55A5-073EED84E328}"/>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11 / 25</a:t>
            </a:r>
          </a:p>
        </p:txBody>
      </p:sp>
      <p:sp>
        <p:nvSpPr>
          <p:cNvPr id="17" name="Text When a payment arrives">
            <a:extLst>
              <a:ext uri="{FF2B5EF4-FFF2-40B4-BE49-F238E27FC236}">
                <a16:creationId xmlns:a16="http://schemas.microsoft.com/office/drawing/2014/main" id="{7344C301-80D8-24E3-FA59-6F4EE50DD495}"/>
              </a:ext>
            </a:extLst>
          </p:cNvPr>
          <p:cNvSpPr txBox="1"/>
          <p:nvPr/>
        </p:nvSpPr>
        <p:spPr>
          <a:xfrm>
            <a:off x="609600" y="19050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When a payment arrives</a:t>
            </a:r>
          </a:p>
        </p:txBody>
      </p:sp>
      <p:sp>
        <p:nvSpPr>
          <p:cNvPr id="18" name="Text An Android prompt can start a sale. A matc">
            <a:extLst>
              <a:ext uri="{FF2B5EF4-FFF2-40B4-BE49-F238E27FC236}">
                <a16:creationId xmlns:a16="http://schemas.microsoft.com/office/drawing/2014/main" id="{B6C1FCC7-3951-E8C0-07BD-10FDB7447425}"/>
              </a:ext>
            </a:extLst>
          </p:cNvPr>
          <p:cNvSpPr txBox="1"/>
          <p:nvPr/>
        </p:nvSpPr>
        <p:spPr>
          <a:xfrm>
            <a:off x="609600" y="2527300"/>
            <a:ext cx="6794500" cy="1333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An Android prompt can start a sale. A matching banner can attach it during checkout.</a:t>
            </a:r>
          </a:p>
        </p:txBody>
      </p:sp>
      <p:sp>
        <p:nvSpPr>
          <p:cNvPr id="19" name="Text When the sale completes">
            <a:extLst>
              <a:ext uri="{FF2B5EF4-FFF2-40B4-BE49-F238E27FC236}">
                <a16:creationId xmlns:a16="http://schemas.microsoft.com/office/drawing/2014/main" id="{A71CCA3F-994B-E7BC-EFD4-9C4AC500DF78}"/>
              </a:ext>
            </a:extLst>
          </p:cNvPr>
          <p:cNvSpPr txBox="1"/>
          <p:nvPr/>
        </p:nvSpPr>
        <p:spPr>
          <a:xfrm>
            <a:off x="609600" y="36957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When the sale completes</a:t>
            </a:r>
          </a:p>
        </p:txBody>
      </p:sp>
      <p:sp>
        <p:nvSpPr>
          <p:cNvPr id="20" name="Text The receipt shows items, method, TrxID, cu">
            <a:extLst>
              <a:ext uri="{FF2B5EF4-FFF2-40B4-BE49-F238E27FC236}">
                <a16:creationId xmlns:a16="http://schemas.microsoft.com/office/drawing/2014/main" id="{E5236A0A-47CF-D9E9-AD69-9D95CF0D616F}"/>
              </a:ext>
            </a:extLst>
          </p:cNvPr>
          <p:cNvSpPr txBox="1"/>
          <p:nvPr/>
        </p:nvSpPr>
        <p:spPr>
          <a:xfrm>
            <a:off x="609600" y="4318000"/>
            <a:ext cx="6794500" cy="1397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The receipt shows items, method, TrxID, customer and the updated business profile.</a:t>
            </a:r>
          </a:p>
        </p:txBody>
      </p:sp>
      <p:sp>
        <p:nvSpPr>
          <p:cNvPr id="21" name="Text Notification amounts stay hidden on the lo">
            <a:extLst>
              <a:ext uri="{FF2B5EF4-FFF2-40B4-BE49-F238E27FC236}">
                <a16:creationId xmlns:a16="http://schemas.microsoft.com/office/drawing/2014/main" id="{3D84F98B-076D-E175-6EC8-B7E1C138C0FA}"/>
              </a:ext>
            </a:extLst>
          </p:cNvPr>
          <p:cNvSpPr txBox="1"/>
          <p:nvPr/>
        </p:nvSpPr>
        <p:spPr>
          <a:xfrm>
            <a:off x="609600" y="5651500"/>
            <a:ext cx="6858000" cy="546100"/>
          </a:xfrm>
          <a:prstGeom prst="rect">
            <a:avLst/>
          </a:prstGeom>
          <a:noFill/>
        </p:spPr>
        <p:txBody>
          <a:bodyPr vert="horz" wrap="square" lIns="0" tIns="0" rIns="0" bIns="0" rtlCol="0">
            <a:noAutofit/>
          </a:bodyPr>
          <a:lstStyle/>
          <a:p>
            <a:r>
              <a:rPr lang="en-US" sz="2000" b="1">
                <a:solidFill>
                  <a:srgbClr val="4EE6C0"/>
                </a:solidFill>
                <a:latin typeface="Segoe UI" panose="020B0502040204020203" pitchFamily="34" charset="0"/>
              </a:rPr>
              <a:t>Notification amounts stay hidden on the lock screen.</a:t>
            </a:r>
          </a:p>
        </p:txBody>
      </p:sp>
      <p:sp>
        <p:nvSpPr>
          <p:cNvPr id="22" name="Screen surround receipt">
            <a:extLst>
              <a:ext uri="{FF2B5EF4-FFF2-40B4-BE49-F238E27FC236}">
                <a16:creationId xmlns:a16="http://schemas.microsoft.com/office/drawing/2014/main" id="{59A41BE7-4343-7F66-5242-B1660D3E6757}"/>
              </a:ext>
            </a:extLst>
          </p:cNvPr>
          <p:cNvSpPr/>
          <p:nvPr/>
        </p:nvSpPr>
        <p:spPr>
          <a:xfrm>
            <a:off x="8992472" y="1536700"/>
            <a:ext cx="2246156" cy="47498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App screen receipt" descr="GreenBiz receipt screen, fictional sample data">
            <a:extLst>
              <a:ext uri="{FF2B5EF4-FFF2-40B4-BE49-F238E27FC236}">
                <a16:creationId xmlns:a16="http://schemas.microsoft.com/office/drawing/2014/main" id="{D6DAD22F-CAD4-7F54-C136-BB5A65E6031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043272" y="1587500"/>
            <a:ext cx="2144556" cy="4648200"/>
          </a:xfrm>
          <a:prstGeom prst="rect">
            <a:avLst/>
          </a:prstGeom>
        </p:spPr>
      </p:pic>
    </p:spTree>
    <p:extLst>
      <p:ext uri="{BB962C8B-B14F-4D97-AF65-F5344CB8AC3E}">
        <p14:creationId xmlns:p14="http://schemas.microsoft.com/office/powerpoint/2010/main" val="1459582357"/>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80"/>
                                        <p:tgtEl>
                                          <p:spTgt spid="17"/>
                                        </p:tgtEl>
                                      </p:cBhvr>
                                    </p:animEffect>
                                    <p:anim calcmode="lin" valueType="num">
                                      <p:cBhvr>
                                        <p:cTn id="13" dur="580" fill="hold"/>
                                        <p:tgtEl>
                                          <p:spTgt spid="17"/>
                                        </p:tgtEl>
                                        <p:attrNameLst>
                                          <p:attrName>ppt_x</p:attrName>
                                        </p:attrNameLst>
                                      </p:cBhvr>
                                      <p:tavLst>
                                        <p:tav tm="0">
                                          <p:val>
                                            <p:strVal val="#ppt_x"/>
                                          </p:val>
                                        </p:tav>
                                        <p:tav tm="100000">
                                          <p:val>
                                            <p:strVal val="#ppt_x"/>
                                          </p:val>
                                        </p:tav>
                                      </p:tavLst>
                                    </p:anim>
                                    <p:anim calcmode="lin" valueType="num">
                                      <p:cBhvr>
                                        <p:cTn id="14" dur="58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80"/>
                                        <p:tgtEl>
                                          <p:spTgt spid="18"/>
                                        </p:tgtEl>
                                      </p:cBhvr>
                                    </p:animEffect>
                                    <p:anim calcmode="lin" valueType="num">
                                      <p:cBhvr>
                                        <p:cTn id="18" dur="580" fill="hold"/>
                                        <p:tgtEl>
                                          <p:spTgt spid="18"/>
                                        </p:tgtEl>
                                        <p:attrNameLst>
                                          <p:attrName>ppt_x</p:attrName>
                                        </p:attrNameLst>
                                      </p:cBhvr>
                                      <p:tavLst>
                                        <p:tav tm="0">
                                          <p:val>
                                            <p:strVal val="#ppt_x"/>
                                          </p:val>
                                        </p:tav>
                                        <p:tav tm="100000">
                                          <p:val>
                                            <p:strVal val="#ppt_x"/>
                                          </p:val>
                                        </p:tav>
                                      </p:tavLst>
                                    </p:anim>
                                    <p:anim calcmode="lin" valueType="num">
                                      <p:cBhvr>
                                        <p:cTn id="19" dur="58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80"/>
                                        <p:tgtEl>
                                          <p:spTgt spid="19"/>
                                        </p:tgtEl>
                                      </p:cBhvr>
                                    </p:animEffect>
                                    <p:anim calcmode="lin" valueType="num">
                                      <p:cBhvr>
                                        <p:cTn id="25" dur="580" fill="hold"/>
                                        <p:tgtEl>
                                          <p:spTgt spid="19"/>
                                        </p:tgtEl>
                                        <p:attrNameLst>
                                          <p:attrName>ppt_x</p:attrName>
                                        </p:attrNameLst>
                                      </p:cBhvr>
                                      <p:tavLst>
                                        <p:tav tm="0">
                                          <p:val>
                                            <p:strVal val="#ppt_x"/>
                                          </p:val>
                                        </p:tav>
                                        <p:tav tm="100000">
                                          <p:val>
                                            <p:strVal val="#ppt_x"/>
                                          </p:val>
                                        </p:tav>
                                      </p:tavLst>
                                    </p:anim>
                                    <p:anim calcmode="lin" valueType="num">
                                      <p:cBhvr>
                                        <p:cTn id="26" dur="580" fill="hold"/>
                                        <p:tgtEl>
                                          <p:spTgt spid="19"/>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80"/>
                                        <p:tgtEl>
                                          <p:spTgt spid="20"/>
                                        </p:tgtEl>
                                      </p:cBhvr>
                                    </p:animEffect>
                                    <p:anim calcmode="lin" valueType="num">
                                      <p:cBhvr>
                                        <p:cTn id="30" dur="580" fill="hold"/>
                                        <p:tgtEl>
                                          <p:spTgt spid="20"/>
                                        </p:tgtEl>
                                        <p:attrNameLst>
                                          <p:attrName>ppt_x</p:attrName>
                                        </p:attrNameLst>
                                      </p:cBhvr>
                                      <p:tavLst>
                                        <p:tav tm="0">
                                          <p:val>
                                            <p:strVal val="#ppt_x"/>
                                          </p:val>
                                        </p:tav>
                                        <p:tav tm="100000">
                                          <p:val>
                                            <p:strVal val="#ppt_x"/>
                                          </p:val>
                                        </p:tav>
                                      </p:tavLst>
                                    </p:anim>
                                    <p:anim calcmode="lin" valueType="num">
                                      <p:cBhvr>
                                        <p:cTn id="31" dur="58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accel="15000" decel="2500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8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15000" decel="2500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800"/>
                                        <p:tgtEl>
                                          <p:spTgt spid="24"/>
                                        </p:tgtEl>
                                      </p:cBhvr>
                                    </p:animEffect>
                                    <p:animScale>
                                      <p:cBhvr>
                                        <p:cTn id="42" dur="800" fill="hold">
                                          <p:stCondLst>
                                            <p:cond delay="0"/>
                                          </p:stCondLst>
                                        </p:cTn>
                                        <p:tgtEl>
                                          <p:spTgt spid="24"/>
                                        </p:tgtEl>
                                      </p:cBhvr>
                                      <p:from x="96000" y="96000"/>
                                      <p:to x="100000" y="100000"/>
                                    </p:animScale>
                                  </p:childTnLst>
                                </p:cTn>
                              </p:par>
                              <p:par>
                                <p:cTn id="43" presetID="10" presetClass="entr" presetSubtype="0" accel="15000" decel="2500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0" grpId="0"/>
      <p:bldP spid="21" grpId="0"/>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6" name="Text A linked receipt counts once">
            <a:extLst>
              <a:ext uri="{FF2B5EF4-FFF2-40B4-BE49-F238E27FC236}">
                <a16:creationId xmlns:a16="http://schemas.microsoft.com/office/drawing/2014/main" id="{D6D2DAA8-B154-4347-B3F4-60969A07BC04}"/>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A linked receipt counts once</a:t>
            </a:r>
          </a:p>
        </p:txBody>
      </p:sp>
      <p:sp>
        <p:nvSpPr>
          <p:cNvPr id="17" name="Text GreenBiz">
            <a:extLst>
              <a:ext uri="{FF2B5EF4-FFF2-40B4-BE49-F238E27FC236}">
                <a16:creationId xmlns:a16="http://schemas.microsoft.com/office/drawing/2014/main" id="{3DFAE154-B088-D02D-3CC5-D5F75B6CA4C1}"/>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8" name="Text 12 / 25">
            <a:extLst>
              <a:ext uri="{FF2B5EF4-FFF2-40B4-BE49-F238E27FC236}">
                <a16:creationId xmlns:a16="http://schemas.microsoft.com/office/drawing/2014/main" id="{072B4170-8583-BBAF-C9EB-615A7023F1FB}"/>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12 / 25</a:t>
            </a:r>
          </a:p>
        </p:txBody>
      </p:sp>
      <p:sp>
        <p:nvSpPr>
          <p:cNvPr id="19" name="Text Illustrative records in one currency">
            <a:extLst>
              <a:ext uri="{FF2B5EF4-FFF2-40B4-BE49-F238E27FC236}">
                <a16:creationId xmlns:a16="http://schemas.microsoft.com/office/drawing/2014/main" id="{AF1D218B-3498-DF3A-498A-812C6EC5CBF1}"/>
              </a:ext>
            </a:extLst>
          </p:cNvPr>
          <p:cNvSpPr txBox="1"/>
          <p:nvPr/>
        </p:nvSpPr>
        <p:spPr>
          <a:xfrm>
            <a:off x="609600" y="1676400"/>
            <a:ext cx="10972800" cy="419100"/>
          </a:xfrm>
          <a:prstGeom prst="rect">
            <a:avLst/>
          </a:prstGeom>
          <a:noFill/>
        </p:spPr>
        <p:txBody>
          <a:bodyPr vert="horz" wrap="square" lIns="0" tIns="0" rIns="0" bIns="0" rtlCol="0">
            <a:noAutofit/>
          </a:bodyPr>
          <a:lstStyle/>
          <a:p>
            <a:r>
              <a:rPr lang="en-US" sz="1900">
                <a:solidFill>
                  <a:srgbClr val="8EA7BA"/>
                </a:solidFill>
                <a:latin typeface="Segoe UI" panose="020B0502040204020203" pitchFamily="34" charset="0"/>
              </a:rPr>
              <a:t>Illustrative records in one currency</a:t>
            </a:r>
          </a:p>
        </p:txBody>
      </p:sp>
      <p:graphicFrame>
        <p:nvGraphicFramePr>
          <p:cNvPr id="20" name="Editable evidence table">
            <a:extLst>
              <a:ext uri="{FF2B5EF4-FFF2-40B4-BE49-F238E27FC236}">
                <a16:creationId xmlns:a16="http://schemas.microsoft.com/office/drawing/2014/main" id="{1ED75F9C-8F9E-69DD-00A7-B7F599E1F726}"/>
              </a:ext>
            </a:extLst>
          </p:cNvPr>
          <p:cNvGraphicFramePr>
            <a:graphicFrameLocks noGrp="1"/>
          </p:cNvGraphicFramePr>
          <p:nvPr>
            <p:extLst>
              <p:ext uri="{D42A27DB-BD31-4B8C-83A1-F6EECF244321}">
                <p14:modId xmlns:p14="http://schemas.microsoft.com/office/powerpoint/2010/main" val="2541733682"/>
              </p:ext>
            </p:extLst>
          </p:nvPr>
        </p:nvGraphicFramePr>
        <p:xfrm>
          <a:off x="609600" y="2362200"/>
          <a:ext cx="10972800" cy="2984500"/>
        </p:xfrm>
        <a:graphic>
          <a:graphicData uri="http://schemas.openxmlformats.org/drawingml/2006/table">
            <a:tbl>
              <a:tblPr firstRow="1" bandRow="1">
                <a:tableStyleId>{5C22544A-7EE6-4342-B048-85BDC9FD1C3A}</a:tableStyleId>
              </a:tblPr>
              <a:tblGrid>
                <a:gridCol w="3632200">
                  <a:extLst>
                    <a:ext uri="{9D8B030D-6E8A-4147-A177-3AD203B41FA5}">
                      <a16:colId xmlns:a16="http://schemas.microsoft.com/office/drawing/2014/main" val="538875833"/>
                    </a:ext>
                  </a:extLst>
                </a:gridCol>
                <a:gridCol w="1689100">
                  <a:extLst>
                    <a:ext uri="{9D8B030D-6E8A-4147-A177-3AD203B41FA5}">
                      <a16:colId xmlns:a16="http://schemas.microsoft.com/office/drawing/2014/main" val="370372068"/>
                    </a:ext>
                  </a:extLst>
                </a:gridCol>
                <a:gridCol w="5651500">
                  <a:extLst>
                    <a:ext uri="{9D8B030D-6E8A-4147-A177-3AD203B41FA5}">
                      <a16:colId xmlns:a16="http://schemas.microsoft.com/office/drawing/2014/main" val="3560467572"/>
                    </a:ext>
                  </a:extLst>
                </a:gridCol>
              </a:tblGrid>
              <a:tr h="746125">
                <a:tc>
                  <a:txBody>
                    <a:bodyPr/>
                    <a:lstStyle/>
                    <a:p>
                      <a:r>
                        <a:rPr lang="en-US" sz="1800" b="1">
                          <a:solidFill>
                            <a:srgbClr val="F4F8FC"/>
                          </a:solidFill>
                          <a:latin typeface="Segoe UI" panose="020B0502040204020203" pitchFamily="34" charset="0"/>
                        </a:rPr>
                        <a:t>Record</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tc>
                  <a:txBody>
                    <a:bodyPr/>
                    <a:lstStyle/>
                    <a:p>
                      <a:r>
                        <a:rPr lang="en-US" sz="1800" b="1">
                          <a:solidFill>
                            <a:srgbClr val="F4F8FC"/>
                          </a:solidFill>
                          <a:latin typeface="Segoe UI" panose="020B0502040204020203" pitchFamily="34" charset="0"/>
                        </a:rPr>
                        <a:t>Amount</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tc>
                  <a:txBody>
                    <a:bodyPr/>
                    <a:lstStyle/>
                    <a:p>
                      <a:r>
                        <a:rPr lang="en-US" sz="1800" b="1">
                          <a:solidFill>
                            <a:srgbClr val="F4F8FC"/>
                          </a:solidFill>
                          <a:latin typeface="Segoe UI" panose="020B0502040204020203" pitchFamily="34" charset="0"/>
                        </a:rPr>
                        <a:t>Effect on reported cashflow</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extLst>
                  <a:ext uri="{0D108BD9-81ED-4DB2-BD59-A6C34878D82A}">
                    <a16:rowId xmlns:a16="http://schemas.microsoft.com/office/drawing/2014/main" val="2333087573"/>
                  </a:ext>
                </a:extLst>
              </a:tr>
              <a:tr h="746125">
                <a:tc>
                  <a:txBody>
                    <a:bodyPr/>
                    <a:lstStyle/>
                    <a:p>
                      <a:r>
                        <a:rPr lang="en-US" sz="1800" b="0">
                          <a:solidFill>
                            <a:srgbClr val="F4F8FC"/>
                          </a:solidFill>
                          <a:latin typeface="Segoe UI" panose="020B0502040204020203" pitchFamily="34" charset="0"/>
                        </a:rPr>
                        <a:t>Sale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100</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Adds sale income of 100</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1151855526"/>
                  </a:ext>
                </a:extLst>
              </a:tr>
              <a:tr h="746125">
                <a:tc>
                  <a:txBody>
                    <a:bodyPr/>
                    <a:lstStyle/>
                    <a:p>
                      <a:r>
                        <a:rPr lang="en-US" sz="1800" b="0">
                          <a:solidFill>
                            <a:srgbClr val="F4F8FC"/>
                          </a:solidFill>
                          <a:latin typeface="Segoe UI" panose="020B0502040204020203" pitchFamily="34" charset="0"/>
                        </a:rPr>
                        <a:t>Linked payment receipt</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102</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Adds no extra sale income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extLst>
                  <a:ext uri="{0D108BD9-81ED-4DB2-BD59-A6C34878D82A}">
                    <a16:rowId xmlns:a16="http://schemas.microsoft.com/office/drawing/2014/main" val="1909124786"/>
                  </a:ext>
                </a:extLst>
              </a:tr>
              <a:tr h="746125">
                <a:tc>
                  <a:txBody>
                    <a:bodyPr/>
                    <a:lstStyle/>
                    <a:p>
                      <a:r>
                        <a:rPr lang="en-US" sz="1800" b="0">
                          <a:solidFill>
                            <a:srgbClr val="F4F8FC"/>
                          </a:solidFill>
                          <a:latin typeface="Segoe UI" panose="020B0502040204020203" pitchFamily="34" charset="0"/>
                        </a:rPr>
                        <a:t>Business expense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20</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Subtracts 20</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3666157766"/>
                  </a:ext>
                </a:extLst>
              </a:tr>
            </a:tbl>
          </a:graphicData>
        </a:graphic>
      </p:graphicFrame>
      <p:sp>
        <p:nvSpPr>
          <p:cNvPr id="21" name="Text Net cashflow for these records: 80">
            <a:extLst>
              <a:ext uri="{FF2B5EF4-FFF2-40B4-BE49-F238E27FC236}">
                <a16:creationId xmlns:a16="http://schemas.microsoft.com/office/drawing/2014/main" id="{E6075DBD-D73E-A321-61C7-3DFADECB9522}"/>
              </a:ext>
            </a:extLst>
          </p:cNvPr>
          <p:cNvSpPr txBox="1"/>
          <p:nvPr/>
        </p:nvSpPr>
        <p:spPr>
          <a:xfrm>
            <a:off x="609600" y="5740400"/>
            <a:ext cx="10972800" cy="622300"/>
          </a:xfrm>
          <a:prstGeom prst="rect">
            <a:avLst/>
          </a:prstGeom>
          <a:noFill/>
        </p:spPr>
        <p:txBody>
          <a:bodyPr vert="horz" wrap="square" lIns="0" tIns="0" rIns="0" bIns="0" rtlCol="0">
            <a:noAutofit/>
          </a:bodyPr>
          <a:lstStyle/>
          <a:p>
            <a:r>
              <a:rPr lang="en-US" sz="3100" b="1">
                <a:solidFill>
                  <a:srgbClr val="4EE6C0"/>
                </a:solidFill>
                <a:latin typeface="Segoe UI" panose="020B0502040204020203" pitchFamily="34" charset="0"/>
              </a:rPr>
              <a:t>Net cashflow for these records: 80</a:t>
            </a:r>
          </a:p>
        </p:txBody>
      </p:sp>
    </p:spTree>
    <p:extLst>
      <p:ext uri="{BB962C8B-B14F-4D97-AF65-F5344CB8AC3E}">
        <p14:creationId xmlns:p14="http://schemas.microsoft.com/office/powerpoint/2010/main" val="1087545878"/>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5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8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accel="15000" decel="2500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80"/>
                                        <p:tgtEl>
                                          <p:spTgt spid="21"/>
                                        </p:tgtEl>
                                      </p:cBhvr>
                                    </p:animEffect>
                                    <p:anim calcmode="lin" valueType="num">
                                      <p:cBhvr>
                                        <p:cTn id="23" dur="580" fill="hold"/>
                                        <p:tgtEl>
                                          <p:spTgt spid="21"/>
                                        </p:tgtEl>
                                        <p:attrNameLst>
                                          <p:attrName>ppt_x</p:attrName>
                                        </p:attrNameLst>
                                      </p:cBhvr>
                                      <p:tavLst>
                                        <p:tav tm="0">
                                          <p:val>
                                            <p:strVal val="#ppt_x"/>
                                          </p:val>
                                        </p:tav>
                                        <p:tav tm="100000">
                                          <p:val>
                                            <p:strVal val="#ppt_x"/>
                                          </p:val>
                                        </p:tav>
                                      </p:tavLst>
                                    </p:anim>
                                    <p:anim calcmode="lin" valueType="num">
                                      <p:cBhvr>
                                        <p:cTn id="24" dur="58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8" name="Text Reports that explain the business">
            <a:extLst>
              <a:ext uri="{FF2B5EF4-FFF2-40B4-BE49-F238E27FC236}">
                <a16:creationId xmlns:a16="http://schemas.microsoft.com/office/drawing/2014/main" id="{7218DFA0-7E02-9FBF-2D1A-5D332524B377}"/>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Reports that explain the business</a:t>
            </a:r>
          </a:p>
        </p:txBody>
      </p:sp>
      <p:sp>
        <p:nvSpPr>
          <p:cNvPr id="9" name="Text GreenBiz">
            <a:extLst>
              <a:ext uri="{FF2B5EF4-FFF2-40B4-BE49-F238E27FC236}">
                <a16:creationId xmlns:a16="http://schemas.microsoft.com/office/drawing/2014/main" id="{AC5EA00D-436A-218B-43C6-72AC366F6AB0}"/>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0" name="Text 13 / 25">
            <a:extLst>
              <a:ext uri="{FF2B5EF4-FFF2-40B4-BE49-F238E27FC236}">
                <a16:creationId xmlns:a16="http://schemas.microsoft.com/office/drawing/2014/main" id="{EC121E8A-2BEF-4B32-603F-163F379D608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13 / 25</a:t>
            </a:r>
          </a:p>
        </p:txBody>
      </p:sp>
      <p:sp>
        <p:nvSpPr>
          <p:cNvPr id="11" name="Screen surround finance">
            <a:extLst>
              <a:ext uri="{FF2B5EF4-FFF2-40B4-BE49-F238E27FC236}">
                <a16:creationId xmlns:a16="http://schemas.microsoft.com/office/drawing/2014/main" id="{70FD1744-7799-A4B4-116C-B97345461B91}"/>
              </a:ext>
            </a:extLst>
          </p:cNvPr>
          <p:cNvSpPr/>
          <p:nvPr/>
        </p:nvSpPr>
        <p:spPr>
          <a:xfrm>
            <a:off x="120151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App screen finance" descr="GreenBiz finance screen, fictional sample data">
            <a:extLst>
              <a:ext uri="{FF2B5EF4-FFF2-40B4-BE49-F238E27FC236}">
                <a16:creationId xmlns:a16="http://schemas.microsoft.com/office/drawing/2014/main" id="{2EC6D783-3686-5217-4DB1-7605C3819FB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52313" y="1562100"/>
            <a:ext cx="2156275" cy="4673600"/>
          </a:xfrm>
          <a:prstGeom prst="rect">
            <a:avLst/>
          </a:prstGeom>
        </p:spPr>
      </p:pic>
      <p:sp>
        <p:nvSpPr>
          <p:cNvPr id="14" name="Text Choose the business period">
            <a:extLst>
              <a:ext uri="{FF2B5EF4-FFF2-40B4-BE49-F238E27FC236}">
                <a16:creationId xmlns:a16="http://schemas.microsoft.com/office/drawing/2014/main" id="{0986CBE3-1917-EF02-9D76-81E20475CD67}"/>
              </a:ext>
            </a:extLst>
          </p:cNvPr>
          <p:cNvSpPr txBox="1"/>
          <p:nvPr/>
        </p:nvSpPr>
        <p:spPr>
          <a:xfrm>
            <a:off x="4648200" y="18542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Choose the business period</a:t>
            </a:r>
          </a:p>
        </p:txBody>
      </p:sp>
      <p:sp>
        <p:nvSpPr>
          <p:cNvPr id="15" name="Text This week, this month, last month, 90 days">
            <a:extLst>
              <a:ext uri="{FF2B5EF4-FFF2-40B4-BE49-F238E27FC236}">
                <a16:creationId xmlns:a16="http://schemas.microsoft.com/office/drawing/2014/main" id="{0BE82912-7FE9-8F5F-0CC6-0D3420A4E544}"/>
              </a:ext>
            </a:extLst>
          </p:cNvPr>
          <p:cNvSpPr txBox="1"/>
          <p:nvPr/>
        </p:nvSpPr>
        <p:spPr>
          <a:xfrm>
            <a:off x="4648200" y="2476500"/>
            <a:ext cx="6794500" cy="1270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This week, this month, last month, 90 days, this year or a selected month.</a:t>
            </a:r>
          </a:p>
        </p:txBody>
      </p:sp>
      <p:sp>
        <p:nvSpPr>
          <p:cNvPr id="16" name="Text Understand the change">
            <a:extLst>
              <a:ext uri="{FF2B5EF4-FFF2-40B4-BE49-F238E27FC236}">
                <a16:creationId xmlns:a16="http://schemas.microsoft.com/office/drawing/2014/main" id="{E6D12F46-1E73-670E-4AA5-F139C16EB011}"/>
              </a:ext>
            </a:extLst>
          </p:cNvPr>
          <p:cNvSpPr txBox="1"/>
          <p:nvPr/>
        </p:nvSpPr>
        <p:spPr>
          <a:xfrm>
            <a:off x="4648200" y="35560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Understand the change</a:t>
            </a:r>
          </a:p>
        </p:txBody>
      </p:sp>
      <p:sp>
        <p:nvSpPr>
          <p:cNvPr id="17" name="Text Average sale, best periods, top method and">
            <a:extLst>
              <a:ext uri="{FF2B5EF4-FFF2-40B4-BE49-F238E27FC236}">
                <a16:creationId xmlns:a16="http://schemas.microsoft.com/office/drawing/2014/main" id="{CE7C796E-4203-F5E1-FE31-687D7FD31281}"/>
              </a:ext>
            </a:extLst>
          </p:cNvPr>
          <p:cNvSpPr txBox="1"/>
          <p:nvPr/>
        </p:nvSpPr>
        <p:spPr>
          <a:xfrm>
            <a:off x="4648200" y="4178300"/>
            <a:ext cx="6794500" cy="1206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Average sale, best periods, top method and payer, plus comparisons.</a:t>
            </a:r>
          </a:p>
        </p:txBody>
      </p:sp>
      <p:sp>
        <p:nvSpPr>
          <p:cNvPr id="18" name="Text Inspect the detail">
            <a:extLst>
              <a:ext uri="{FF2B5EF4-FFF2-40B4-BE49-F238E27FC236}">
                <a16:creationId xmlns:a16="http://schemas.microsoft.com/office/drawing/2014/main" id="{C54DA438-DEED-DA65-211A-6342330D53B4}"/>
              </a:ext>
            </a:extLst>
          </p:cNvPr>
          <p:cNvSpPr txBox="1"/>
          <p:nvPr/>
        </p:nvSpPr>
        <p:spPr>
          <a:xfrm>
            <a:off x="4648200" y="51816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Inspect the detail</a:t>
            </a:r>
          </a:p>
        </p:txBody>
      </p:sp>
      <p:sp>
        <p:nvSpPr>
          <p:cNvPr id="19" name="Text Read the period payments and export CSV fo">
            <a:extLst>
              <a:ext uri="{FF2B5EF4-FFF2-40B4-BE49-F238E27FC236}">
                <a16:creationId xmlns:a16="http://schemas.microsoft.com/office/drawing/2014/main" id="{2EB14BA4-39C3-2ABC-5CDD-BAF82DDD2DDB}"/>
              </a:ext>
            </a:extLst>
          </p:cNvPr>
          <p:cNvSpPr txBox="1"/>
          <p:nvPr/>
        </p:nvSpPr>
        <p:spPr>
          <a:xfrm>
            <a:off x="4648200" y="5803900"/>
            <a:ext cx="6794500" cy="952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Read the period payments and export CSV for follow-up.</a:t>
            </a:r>
          </a:p>
        </p:txBody>
      </p:sp>
    </p:spTree>
    <p:extLst>
      <p:ext uri="{BB962C8B-B14F-4D97-AF65-F5344CB8AC3E}">
        <p14:creationId xmlns:p14="http://schemas.microsoft.com/office/powerpoint/2010/main" val="1165512870"/>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800"/>
                                        <p:tgtEl>
                                          <p:spTgt spid="13"/>
                                        </p:tgtEl>
                                      </p:cBhvr>
                                    </p:animEffect>
                                    <p:animScale>
                                      <p:cBhvr>
                                        <p:cTn id="13" dur="800" fill="hold">
                                          <p:stCondLst>
                                            <p:cond delay="0"/>
                                          </p:stCondLst>
                                        </p:cTn>
                                        <p:tgtEl>
                                          <p:spTgt spid="13"/>
                                        </p:tgtEl>
                                      </p:cBhvr>
                                      <p:from x="96000" y="96000"/>
                                      <p:to x="100000" y="100000"/>
                                    </p:animScale>
                                  </p:childTnLst>
                                </p:cTn>
                              </p:par>
                              <p:par>
                                <p:cTn id="14" presetID="10" presetClass="entr" presetSubtype="0" accel="15000" decel="2500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6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accel="15000" decel="2500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80"/>
                                        <p:tgtEl>
                                          <p:spTgt spid="14"/>
                                        </p:tgtEl>
                                      </p:cBhvr>
                                    </p:animEffect>
                                    <p:anim calcmode="lin" valueType="num">
                                      <p:cBhvr>
                                        <p:cTn id="22" dur="580" fill="hold"/>
                                        <p:tgtEl>
                                          <p:spTgt spid="14"/>
                                        </p:tgtEl>
                                        <p:attrNameLst>
                                          <p:attrName>ppt_x</p:attrName>
                                        </p:attrNameLst>
                                      </p:cBhvr>
                                      <p:tavLst>
                                        <p:tav tm="0">
                                          <p:val>
                                            <p:strVal val="#ppt_x"/>
                                          </p:val>
                                        </p:tav>
                                        <p:tav tm="100000">
                                          <p:val>
                                            <p:strVal val="#ppt_x"/>
                                          </p:val>
                                        </p:tav>
                                      </p:tavLst>
                                    </p:anim>
                                    <p:anim calcmode="lin" valueType="num">
                                      <p:cBhvr>
                                        <p:cTn id="23" dur="580" fill="hold"/>
                                        <p:tgtEl>
                                          <p:spTgt spid="14"/>
                                        </p:tgtEl>
                                        <p:attrNameLst>
                                          <p:attrName>ppt_y</p:attrName>
                                        </p:attrNameLst>
                                      </p:cBhvr>
                                      <p:tavLst>
                                        <p:tav tm="0">
                                          <p:val>
                                            <p:strVal val="#ppt_y+.1"/>
                                          </p:val>
                                        </p:tav>
                                        <p:tav tm="100000">
                                          <p:val>
                                            <p:strVal val="#ppt_y"/>
                                          </p:val>
                                        </p:tav>
                                      </p:tavLst>
                                    </p:anim>
                                  </p:childTnLst>
                                </p:cTn>
                              </p:par>
                              <p:par>
                                <p:cTn id="24" presetID="42" presetClass="entr" presetSubtype="0" accel="15000" decel="25000" fill="hold" grpId="0" nodeType="withEffect">
                                  <p:stCondLst>
                                    <p:cond delay="7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80"/>
                                        <p:tgtEl>
                                          <p:spTgt spid="15"/>
                                        </p:tgtEl>
                                      </p:cBhvr>
                                    </p:animEffect>
                                    <p:anim calcmode="lin" valueType="num">
                                      <p:cBhvr>
                                        <p:cTn id="27" dur="580" fill="hold"/>
                                        <p:tgtEl>
                                          <p:spTgt spid="15"/>
                                        </p:tgtEl>
                                        <p:attrNameLst>
                                          <p:attrName>ppt_x</p:attrName>
                                        </p:attrNameLst>
                                      </p:cBhvr>
                                      <p:tavLst>
                                        <p:tav tm="0">
                                          <p:val>
                                            <p:strVal val="#ppt_x"/>
                                          </p:val>
                                        </p:tav>
                                        <p:tav tm="100000">
                                          <p:val>
                                            <p:strVal val="#ppt_x"/>
                                          </p:val>
                                        </p:tav>
                                      </p:tavLst>
                                    </p:anim>
                                    <p:anim calcmode="lin" valueType="num">
                                      <p:cBhvr>
                                        <p:cTn id="28" dur="58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accel="15000" decel="2500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80"/>
                                        <p:tgtEl>
                                          <p:spTgt spid="16"/>
                                        </p:tgtEl>
                                      </p:cBhvr>
                                    </p:animEffect>
                                    <p:anim calcmode="lin" valueType="num">
                                      <p:cBhvr>
                                        <p:cTn id="34" dur="580" fill="hold"/>
                                        <p:tgtEl>
                                          <p:spTgt spid="16"/>
                                        </p:tgtEl>
                                        <p:attrNameLst>
                                          <p:attrName>ppt_x</p:attrName>
                                        </p:attrNameLst>
                                      </p:cBhvr>
                                      <p:tavLst>
                                        <p:tav tm="0">
                                          <p:val>
                                            <p:strVal val="#ppt_x"/>
                                          </p:val>
                                        </p:tav>
                                        <p:tav tm="100000">
                                          <p:val>
                                            <p:strVal val="#ppt_x"/>
                                          </p:val>
                                        </p:tav>
                                      </p:tavLst>
                                    </p:anim>
                                    <p:anim calcmode="lin" valueType="num">
                                      <p:cBhvr>
                                        <p:cTn id="35" dur="580" fill="hold"/>
                                        <p:tgtEl>
                                          <p:spTgt spid="16"/>
                                        </p:tgtEl>
                                        <p:attrNameLst>
                                          <p:attrName>ppt_y</p:attrName>
                                        </p:attrNameLst>
                                      </p:cBhvr>
                                      <p:tavLst>
                                        <p:tav tm="0">
                                          <p:val>
                                            <p:strVal val="#ppt_y+.1"/>
                                          </p:val>
                                        </p:tav>
                                        <p:tav tm="100000">
                                          <p:val>
                                            <p:strVal val="#ppt_y"/>
                                          </p:val>
                                        </p:tav>
                                      </p:tavLst>
                                    </p:anim>
                                  </p:childTnLst>
                                </p:cTn>
                              </p:par>
                              <p:par>
                                <p:cTn id="36" presetID="42" presetClass="entr" presetSubtype="0" accel="15000" decel="25000" fill="hold" grpId="0" nodeType="withEffect">
                                  <p:stCondLst>
                                    <p:cond delay="7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80"/>
                                        <p:tgtEl>
                                          <p:spTgt spid="17"/>
                                        </p:tgtEl>
                                      </p:cBhvr>
                                    </p:animEffect>
                                    <p:anim calcmode="lin" valueType="num">
                                      <p:cBhvr>
                                        <p:cTn id="39" dur="580" fill="hold"/>
                                        <p:tgtEl>
                                          <p:spTgt spid="17"/>
                                        </p:tgtEl>
                                        <p:attrNameLst>
                                          <p:attrName>ppt_x</p:attrName>
                                        </p:attrNameLst>
                                      </p:cBhvr>
                                      <p:tavLst>
                                        <p:tav tm="0">
                                          <p:val>
                                            <p:strVal val="#ppt_x"/>
                                          </p:val>
                                        </p:tav>
                                        <p:tav tm="100000">
                                          <p:val>
                                            <p:strVal val="#ppt_x"/>
                                          </p:val>
                                        </p:tav>
                                      </p:tavLst>
                                    </p:anim>
                                    <p:anim calcmode="lin" valueType="num">
                                      <p:cBhvr>
                                        <p:cTn id="40" dur="58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accel="15000" decel="2500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80"/>
                                        <p:tgtEl>
                                          <p:spTgt spid="18"/>
                                        </p:tgtEl>
                                      </p:cBhvr>
                                    </p:animEffect>
                                    <p:anim calcmode="lin" valueType="num">
                                      <p:cBhvr>
                                        <p:cTn id="46" dur="580" fill="hold"/>
                                        <p:tgtEl>
                                          <p:spTgt spid="18"/>
                                        </p:tgtEl>
                                        <p:attrNameLst>
                                          <p:attrName>ppt_x</p:attrName>
                                        </p:attrNameLst>
                                      </p:cBhvr>
                                      <p:tavLst>
                                        <p:tav tm="0">
                                          <p:val>
                                            <p:strVal val="#ppt_x"/>
                                          </p:val>
                                        </p:tav>
                                        <p:tav tm="100000">
                                          <p:val>
                                            <p:strVal val="#ppt_x"/>
                                          </p:val>
                                        </p:tav>
                                      </p:tavLst>
                                    </p:anim>
                                    <p:anim calcmode="lin" valueType="num">
                                      <p:cBhvr>
                                        <p:cTn id="47" dur="580" fill="hold"/>
                                        <p:tgtEl>
                                          <p:spTgt spid="18"/>
                                        </p:tgtEl>
                                        <p:attrNameLst>
                                          <p:attrName>ppt_y</p:attrName>
                                        </p:attrNameLst>
                                      </p:cBhvr>
                                      <p:tavLst>
                                        <p:tav tm="0">
                                          <p:val>
                                            <p:strVal val="#ppt_y+.1"/>
                                          </p:val>
                                        </p:tav>
                                        <p:tav tm="100000">
                                          <p:val>
                                            <p:strVal val="#ppt_y"/>
                                          </p:val>
                                        </p:tav>
                                      </p:tavLst>
                                    </p:anim>
                                  </p:childTnLst>
                                </p:cTn>
                              </p:par>
                              <p:par>
                                <p:cTn id="48" presetID="42" presetClass="entr" presetSubtype="0" accel="15000" decel="25000" fill="hold" grpId="0" nodeType="withEffect">
                                  <p:stCondLst>
                                    <p:cond delay="7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80"/>
                                        <p:tgtEl>
                                          <p:spTgt spid="19"/>
                                        </p:tgtEl>
                                      </p:cBhvr>
                                    </p:animEffect>
                                    <p:anim calcmode="lin" valueType="num">
                                      <p:cBhvr>
                                        <p:cTn id="51" dur="580" fill="hold"/>
                                        <p:tgtEl>
                                          <p:spTgt spid="19"/>
                                        </p:tgtEl>
                                        <p:attrNameLst>
                                          <p:attrName>ppt_x</p:attrName>
                                        </p:attrNameLst>
                                      </p:cBhvr>
                                      <p:tavLst>
                                        <p:tav tm="0">
                                          <p:val>
                                            <p:strVal val="#ppt_x"/>
                                          </p:val>
                                        </p:tav>
                                        <p:tav tm="100000">
                                          <p:val>
                                            <p:strVal val="#ppt_x"/>
                                          </p:val>
                                        </p:tav>
                                      </p:tavLst>
                                    </p:anim>
                                    <p:anim calcmode="lin" valueType="num">
                                      <p:cBhvr>
                                        <p:cTn id="52" dur="58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14" grpId="0"/>
      <p:bldP spid="15" grpId="0"/>
      <p:bldP spid="16" grpId="0"/>
      <p:bldP spid="17"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graphicFrame>
        <p:nvGraphicFramePr>
          <p:cNvPr id="2" name="Editable profile-factor weights">
            <a:extLst>
              <a:ext uri="{FF2B5EF4-FFF2-40B4-BE49-F238E27FC236}">
                <a16:creationId xmlns:a16="http://schemas.microsoft.com/office/drawing/2014/main" id="{CBFC732E-8BEC-469B-A3FB-EEC51C3C4E26}"/>
              </a:ext>
            </a:extLst>
          </p:cNvPr>
          <p:cNvGraphicFramePr/>
          <p:nvPr>
            <p:extLst>
              <p:ext uri="{D42A27DB-BD31-4B8C-83A1-F6EECF244321}">
                <p14:modId xmlns:p14="http://schemas.microsoft.com/office/powerpoint/2010/main" val="1583944963"/>
              </p:ext>
            </p:extLst>
          </p:nvPr>
        </p:nvGraphicFramePr>
        <p:xfrm>
          <a:off x="4445000" y="3594100"/>
          <a:ext cx="6959600" cy="222250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 An explainable business profile">
            <a:extLst>
              <a:ext uri="{FF2B5EF4-FFF2-40B4-BE49-F238E27FC236}">
                <a16:creationId xmlns:a16="http://schemas.microsoft.com/office/drawing/2014/main" id="{3379AA0A-742F-A2FB-A043-52C302C0AC13}"/>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An explainable business profile</a:t>
            </a:r>
          </a:p>
        </p:txBody>
      </p:sp>
      <p:sp>
        <p:nvSpPr>
          <p:cNvPr id="4" name="Text GreenBiz">
            <a:extLst>
              <a:ext uri="{FF2B5EF4-FFF2-40B4-BE49-F238E27FC236}">
                <a16:creationId xmlns:a16="http://schemas.microsoft.com/office/drawing/2014/main" id="{BD1190D7-E515-7381-8A8E-D3F535366631}"/>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5" name="Text 14 / 25">
            <a:extLst>
              <a:ext uri="{FF2B5EF4-FFF2-40B4-BE49-F238E27FC236}">
                <a16:creationId xmlns:a16="http://schemas.microsoft.com/office/drawing/2014/main" id="{69572762-B328-FF09-E663-13041DFEF694}"/>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14 / 25</a:t>
            </a:r>
          </a:p>
        </p:txBody>
      </p:sp>
      <p:sp>
        <p:nvSpPr>
          <p:cNvPr id="6" name="!!GrowthView surround">
            <a:extLst>
              <a:ext uri="{FF2B5EF4-FFF2-40B4-BE49-F238E27FC236}">
                <a16:creationId xmlns:a16="http://schemas.microsoft.com/office/drawing/2014/main" id="{4D6686DD-1C6F-28CE-31EB-3CF99C549198}"/>
              </a:ext>
            </a:extLst>
          </p:cNvPr>
          <p:cNvSpPr/>
          <p:nvPr/>
        </p:nvSpPr>
        <p:spPr>
          <a:xfrm>
            <a:off x="113801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owthView" descr="GreenBiz growth screen, fictional sample data">
            <a:extLst>
              <a:ext uri="{FF2B5EF4-FFF2-40B4-BE49-F238E27FC236}">
                <a16:creationId xmlns:a16="http://schemas.microsoft.com/office/drawing/2014/main" id="{B3EC34A0-D878-FBD1-2AC9-8011908A1C5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188813" y="1562100"/>
            <a:ext cx="2156275" cy="4673600"/>
          </a:xfrm>
          <a:prstGeom prst="rect">
            <a:avLst/>
          </a:prstGeom>
        </p:spPr>
      </p:pic>
      <p:sp>
        <p:nvSpPr>
          <p:cNvPr id="9" name="Text 0–100">
            <a:extLst>
              <a:ext uri="{FF2B5EF4-FFF2-40B4-BE49-F238E27FC236}">
                <a16:creationId xmlns:a16="http://schemas.microsoft.com/office/drawing/2014/main" id="{BA3FBB0F-4694-FE80-76F8-49997C31FCF1}"/>
              </a:ext>
            </a:extLst>
          </p:cNvPr>
          <p:cNvSpPr txBox="1"/>
          <p:nvPr/>
        </p:nvSpPr>
        <p:spPr>
          <a:xfrm>
            <a:off x="4635500" y="1612900"/>
            <a:ext cx="6477000" cy="990600"/>
          </a:xfrm>
          <a:prstGeom prst="rect">
            <a:avLst/>
          </a:prstGeom>
          <a:noFill/>
        </p:spPr>
        <p:txBody>
          <a:bodyPr vert="horz" wrap="square" lIns="0" tIns="0" rIns="0" bIns="0" rtlCol="0">
            <a:noAutofit/>
          </a:bodyPr>
          <a:lstStyle/>
          <a:p>
            <a:r>
              <a:rPr lang="en-US" sz="5400" b="1">
                <a:solidFill>
                  <a:srgbClr val="F4F8FC"/>
                </a:solidFill>
                <a:latin typeface="Segoe UI" panose="020B0502040204020203" pitchFamily="34" charset="0"/>
              </a:rPr>
              <a:t>0–100</a:t>
            </a:r>
          </a:p>
        </p:txBody>
      </p:sp>
      <p:sp>
        <p:nvSpPr>
          <p:cNvPr id="10" name="Text The profile explains what shapes the score">
            <a:extLst>
              <a:ext uri="{FF2B5EF4-FFF2-40B4-BE49-F238E27FC236}">
                <a16:creationId xmlns:a16="http://schemas.microsoft.com/office/drawing/2014/main" id="{475917F8-C91C-1929-9FAE-CC0CEE265048}"/>
              </a:ext>
            </a:extLst>
          </p:cNvPr>
          <p:cNvSpPr txBox="1"/>
          <p:nvPr/>
        </p:nvSpPr>
        <p:spPr>
          <a:xfrm>
            <a:off x="4673600" y="2794000"/>
            <a:ext cx="6692900" cy="711200"/>
          </a:xfrm>
          <a:prstGeom prst="rect">
            <a:avLst/>
          </a:prstGeom>
          <a:noFill/>
        </p:spPr>
        <p:txBody>
          <a:bodyPr vert="horz" wrap="square" lIns="0" tIns="0" rIns="0" bIns="0" rtlCol="0">
            <a:noAutofit/>
          </a:bodyPr>
          <a:lstStyle/>
          <a:p>
            <a:r>
              <a:rPr lang="en-US" sz="2500" b="1">
                <a:solidFill>
                  <a:srgbClr val="4EE6C0"/>
                </a:solidFill>
                <a:latin typeface="Segoe UI" panose="020B0502040204020203" pitchFamily="34" charset="0"/>
              </a:rPr>
              <a:t>The profile explains what shapes the score</a:t>
            </a:r>
          </a:p>
        </p:txBody>
      </p:sp>
      <p:sp>
        <p:nvSpPr>
          <p:cNvPr id="11" name="Text Factor weights, not a sample merchant's pe">
            <a:extLst>
              <a:ext uri="{FF2B5EF4-FFF2-40B4-BE49-F238E27FC236}">
                <a16:creationId xmlns:a16="http://schemas.microsoft.com/office/drawing/2014/main" id="{4898EDBE-8D58-A9CD-338A-6748DAB49B1C}"/>
              </a:ext>
            </a:extLst>
          </p:cNvPr>
          <p:cNvSpPr txBox="1"/>
          <p:nvPr/>
        </p:nvSpPr>
        <p:spPr>
          <a:xfrm>
            <a:off x="4686300" y="5905500"/>
            <a:ext cx="6705600" cy="381000"/>
          </a:xfrm>
          <a:prstGeom prst="rect">
            <a:avLst/>
          </a:prstGeom>
          <a:noFill/>
        </p:spPr>
        <p:txBody>
          <a:bodyPr vert="horz" wrap="square" lIns="0" tIns="0" rIns="0" bIns="0" rtlCol="0">
            <a:noAutofit/>
          </a:bodyPr>
          <a:lstStyle/>
          <a:p>
            <a:r>
              <a:rPr lang="en-US" sz="1700">
                <a:solidFill>
                  <a:srgbClr val="8EA7BA"/>
                </a:solidFill>
                <a:latin typeface="Segoe UI" panose="020B0502040204020203" pitchFamily="34" charset="0"/>
              </a:rPr>
              <a:t>Factor weights, not a sample merchant's performance</a:t>
            </a:r>
          </a:p>
        </p:txBody>
      </p:sp>
    </p:spTree>
    <p:extLst>
      <p:ext uri="{BB962C8B-B14F-4D97-AF65-F5344CB8AC3E}">
        <p14:creationId xmlns:p14="http://schemas.microsoft.com/office/powerpoint/2010/main" val="1932221914"/>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800"/>
                                        <p:tgtEl>
                                          <p:spTgt spid="8"/>
                                        </p:tgtEl>
                                      </p:cBhvr>
                                    </p:animEffect>
                                    <p:animScale>
                                      <p:cBhvr>
                                        <p:cTn id="13" dur="800" fill="hold">
                                          <p:stCondLst>
                                            <p:cond delay="0"/>
                                          </p:stCondLst>
                                        </p:cTn>
                                        <p:tgtEl>
                                          <p:spTgt spid="8"/>
                                        </p:tgtEl>
                                      </p:cBhvr>
                                      <p:from x="96000" y="96000"/>
                                      <p:to x="100000" y="100000"/>
                                    </p:animScale>
                                  </p:childTnLst>
                                </p:cTn>
                              </p:par>
                              <p:par>
                                <p:cTn id="14" presetID="10" presetClass="entr" presetSubtype="0" accel="15000" decel="25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accel="15000" decel="2500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800"/>
                                        <p:tgtEl>
                                          <p:spTgt spid="9"/>
                                        </p:tgtEl>
                                      </p:cBhvr>
                                    </p:animEffect>
                                    <p:animScale>
                                      <p:cBhvr>
                                        <p:cTn id="22" dur="800" fill="hold">
                                          <p:stCondLst>
                                            <p:cond delay="0"/>
                                          </p:stCondLst>
                                        </p:cTn>
                                        <p:tgtEl>
                                          <p:spTgt spid="9"/>
                                        </p:tgtEl>
                                      </p:cBhvr>
                                      <p:from x="96000" y="96000"/>
                                      <p:to x="100000" y="100000"/>
                                    </p:animScale>
                                  </p:childTnLst>
                                </p:cTn>
                              </p:par>
                            </p:childTnLst>
                          </p:cTn>
                        </p:par>
                      </p:childTnLst>
                    </p:cTn>
                  </p:par>
                  <p:par>
                    <p:cTn id="23" fill="hold">
                      <p:stCondLst>
                        <p:cond delay="indefinite"/>
                      </p:stCondLst>
                      <p:childTnLst>
                        <p:par>
                          <p:cTn id="24" fill="hold">
                            <p:stCondLst>
                              <p:cond delay="0"/>
                            </p:stCondLst>
                            <p:childTnLst>
                              <p:par>
                                <p:cTn id="25" presetID="10" presetClass="entr" presetSubtype="0" accel="15000" decel="2500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8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accel="15000" decel="2500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8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3" grpId="0"/>
      <p:bldP spid="6" grpId="0" animBg="1"/>
      <p:bldP spid="9" grpId="0"/>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5" name="Text Loan plans grounded in the records">
            <a:extLst>
              <a:ext uri="{FF2B5EF4-FFF2-40B4-BE49-F238E27FC236}">
                <a16:creationId xmlns:a16="http://schemas.microsoft.com/office/drawing/2014/main" id="{EF10B268-2BE6-293C-48F6-B247B417EB74}"/>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Loan plans grounded in the records</a:t>
            </a:r>
          </a:p>
        </p:txBody>
      </p:sp>
      <p:sp>
        <p:nvSpPr>
          <p:cNvPr id="16" name="Text GreenBiz">
            <a:extLst>
              <a:ext uri="{FF2B5EF4-FFF2-40B4-BE49-F238E27FC236}">
                <a16:creationId xmlns:a16="http://schemas.microsoft.com/office/drawing/2014/main" id="{328AB7F6-1C0E-DEA7-3018-79BFEBD0902A}"/>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7" name="Text 15 / 25">
            <a:extLst>
              <a:ext uri="{FF2B5EF4-FFF2-40B4-BE49-F238E27FC236}">
                <a16:creationId xmlns:a16="http://schemas.microsoft.com/office/drawing/2014/main" id="{1D82AC39-E8AF-2817-7C77-C7AC0C43B264}"/>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15 / 25</a:t>
            </a:r>
          </a:p>
        </p:txBody>
      </p:sp>
      <p:sp>
        <p:nvSpPr>
          <p:cNvPr id="18" name="Text 39 products">
            <a:extLst>
              <a:ext uri="{FF2B5EF4-FFF2-40B4-BE49-F238E27FC236}">
                <a16:creationId xmlns:a16="http://schemas.microsoft.com/office/drawing/2014/main" id="{68D079B9-F626-874A-C8E6-3D8ACEE881A1}"/>
              </a:ext>
            </a:extLst>
          </p:cNvPr>
          <p:cNvSpPr txBox="1"/>
          <p:nvPr/>
        </p:nvSpPr>
        <p:spPr>
          <a:xfrm>
            <a:off x="609600" y="1828800"/>
            <a:ext cx="5461000" cy="1079500"/>
          </a:xfrm>
          <a:prstGeom prst="rect">
            <a:avLst/>
          </a:prstGeom>
          <a:noFill/>
        </p:spPr>
        <p:txBody>
          <a:bodyPr vert="horz" wrap="square" lIns="0" tIns="0" rIns="0" bIns="0" rtlCol="0">
            <a:noAutofit/>
          </a:bodyPr>
          <a:lstStyle/>
          <a:p>
            <a:r>
              <a:rPr lang="en-US" sz="5200" b="1">
                <a:solidFill>
                  <a:srgbClr val="F4F8FC"/>
                </a:solidFill>
                <a:latin typeface="Segoe UI" panose="020B0502040204020203" pitchFamily="34" charset="0"/>
              </a:rPr>
              <a:t>39 products</a:t>
            </a:r>
          </a:p>
        </p:txBody>
      </p:sp>
      <p:sp>
        <p:nvSpPr>
          <p:cNvPr id="19" name="Text from 8 banks in the starter catalogue">
            <a:extLst>
              <a:ext uri="{FF2B5EF4-FFF2-40B4-BE49-F238E27FC236}">
                <a16:creationId xmlns:a16="http://schemas.microsoft.com/office/drawing/2014/main" id="{167A28B1-0C2F-2F14-8B71-EF058E929DE2}"/>
              </a:ext>
            </a:extLst>
          </p:cNvPr>
          <p:cNvSpPr txBox="1"/>
          <p:nvPr/>
        </p:nvSpPr>
        <p:spPr>
          <a:xfrm>
            <a:off x="660400" y="3035300"/>
            <a:ext cx="5283200" cy="8890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from 8 banks in the starter catalogue</a:t>
            </a:r>
          </a:p>
        </p:txBody>
      </p:sp>
      <p:sp>
        <p:nvSpPr>
          <p:cNvPr id="20" name="Text Matched to recorded revenue">
            <a:extLst>
              <a:ext uri="{FF2B5EF4-FFF2-40B4-BE49-F238E27FC236}">
                <a16:creationId xmlns:a16="http://schemas.microsoft.com/office/drawing/2014/main" id="{A57A972C-FE07-7A91-8F4F-00102DB5FB12}"/>
              </a:ext>
            </a:extLst>
          </p:cNvPr>
          <p:cNvSpPr txBox="1"/>
          <p:nvPr/>
        </p:nvSpPr>
        <p:spPr>
          <a:xfrm>
            <a:off x="609600" y="4394200"/>
            <a:ext cx="5334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Matched to recorded revenue</a:t>
            </a:r>
          </a:p>
        </p:txBody>
      </p:sp>
      <p:sp>
        <p:nvSpPr>
          <p:cNvPr id="21" name="Text High priority, Good fit or Stretch, with r">
            <a:extLst>
              <a:ext uri="{FF2B5EF4-FFF2-40B4-BE49-F238E27FC236}">
                <a16:creationId xmlns:a16="http://schemas.microsoft.com/office/drawing/2014/main" id="{F2C301BF-8822-4382-96AB-2E4696A6EA3B}"/>
              </a:ext>
            </a:extLst>
          </p:cNvPr>
          <p:cNvSpPr txBox="1"/>
          <p:nvPr/>
        </p:nvSpPr>
        <p:spPr>
          <a:xfrm>
            <a:off x="609600" y="5016500"/>
            <a:ext cx="5334000" cy="1460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High priority, Good fit or Stretch, with requirements, warnings and links to terms.</a:t>
            </a:r>
          </a:p>
        </p:txBody>
      </p:sp>
      <p:sp>
        <p:nvSpPr>
          <p:cNvPr id="22" name="!!GrowthView surround">
            <a:extLst>
              <a:ext uri="{FF2B5EF4-FFF2-40B4-BE49-F238E27FC236}">
                <a16:creationId xmlns:a16="http://schemas.microsoft.com/office/drawing/2014/main" id="{993F1D70-AC5F-576E-F158-BBA633E4D477}"/>
              </a:ext>
            </a:extLst>
          </p:cNvPr>
          <p:cNvSpPr/>
          <p:nvPr/>
        </p:nvSpPr>
        <p:spPr>
          <a:xfrm>
            <a:off x="6433067" y="1803400"/>
            <a:ext cx="4990066" cy="39497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owthView" descr="GreenBiz loan-plan screen, fictional sample data">
            <a:extLst>
              <a:ext uri="{FF2B5EF4-FFF2-40B4-BE49-F238E27FC236}">
                <a16:creationId xmlns:a16="http://schemas.microsoft.com/office/drawing/2014/main" id="{7A258E2A-82C1-10B8-2C76-812F211A721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83867" y="1854200"/>
            <a:ext cx="4888466" cy="3848100"/>
          </a:xfrm>
          <a:prstGeom prst="rect">
            <a:avLst/>
          </a:prstGeom>
        </p:spPr>
      </p:pic>
      <p:sp>
        <p:nvSpPr>
          <p:cNvPr id="25" name="Text Published-term estimates. Wider bank cover">
            <a:extLst>
              <a:ext uri="{FF2B5EF4-FFF2-40B4-BE49-F238E27FC236}">
                <a16:creationId xmlns:a16="http://schemas.microsoft.com/office/drawing/2014/main" id="{C768EF36-561B-494E-2929-2F7C9AD29449}"/>
              </a:ext>
            </a:extLst>
          </p:cNvPr>
          <p:cNvSpPr txBox="1"/>
          <p:nvPr/>
        </p:nvSpPr>
        <p:spPr>
          <a:xfrm>
            <a:off x="6438900" y="5867400"/>
            <a:ext cx="5029200" cy="495300"/>
          </a:xfrm>
          <a:prstGeom prst="rect">
            <a:avLst/>
          </a:prstGeom>
          <a:noFill/>
        </p:spPr>
        <p:txBody>
          <a:bodyPr vert="horz" wrap="square" lIns="0" tIns="0" rIns="0" bIns="0" rtlCol="0">
            <a:noAutofit/>
          </a:bodyPr>
          <a:lstStyle/>
          <a:p>
            <a:r>
              <a:rPr lang="en-US" sz="1700">
                <a:solidFill>
                  <a:srgbClr val="8EA7BA"/>
                </a:solidFill>
                <a:latin typeface="Segoe UI" panose="020B0502040204020203" pitchFamily="34" charset="0"/>
              </a:rPr>
              <a:t>Published-term estimates. Wider bank coverage remains rollout work.</a:t>
            </a:r>
          </a:p>
        </p:txBody>
      </p:sp>
    </p:spTree>
    <p:extLst>
      <p:ext uri="{BB962C8B-B14F-4D97-AF65-F5344CB8AC3E}">
        <p14:creationId xmlns:p14="http://schemas.microsoft.com/office/powerpoint/2010/main" val="15934820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800"/>
                                        <p:tgtEl>
                                          <p:spTgt spid="18"/>
                                        </p:tgtEl>
                                      </p:cBhvr>
                                    </p:animEffect>
                                    <p:animScale>
                                      <p:cBhvr>
                                        <p:cTn id="13" dur="800" fill="hold">
                                          <p:stCondLst>
                                            <p:cond delay="0"/>
                                          </p:stCondLst>
                                        </p:cTn>
                                        <p:tgtEl>
                                          <p:spTgt spid="18"/>
                                        </p:tgtEl>
                                      </p:cBhvr>
                                      <p:from x="96000" y="96000"/>
                                      <p:to x="100000" y="100000"/>
                                    </p:animScale>
                                  </p:childTnLst>
                                </p:cTn>
                              </p:par>
                            </p:childTnLst>
                          </p:cTn>
                        </p:par>
                      </p:childTnLst>
                    </p:cTn>
                  </p:par>
                  <p:par>
                    <p:cTn id="14" fill="hold">
                      <p:stCondLst>
                        <p:cond delay="indefinite"/>
                      </p:stCondLst>
                      <p:childTnLst>
                        <p:par>
                          <p:cTn id="15" fill="hold">
                            <p:stCondLst>
                              <p:cond delay="0"/>
                            </p:stCondLst>
                            <p:childTnLst>
                              <p:par>
                                <p:cTn id="16" presetID="42" presetClass="entr" presetSubtype="0" accel="15000" decel="2500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80"/>
                                        <p:tgtEl>
                                          <p:spTgt spid="19"/>
                                        </p:tgtEl>
                                      </p:cBhvr>
                                    </p:animEffect>
                                    <p:anim calcmode="lin" valueType="num">
                                      <p:cBhvr>
                                        <p:cTn id="19" dur="580" fill="hold"/>
                                        <p:tgtEl>
                                          <p:spTgt spid="19"/>
                                        </p:tgtEl>
                                        <p:attrNameLst>
                                          <p:attrName>ppt_x</p:attrName>
                                        </p:attrNameLst>
                                      </p:cBhvr>
                                      <p:tavLst>
                                        <p:tav tm="0">
                                          <p:val>
                                            <p:strVal val="#ppt_x"/>
                                          </p:val>
                                        </p:tav>
                                        <p:tav tm="100000">
                                          <p:val>
                                            <p:strVal val="#ppt_x"/>
                                          </p:val>
                                        </p:tav>
                                      </p:tavLst>
                                    </p:anim>
                                    <p:anim calcmode="lin" valueType="num">
                                      <p:cBhvr>
                                        <p:cTn id="20" dur="58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accel="15000" decel="2500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80"/>
                                        <p:tgtEl>
                                          <p:spTgt spid="20"/>
                                        </p:tgtEl>
                                      </p:cBhvr>
                                    </p:animEffect>
                                    <p:anim calcmode="lin" valueType="num">
                                      <p:cBhvr>
                                        <p:cTn id="26" dur="580" fill="hold"/>
                                        <p:tgtEl>
                                          <p:spTgt spid="20"/>
                                        </p:tgtEl>
                                        <p:attrNameLst>
                                          <p:attrName>ppt_x</p:attrName>
                                        </p:attrNameLst>
                                      </p:cBhvr>
                                      <p:tavLst>
                                        <p:tav tm="0">
                                          <p:val>
                                            <p:strVal val="#ppt_x"/>
                                          </p:val>
                                        </p:tav>
                                        <p:tav tm="100000">
                                          <p:val>
                                            <p:strVal val="#ppt_x"/>
                                          </p:val>
                                        </p:tav>
                                      </p:tavLst>
                                    </p:anim>
                                    <p:anim calcmode="lin" valueType="num">
                                      <p:cBhvr>
                                        <p:cTn id="27" dur="580" fill="hold"/>
                                        <p:tgtEl>
                                          <p:spTgt spid="20"/>
                                        </p:tgtEl>
                                        <p:attrNameLst>
                                          <p:attrName>ppt_y</p:attrName>
                                        </p:attrNameLst>
                                      </p:cBhvr>
                                      <p:tavLst>
                                        <p:tav tm="0">
                                          <p:val>
                                            <p:strVal val="#ppt_y+.1"/>
                                          </p:val>
                                        </p:tav>
                                        <p:tav tm="100000">
                                          <p:val>
                                            <p:strVal val="#ppt_y"/>
                                          </p:val>
                                        </p:tav>
                                      </p:tavLst>
                                    </p:anim>
                                  </p:childTnLst>
                                </p:cTn>
                              </p:par>
                              <p:par>
                                <p:cTn id="28" presetID="42" presetClass="entr" presetSubtype="0" accel="15000" decel="25000" fill="hold" grpId="0" nodeType="withEffect">
                                  <p:stCondLst>
                                    <p:cond delay="7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80"/>
                                        <p:tgtEl>
                                          <p:spTgt spid="21"/>
                                        </p:tgtEl>
                                      </p:cBhvr>
                                    </p:animEffect>
                                    <p:anim calcmode="lin" valueType="num">
                                      <p:cBhvr>
                                        <p:cTn id="31" dur="580" fill="hold"/>
                                        <p:tgtEl>
                                          <p:spTgt spid="21"/>
                                        </p:tgtEl>
                                        <p:attrNameLst>
                                          <p:attrName>ppt_x</p:attrName>
                                        </p:attrNameLst>
                                      </p:cBhvr>
                                      <p:tavLst>
                                        <p:tav tm="0">
                                          <p:val>
                                            <p:strVal val="#ppt_x"/>
                                          </p:val>
                                        </p:tav>
                                        <p:tav tm="100000">
                                          <p:val>
                                            <p:strVal val="#ppt_x"/>
                                          </p:val>
                                        </p:tav>
                                      </p:tavLst>
                                    </p:anim>
                                    <p:anim calcmode="lin" valueType="num">
                                      <p:cBhvr>
                                        <p:cTn id="32" dur="58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accel="15000" decel="2500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8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19" grpId="0"/>
      <p:bldP spid="20" grpId="0"/>
      <p:bldP spid="21" grpId="0"/>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3" name="Text AI advice with business context">
            <a:extLst>
              <a:ext uri="{FF2B5EF4-FFF2-40B4-BE49-F238E27FC236}">
                <a16:creationId xmlns:a16="http://schemas.microsoft.com/office/drawing/2014/main" id="{46E67547-EDDB-D224-477C-12FBE58558DE}"/>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AI advice with business context</a:t>
            </a:r>
          </a:p>
        </p:txBody>
      </p:sp>
      <p:sp>
        <p:nvSpPr>
          <p:cNvPr id="14" name="Text GreenBiz">
            <a:extLst>
              <a:ext uri="{FF2B5EF4-FFF2-40B4-BE49-F238E27FC236}">
                <a16:creationId xmlns:a16="http://schemas.microsoft.com/office/drawing/2014/main" id="{ACD2C1F2-35BC-1371-031A-9E1EF0E46B35}"/>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5" name="Text 16 / 25">
            <a:extLst>
              <a:ext uri="{FF2B5EF4-FFF2-40B4-BE49-F238E27FC236}">
                <a16:creationId xmlns:a16="http://schemas.microsoft.com/office/drawing/2014/main" id="{6B044109-65E8-7E25-221E-75A8754ECD22}"/>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16 / 25</a:t>
            </a:r>
          </a:p>
        </p:txBody>
      </p:sp>
      <p:sp>
        <p:nvSpPr>
          <p:cNvPr id="16" name="Text Loan">
            <a:extLst>
              <a:ext uri="{FF2B5EF4-FFF2-40B4-BE49-F238E27FC236}">
                <a16:creationId xmlns:a16="http://schemas.microsoft.com/office/drawing/2014/main" id="{A932E1C0-7C44-1564-6CC8-8CA04814B3CB}"/>
              </a:ext>
            </a:extLst>
          </p:cNvPr>
          <p:cNvSpPr txBox="1"/>
          <p:nvPr/>
        </p:nvSpPr>
        <p:spPr>
          <a:xfrm>
            <a:off x="609600" y="19177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Loan</a:t>
            </a:r>
          </a:p>
        </p:txBody>
      </p:sp>
      <p:sp>
        <p:nvSpPr>
          <p:cNvPr id="17" name="Text Explore preparation, borrowing assumptions">
            <a:extLst>
              <a:ext uri="{FF2B5EF4-FFF2-40B4-BE49-F238E27FC236}">
                <a16:creationId xmlns:a16="http://schemas.microsoft.com/office/drawing/2014/main" id="{F63EEB6A-747E-6D20-53C9-B16F2B20B023}"/>
              </a:ext>
            </a:extLst>
          </p:cNvPr>
          <p:cNvSpPr txBox="1"/>
          <p:nvPr/>
        </p:nvSpPr>
        <p:spPr>
          <a:xfrm>
            <a:off x="609600" y="2540000"/>
            <a:ext cx="6794500" cy="12446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Explore preparation, borrowing assumptions and suitable questions for a lender.</a:t>
            </a:r>
          </a:p>
        </p:txBody>
      </p:sp>
      <p:sp>
        <p:nvSpPr>
          <p:cNvPr id="18" name="Text Insurance">
            <a:extLst>
              <a:ext uri="{FF2B5EF4-FFF2-40B4-BE49-F238E27FC236}">
                <a16:creationId xmlns:a16="http://schemas.microsoft.com/office/drawing/2014/main" id="{DBD8AA1D-53CE-526A-520B-09217B4DD5C9}"/>
              </a:ext>
            </a:extLst>
          </p:cNvPr>
          <p:cNvSpPr txBox="1"/>
          <p:nvPr/>
        </p:nvSpPr>
        <p:spPr>
          <a:xfrm>
            <a:off x="609600" y="35560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Insurance</a:t>
            </a:r>
          </a:p>
        </p:txBody>
      </p:sp>
      <p:sp>
        <p:nvSpPr>
          <p:cNvPr id="19" name="Text Discuss protection needs and trade-offs us">
            <a:extLst>
              <a:ext uri="{FF2B5EF4-FFF2-40B4-BE49-F238E27FC236}">
                <a16:creationId xmlns:a16="http://schemas.microsoft.com/office/drawing/2014/main" id="{025D35D4-5D16-3A4C-EEE6-715C671BF1AB}"/>
              </a:ext>
            </a:extLst>
          </p:cNvPr>
          <p:cNvSpPr txBox="1"/>
          <p:nvPr/>
        </p:nvSpPr>
        <p:spPr>
          <a:xfrm>
            <a:off x="609600" y="4178300"/>
            <a:ext cx="6794500" cy="11938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Discuss protection needs and trade-offs using the business context.</a:t>
            </a:r>
          </a:p>
        </p:txBody>
      </p:sp>
      <p:sp>
        <p:nvSpPr>
          <p:cNvPr id="20" name="Text My business">
            <a:extLst>
              <a:ext uri="{FF2B5EF4-FFF2-40B4-BE49-F238E27FC236}">
                <a16:creationId xmlns:a16="http://schemas.microsoft.com/office/drawing/2014/main" id="{7D85D9EC-AB09-3CF1-01EA-81B5390999E0}"/>
              </a:ext>
            </a:extLst>
          </p:cNvPr>
          <p:cNvSpPr txBox="1"/>
          <p:nvPr/>
        </p:nvSpPr>
        <p:spPr>
          <a:xfrm>
            <a:off x="609600" y="51689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My business</a:t>
            </a:r>
          </a:p>
        </p:txBody>
      </p:sp>
      <p:sp>
        <p:nvSpPr>
          <p:cNvPr id="21" name="Text Ask about stock, trading patterns and poss">
            <a:extLst>
              <a:ext uri="{FF2B5EF4-FFF2-40B4-BE49-F238E27FC236}">
                <a16:creationId xmlns:a16="http://schemas.microsoft.com/office/drawing/2014/main" id="{96BFA0C4-DCF1-37E0-FB7A-C72C1BB8EEA9}"/>
              </a:ext>
            </a:extLst>
          </p:cNvPr>
          <p:cNvSpPr txBox="1"/>
          <p:nvPr/>
        </p:nvSpPr>
        <p:spPr>
          <a:xfrm>
            <a:off x="609600" y="5791200"/>
            <a:ext cx="6794500" cy="10541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Ask about stock, trading patterns and possible next steps.</a:t>
            </a:r>
          </a:p>
        </p:txBody>
      </p:sp>
      <p:sp>
        <p:nvSpPr>
          <p:cNvPr id="22" name="Screen surround advisor">
            <a:extLst>
              <a:ext uri="{FF2B5EF4-FFF2-40B4-BE49-F238E27FC236}">
                <a16:creationId xmlns:a16="http://schemas.microsoft.com/office/drawing/2014/main" id="{F8E8CD63-C112-6FC3-FD0C-3E3875EDB661}"/>
              </a:ext>
            </a:extLst>
          </p:cNvPr>
          <p:cNvSpPr/>
          <p:nvPr/>
        </p:nvSpPr>
        <p:spPr>
          <a:xfrm>
            <a:off x="8992472" y="1536700"/>
            <a:ext cx="2246156" cy="47498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App screen advisor" descr="GreenBiz advisor screen, fictional sample data">
            <a:extLst>
              <a:ext uri="{FF2B5EF4-FFF2-40B4-BE49-F238E27FC236}">
                <a16:creationId xmlns:a16="http://schemas.microsoft.com/office/drawing/2014/main" id="{6DB40BC6-DED1-9D62-BDAA-2F24DD81138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043272" y="1587500"/>
            <a:ext cx="2144556" cy="4648200"/>
          </a:xfrm>
          <a:prstGeom prst="rect">
            <a:avLst/>
          </a:prstGeom>
        </p:spPr>
      </p:pic>
    </p:spTree>
    <p:extLst>
      <p:ext uri="{BB962C8B-B14F-4D97-AF65-F5344CB8AC3E}">
        <p14:creationId xmlns:p14="http://schemas.microsoft.com/office/powerpoint/2010/main" val="125023340"/>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80"/>
                                        <p:tgtEl>
                                          <p:spTgt spid="16"/>
                                        </p:tgtEl>
                                      </p:cBhvr>
                                    </p:animEffect>
                                    <p:anim calcmode="lin" valueType="num">
                                      <p:cBhvr>
                                        <p:cTn id="13" dur="580" fill="hold"/>
                                        <p:tgtEl>
                                          <p:spTgt spid="16"/>
                                        </p:tgtEl>
                                        <p:attrNameLst>
                                          <p:attrName>ppt_x</p:attrName>
                                        </p:attrNameLst>
                                      </p:cBhvr>
                                      <p:tavLst>
                                        <p:tav tm="0">
                                          <p:val>
                                            <p:strVal val="#ppt_x"/>
                                          </p:val>
                                        </p:tav>
                                        <p:tav tm="100000">
                                          <p:val>
                                            <p:strVal val="#ppt_x"/>
                                          </p:val>
                                        </p:tav>
                                      </p:tavLst>
                                    </p:anim>
                                    <p:anim calcmode="lin" valueType="num">
                                      <p:cBhvr>
                                        <p:cTn id="14" dur="58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80"/>
                                        <p:tgtEl>
                                          <p:spTgt spid="17"/>
                                        </p:tgtEl>
                                      </p:cBhvr>
                                    </p:animEffect>
                                    <p:anim calcmode="lin" valueType="num">
                                      <p:cBhvr>
                                        <p:cTn id="18" dur="580" fill="hold"/>
                                        <p:tgtEl>
                                          <p:spTgt spid="17"/>
                                        </p:tgtEl>
                                        <p:attrNameLst>
                                          <p:attrName>ppt_x</p:attrName>
                                        </p:attrNameLst>
                                      </p:cBhvr>
                                      <p:tavLst>
                                        <p:tav tm="0">
                                          <p:val>
                                            <p:strVal val="#ppt_x"/>
                                          </p:val>
                                        </p:tav>
                                        <p:tav tm="100000">
                                          <p:val>
                                            <p:strVal val="#ppt_x"/>
                                          </p:val>
                                        </p:tav>
                                      </p:tavLst>
                                    </p:anim>
                                    <p:anim calcmode="lin" valueType="num">
                                      <p:cBhvr>
                                        <p:cTn id="19" dur="58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80"/>
                                        <p:tgtEl>
                                          <p:spTgt spid="18"/>
                                        </p:tgtEl>
                                      </p:cBhvr>
                                    </p:animEffect>
                                    <p:anim calcmode="lin" valueType="num">
                                      <p:cBhvr>
                                        <p:cTn id="25" dur="580" fill="hold"/>
                                        <p:tgtEl>
                                          <p:spTgt spid="18"/>
                                        </p:tgtEl>
                                        <p:attrNameLst>
                                          <p:attrName>ppt_x</p:attrName>
                                        </p:attrNameLst>
                                      </p:cBhvr>
                                      <p:tavLst>
                                        <p:tav tm="0">
                                          <p:val>
                                            <p:strVal val="#ppt_x"/>
                                          </p:val>
                                        </p:tav>
                                        <p:tav tm="100000">
                                          <p:val>
                                            <p:strVal val="#ppt_x"/>
                                          </p:val>
                                        </p:tav>
                                      </p:tavLst>
                                    </p:anim>
                                    <p:anim calcmode="lin" valueType="num">
                                      <p:cBhvr>
                                        <p:cTn id="26" dur="580" fill="hold"/>
                                        <p:tgtEl>
                                          <p:spTgt spid="18"/>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80"/>
                                        <p:tgtEl>
                                          <p:spTgt spid="19"/>
                                        </p:tgtEl>
                                      </p:cBhvr>
                                    </p:animEffect>
                                    <p:anim calcmode="lin" valueType="num">
                                      <p:cBhvr>
                                        <p:cTn id="30" dur="580" fill="hold"/>
                                        <p:tgtEl>
                                          <p:spTgt spid="19"/>
                                        </p:tgtEl>
                                        <p:attrNameLst>
                                          <p:attrName>ppt_x</p:attrName>
                                        </p:attrNameLst>
                                      </p:cBhvr>
                                      <p:tavLst>
                                        <p:tav tm="0">
                                          <p:val>
                                            <p:strVal val="#ppt_x"/>
                                          </p:val>
                                        </p:tav>
                                        <p:tav tm="100000">
                                          <p:val>
                                            <p:strVal val="#ppt_x"/>
                                          </p:val>
                                        </p:tav>
                                      </p:tavLst>
                                    </p:anim>
                                    <p:anim calcmode="lin" valueType="num">
                                      <p:cBhvr>
                                        <p:cTn id="31" dur="58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accel="15000" decel="2500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80"/>
                                        <p:tgtEl>
                                          <p:spTgt spid="20"/>
                                        </p:tgtEl>
                                      </p:cBhvr>
                                    </p:animEffect>
                                    <p:anim calcmode="lin" valueType="num">
                                      <p:cBhvr>
                                        <p:cTn id="37" dur="580" fill="hold"/>
                                        <p:tgtEl>
                                          <p:spTgt spid="20"/>
                                        </p:tgtEl>
                                        <p:attrNameLst>
                                          <p:attrName>ppt_x</p:attrName>
                                        </p:attrNameLst>
                                      </p:cBhvr>
                                      <p:tavLst>
                                        <p:tav tm="0">
                                          <p:val>
                                            <p:strVal val="#ppt_x"/>
                                          </p:val>
                                        </p:tav>
                                        <p:tav tm="100000">
                                          <p:val>
                                            <p:strVal val="#ppt_x"/>
                                          </p:val>
                                        </p:tav>
                                      </p:tavLst>
                                    </p:anim>
                                    <p:anim calcmode="lin" valueType="num">
                                      <p:cBhvr>
                                        <p:cTn id="38" dur="580" fill="hold"/>
                                        <p:tgtEl>
                                          <p:spTgt spid="20"/>
                                        </p:tgtEl>
                                        <p:attrNameLst>
                                          <p:attrName>ppt_y</p:attrName>
                                        </p:attrNameLst>
                                      </p:cBhvr>
                                      <p:tavLst>
                                        <p:tav tm="0">
                                          <p:val>
                                            <p:strVal val="#ppt_y+.1"/>
                                          </p:val>
                                        </p:tav>
                                        <p:tav tm="100000">
                                          <p:val>
                                            <p:strVal val="#ppt_y"/>
                                          </p:val>
                                        </p:tav>
                                      </p:tavLst>
                                    </p:anim>
                                  </p:childTnLst>
                                </p:cTn>
                              </p:par>
                              <p:par>
                                <p:cTn id="39" presetID="42" presetClass="entr" presetSubtype="0" accel="15000" decel="25000" fill="hold" grpId="0" nodeType="withEffect">
                                  <p:stCondLst>
                                    <p:cond delay="7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80"/>
                                        <p:tgtEl>
                                          <p:spTgt spid="21"/>
                                        </p:tgtEl>
                                      </p:cBhvr>
                                    </p:animEffect>
                                    <p:anim calcmode="lin" valueType="num">
                                      <p:cBhvr>
                                        <p:cTn id="42" dur="580" fill="hold"/>
                                        <p:tgtEl>
                                          <p:spTgt spid="21"/>
                                        </p:tgtEl>
                                        <p:attrNameLst>
                                          <p:attrName>ppt_x</p:attrName>
                                        </p:attrNameLst>
                                      </p:cBhvr>
                                      <p:tavLst>
                                        <p:tav tm="0">
                                          <p:val>
                                            <p:strVal val="#ppt_x"/>
                                          </p:val>
                                        </p:tav>
                                        <p:tav tm="100000">
                                          <p:val>
                                            <p:strVal val="#ppt_x"/>
                                          </p:val>
                                        </p:tav>
                                      </p:tavLst>
                                    </p:anim>
                                    <p:anim calcmode="lin" valueType="num">
                                      <p:cBhvr>
                                        <p:cTn id="43" dur="58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accel="15000" decel="25000" fill="hold"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800"/>
                                        <p:tgtEl>
                                          <p:spTgt spid="24"/>
                                        </p:tgtEl>
                                      </p:cBhvr>
                                    </p:animEffect>
                                    <p:animScale>
                                      <p:cBhvr>
                                        <p:cTn id="49" dur="800" fill="hold">
                                          <p:stCondLst>
                                            <p:cond delay="0"/>
                                          </p:stCondLst>
                                        </p:cTn>
                                        <p:tgtEl>
                                          <p:spTgt spid="24"/>
                                        </p:tgtEl>
                                      </p:cBhvr>
                                      <p:from x="96000" y="96000"/>
                                      <p:to x="100000" y="100000"/>
                                    </p:animScale>
                                  </p:childTnLst>
                                </p:cTn>
                              </p:par>
                              <p:par>
                                <p:cTn id="50" presetID="10" presetClass="entr" presetSubtype="0" accel="15000" decel="2500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8" grpId="0"/>
      <p:bldP spid="19" grpId="0"/>
      <p:bldP spid="20" grpId="0"/>
      <p:bldP spid="21" grpId="0"/>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7" name="Text The shop on a larger screen">
            <a:extLst>
              <a:ext uri="{FF2B5EF4-FFF2-40B4-BE49-F238E27FC236}">
                <a16:creationId xmlns:a16="http://schemas.microsoft.com/office/drawing/2014/main" id="{162CD2F0-584E-2519-7E7F-5EC68391F941}"/>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The shop on a larger screen</a:t>
            </a:r>
          </a:p>
        </p:txBody>
      </p:sp>
      <p:sp>
        <p:nvSpPr>
          <p:cNvPr id="8" name="Text GreenBiz">
            <a:extLst>
              <a:ext uri="{FF2B5EF4-FFF2-40B4-BE49-F238E27FC236}">
                <a16:creationId xmlns:a16="http://schemas.microsoft.com/office/drawing/2014/main" id="{6B81A502-146A-F9AE-5EA5-E758C2444948}"/>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9" name="Text 17 / 25">
            <a:extLst>
              <a:ext uri="{FF2B5EF4-FFF2-40B4-BE49-F238E27FC236}">
                <a16:creationId xmlns:a16="http://schemas.microsoft.com/office/drawing/2014/main" id="{D3F54A56-E1D4-738F-CB26-F95B460E3C16}"/>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17 / 25</a:t>
            </a:r>
          </a:p>
        </p:txBody>
      </p:sp>
      <p:sp>
        <p:nvSpPr>
          <p:cNvPr id="10" name="Screen surround dashboard">
            <a:extLst>
              <a:ext uri="{FF2B5EF4-FFF2-40B4-BE49-F238E27FC236}">
                <a16:creationId xmlns:a16="http://schemas.microsoft.com/office/drawing/2014/main" id="{BF97D690-C62E-ACF1-72B2-87F600CBF335}"/>
              </a:ext>
            </a:extLst>
          </p:cNvPr>
          <p:cNvSpPr/>
          <p:nvPr/>
        </p:nvSpPr>
        <p:spPr>
          <a:xfrm>
            <a:off x="1047496" y="1549400"/>
            <a:ext cx="6795007" cy="47498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App screen dashboard" descr="GreenBiz dashboard screen, fictional sample data">
            <a:extLst>
              <a:ext uri="{FF2B5EF4-FFF2-40B4-BE49-F238E27FC236}">
                <a16:creationId xmlns:a16="http://schemas.microsoft.com/office/drawing/2014/main" id="{1A9B8547-608C-4C78-02F3-9039AAC6D59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98296" y="1600200"/>
            <a:ext cx="6693408" cy="4648200"/>
          </a:xfrm>
          <a:prstGeom prst="rect">
            <a:avLst/>
          </a:prstGeom>
        </p:spPr>
      </p:pic>
      <p:sp>
        <p:nvSpPr>
          <p:cNvPr id="13" name="Text A desktop view">
            <a:extLst>
              <a:ext uri="{FF2B5EF4-FFF2-40B4-BE49-F238E27FC236}">
                <a16:creationId xmlns:a16="http://schemas.microsoft.com/office/drawing/2014/main" id="{376F1FC4-60B2-B3E2-2065-01DFBA60D836}"/>
              </a:ext>
            </a:extLst>
          </p:cNvPr>
          <p:cNvSpPr txBox="1"/>
          <p:nvPr/>
        </p:nvSpPr>
        <p:spPr>
          <a:xfrm>
            <a:off x="8724900" y="2006600"/>
            <a:ext cx="28321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 desktop view</a:t>
            </a:r>
          </a:p>
        </p:txBody>
      </p:sp>
      <p:sp>
        <p:nvSpPr>
          <p:cNvPr id="14" name="Text Stock, sales, payments and trends on a des">
            <a:extLst>
              <a:ext uri="{FF2B5EF4-FFF2-40B4-BE49-F238E27FC236}">
                <a16:creationId xmlns:a16="http://schemas.microsoft.com/office/drawing/2014/main" id="{5CCAB41D-21F4-D137-A4AD-2CFB7BF70BB4}"/>
              </a:ext>
            </a:extLst>
          </p:cNvPr>
          <p:cNvSpPr txBox="1"/>
          <p:nvPr/>
        </p:nvSpPr>
        <p:spPr>
          <a:xfrm>
            <a:off x="8724900" y="2628900"/>
            <a:ext cx="2832100" cy="1905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Stock, sales, payments and trends on a desktop workspace.</a:t>
            </a:r>
          </a:p>
        </p:txBody>
      </p:sp>
      <p:sp>
        <p:nvSpPr>
          <p:cNvPr id="15" name="Text Sample app workspace, with fictional recor">
            <a:extLst>
              <a:ext uri="{FF2B5EF4-FFF2-40B4-BE49-F238E27FC236}">
                <a16:creationId xmlns:a16="http://schemas.microsoft.com/office/drawing/2014/main" id="{F198E193-2FE5-85E9-ACCE-16E792391C9F}"/>
              </a:ext>
            </a:extLst>
          </p:cNvPr>
          <p:cNvSpPr txBox="1"/>
          <p:nvPr/>
        </p:nvSpPr>
        <p:spPr>
          <a:xfrm>
            <a:off x="8724900" y="5143500"/>
            <a:ext cx="2819400" cy="990600"/>
          </a:xfrm>
          <a:prstGeom prst="rect">
            <a:avLst/>
          </a:prstGeom>
          <a:noFill/>
        </p:spPr>
        <p:txBody>
          <a:bodyPr vert="horz" wrap="square" lIns="0" tIns="0" rIns="0" bIns="0" rtlCol="0">
            <a:noAutofit/>
          </a:bodyPr>
          <a:lstStyle/>
          <a:p>
            <a:r>
              <a:rPr lang="en-US" sz="1900">
                <a:solidFill>
                  <a:srgbClr val="8EA7BA"/>
                </a:solidFill>
                <a:latin typeface="Segoe UI" panose="020B0502040204020203" pitchFamily="34" charset="0"/>
              </a:rPr>
              <a:t>Sample app workspace, with fictional records</a:t>
            </a:r>
          </a:p>
        </p:txBody>
      </p:sp>
    </p:spTree>
    <p:extLst>
      <p:ext uri="{BB962C8B-B14F-4D97-AF65-F5344CB8AC3E}">
        <p14:creationId xmlns:p14="http://schemas.microsoft.com/office/powerpoint/2010/main" val="1281428159"/>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800"/>
                                        <p:tgtEl>
                                          <p:spTgt spid="12"/>
                                        </p:tgtEl>
                                      </p:cBhvr>
                                    </p:animEffect>
                                    <p:animScale>
                                      <p:cBhvr>
                                        <p:cTn id="13" dur="800" fill="hold">
                                          <p:stCondLst>
                                            <p:cond delay="0"/>
                                          </p:stCondLst>
                                        </p:cTn>
                                        <p:tgtEl>
                                          <p:spTgt spid="12"/>
                                        </p:tgtEl>
                                      </p:cBhvr>
                                      <p:from x="96000" y="96000"/>
                                      <p:to x="100000" y="100000"/>
                                    </p:animScale>
                                  </p:childTnLst>
                                </p:cTn>
                              </p:par>
                              <p:par>
                                <p:cTn id="14" presetID="10" presetClass="entr" presetSubtype="0" accel="15000" decel="2500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6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accel="15000" decel="2500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80"/>
                                        <p:tgtEl>
                                          <p:spTgt spid="13"/>
                                        </p:tgtEl>
                                      </p:cBhvr>
                                    </p:animEffect>
                                    <p:anim calcmode="lin" valueType="num">
                                      <p:cBhvr>
                                        <p:cTn id="22" dur="580" fill="hold"/>
                                        <p:tgtEl>
                                          <p:spTgt spid="13"/>
                                        </p:tgtEl>
                                        <p:attrNameLst>
                                          <p:attrName>ppt_x</p:attrName>
                                        </p:attrNameLst>
                                      </p:cBhvr>
                                      <p:tavLst>
                                        <p:tav tm="0">
                                          <p:val>
                                            <p:strVal val="#ppt_x"/>
                                          </p:val>
                                        </p:tav>
                                        <p:tav tm="100000">
                                          <p:val>
                                            <p:strVal val="#ppt_x"/>
                                          </p:val>
                                        </p:tav>
                                      </p:tavLst>
                                    </p:anim>
                                    <p:anim calcmode="lin" valueType="num">
                                      <p:cBhvr>
                                        <p:cTn id="23" dur="580" fill="hold"/>
                                        <p:tgtEl>
                                          <p:spTgt spid="13"/>
                                        </p:tgtEl>
                                        <p:attrNameLst>
                                          <p:attrName>ppt_y</p:attrName>
                                        </p:attrNameLst>
                                      </p:cBhvr>
                                      <p:tavLst>
                                        <p:tav tm="0">
                                          <p:val>
                                            <p:strVal val="#ppt_y+.1"/>
                                          </p:val>
                                        </p:tav>
                                        <p:tav tm="100000">
                                          <p:val>
                                            <p:strVal val="#ppt_y"/>
                                          </p:val>
                                        </p:tav>
                                      </p:tavLst>
                                    </p:anim>
                                  </p:childTnLst>
                                </p:cTn>
                              </p:par>
                              <p:par>
                                <p:cTn id="24" presetID="42" presetClass="entr" presetSubtype="0" accel="15000" decel="25000" fill="hold" grpId="0" nodeType="withEffect">
                                  <p:stCondLst>
                                    <p:cond delay="7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80"/>
                                        <p:tgtEl>
                                          <p:spTgt spid="14"/>
                                        </p:tgtEl>
                                      </p:cBhvr>
                                    </p:animEffect>
                                    <p:anim calcmode="lin" valueType="num">
                                      <p:cBhvr>
                                        <p:cTn id="27" dur="580" fill="hold"/>
                                        <p:tgtEl>
                                          <p:spTgt spid="14"/>
                                        </p:tgtEl>
                                        <p:attrNameLst>
                                          <p:attrName>ppt_x</p:attrName>
                                        </p:attrNameLst>
                                      </p:cBhvr>
                                      <p:tavLst>
                                        <p:tav tm="0">
                                          <p:val>
                                            <p:strVal val="#ppt_x"/>
                                          </p:val>
                                        </p:tav>
                                        <p:tav tm="100000">
                                          <p:val>
                                            <p:strVal val="#ppt_x"/>
                                          </p:val>
                                        </p:tav>
                                      </p:tavLst>
                                    </p:anim>
                                    <p:anim calcmode="lin" valueType="num">
                                      <p:cBhvr>
                                        <p:cTn id="28" dur="58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accel="15000" decel="2500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8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13" grpId="0"/>
      <p:bldP spid="14"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0" name="Text Customer invoices and payment claims">
            <a:extLst>
              <a:ext uri="{FF2B5EF4-FFF2-40B4-BE49-F238E27FC236}">
                <a16:creationId xmlns:a16="http://schemas.microsoft.com/office/drawing/2014/main" id="{6FA50ECD-D477-DD2E-3E1A-37C5EB0FEDF9}"/>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Customer invoices and payment claims</a:t>
            </a:r>
          </a:p>
        </p:txBody>
      </p:sp>
      <p:sp>
        <p:nvSpPr>
          <p:cNvPr id="11" name="Text GreenBiz">
            <a:extLst>
              <a:ext uri="{FF2B5EF4-FFF2-40B4-BE49-F238E27FC236}">
                <a16:creationId xmlns:a16="http://schemas.microsoft.com/office/drawing/2014/main" id="{C5FE0F68-F120-CCA0-6746-3AAB873DB78C}"/>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2" name="Text 18 / 25">
            <a:extLst>
              <a:ext uri="{FF2B5EF4-FFF2-40B4-BE49-F238E27FC236}">
                <a16:creationId xmlns:a16="http://schemas.microsoft.com/office/drawing/2014/main" id="{4E22060C-9547-F897-31BA-21A296EA3A72}"/>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18 / 25</a:t>
            </a:r>
          </a:p>
        </p:txBody>
      </p:sp>
      <p:sp>
        <p:nvSpPr>
          <p:cNvPr id="13" name="Text A link for one invoice">
            <a:extLst>
              <a:ext uri="{FF2B5EF4-FFF2-40B4-BE49-F238E27FC236}">
                <a16:creationId xmlns:a16="http://schemas.microsoft.com/office/drawing/2014/main" id="{2BF9522F-9F91-4AC3-7992-BD1E51088109}"/>
              </a:ext>
            </a:extLst>
          </p:cNvPr>
          <p:cNvSpPr txBox="1"/>
          <p:nvPr/>
        </p:nvSpPr>
        <p:spPr>
          <a:xfrm>
            <a:off x="609600" y="1917700"/>
            <a:ext cx="5080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 link for one invoice</a:t>
            </a:r>
          </a:p>
        </p:txBody>
      </p:sp>
      <p:sp>
        <p:nvSpPr>
          <p:cNvPr id="14" name="Text Customers see the items and submit their p">
            <a:extLst>
              <a:ext uri="{FF2B5EF4-FFF2-40B4-BE49-F238E27FC236}">
                <a16:creationId xmlns:a16="http://schemas.microsoft.com/office/drawing/2014/main" id="{0A982B58-F3BF-8062-7A9F-F5265185A7E6}"/>
              </a:ext>
            </a:extLst>
          </p:cNvPr>
          <p:cNvSpPr txBox="1"/>
          <p:nvPr/>
        </p:nvSpPr>
        <p:spPr>
          <a:xfrm>
            <a:off x="609600" y="2540000"/>
            <a:ext cx="5080000" cy="1206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Customers see the items and submit their payment reference.</a:t>
            </a:r>
          </a:p>
        </p:txBody>
      </p:sp>
      <p:sp>
        <p:nvSpPr>
          <p:cNvPr id="15" name="Text A merchant review step">
            <a:extLst>
              <a:ext uri="{FF2B5EF4-FFF2-40B4-BE49-F238E27FC236}">
                <a16:creationId xmlns:a16="http://schemas.microsoft.com/office/drawing/2014/main" id="{C39EA090-8C23-655A-9A10-2359BDE94369}"/>
              </a:ext>
            </a:extLst>
          </p:cNvPr>
          <p:cNvSpPr txBox="1"/>
          <p:nvPr/>
        </p:nvSpPr>
        <p:spPr>
          <a:xfrm>
            <a:off x="609600" y="3606800"/>
            <a:ext cx="5080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 merchant review step</a:t>
            </a:r>
          </a:p>
        </p:txBody>
      </p:sp>
      <p:sp>
        <p:nvSpPr>
          <p:cNvPr id="16" name="Text The shop reviews claims and resolves misma">
            <a:extLst>
              <a:ext uri="{FF2B5EF4-FFF2-40B4-BE49-F238E27FC236}">
                <a16:creationId xmlns:a16="http://schemas.microsoft.com/office/drawing/2014/main" id="{6C6EB258-ABC3-6496-F8D5-82955D508A6C}"/>
              </a:ext>
            </a:extLst>
          </p:cNvPr>
          <p:cNvSpPr txBox="1"/>
          <p:nvPr/>
        </p:nvSpPr>
        <p:spPr>
          <a:xfrm>
            <a:off x="609600" y="4229100"/>
            <a:ext cx="5080000" cy="1397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The shop reviews claims and resolves mismatches or repeated references.</a:t>
            </a:r>
          </a:p>
        </p:txBody>
      </p:sp>
      <p:sp>
        <p:nvSpPr>
          <p:cNvPr id="17" name="Text Invoice creation and stock-sale recording ">
            <a:extLst>
              <a:ext uri="{FF2B5EF4-FFF2-40B4-BE49-F238E27FC236}">
                <a16:creationId xmlns:a16="http://schemas.microsoft.com/office/drawing/2014/main" id="{973D4070-9C4D-4C92-1A1D-04F0DF56D47F}"/>
              </a:ext>
            </a:extLst>
          </p:cNvPr>
          <p:cNvSpPr txBox="1"/>
          <p:nvPr/>
        </p:nvSpPr>
        <p:spPr>
          <a:xfrm>
            <a:off x="609600" y="5600700"/>
            <a:ext cx="5080000" cy="622300"/>
          </a:xfrm>
          <a:prstGeom prst="rect">
            <a:avLst/>
          </a:prstGeom>
          <a:noFill/>
        </p:spPr>
        <p:txBody>
          <a:bodyPr vert="horz" wrap="square" lIns="0" tIns="0" rIns="0" bIns="0" rtlCol="0">
            <a:noAutofit/>
          </a:bodyPr>
          <a:lstStyle/>
          <a:p>
            <a:r>
              <a:rPr lang="en-US">
                <a:solidFill>
                  <a:srgbClr val="8EA7BA"/>
                </a:solidFill>
                <a:latin typeface="Segoe UI" panose="020B0502040204020203" pitchFamily="34" charset="0"/>
              </a:rPr>
              <a:t>Invoice creation and stock-sale recording remain separate actions.</a:t>
            </a:r>
          </a:p>
        </p:txBody>
      </p:sp>
      <p:sp>
        <p:nvSpPr>
          <p:cNvPr id="18" name="Screen surround customer-full">
            <a:extLst>
              <a:ext uri="{FF2B5EF4-FFF2-40B4-BE49-F238E27FC236}">
                <a16:creationId xmlns:a16="http://schemas.microsoft.com/office/drawing/2014/main" id="{55B87127-704B-4E39-DEBA-540E9CCF25E3}"/>
              </a:ext>
            </a:extLst>
          </p:cNvPr>
          <p:cNvSpPr/>
          <p:nvPr/>
        </p:nvSpPr>
        <p:spPr>
          <a:xfrm>
            <a:off x="64148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App screen customer-full" descr="GreenBiz customer-full screen, fictional sample data">
            <a:extLst>
              <a:ext uri="{FF2B5EF4-FFF2-40B4-BE49-F238E27FC236}">
                <a16:creationId xmlns:a16="http://schemas.microsoft.com/office/drawing/2014/main" id="{8920A67E-8E99-6592-D9DE-8B4E526EE9D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65663" y="1562100"/>
            <a:ext cx="2156275" cy="4673600"/>
          </a:xfrm>
          <a:prstGeom prst="rect">
            <a:avLst/>
          </a:prstGeom>
        </p:spPr>
      </p:pic>
      <p:sp>
        <p:nvSpPr>
          <p:cNvPr id="21" name="Screen surround orders">
            <a:extLst>
              <a:ext uri="{FF2B5EF4-FFF2-40B4-BE49-F238E27FC236}">
                <a16:creationId xmlns:a16="http://schemas.microsoft.com/office/drawing/2014/main" id="{9B36328E-D563-AFEA-5EC4-76C2F7EBE899}"/>
              </a:ext>
            </a:extLst>
          </p:cNvPr>
          <p:cNvSpPr/>
          <p:nvPr/>
        </p:nvSpPr>
        <p:spPr>
          <a:xfrm>
            <a:off x="90945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App screen orders" descr="GreenBiz orders screen, fictional sample data">
            <a:extLst>
              <a:ext uri="{FF2B5EF4-FFF2-40B4-BE49-F238E27FC236}">
                <a16:creationId xmlns:a16="http://schemas.microsoft.com/office/drawing/2014/main" id="{14532AC4-7798-7ADB-8B08-36B84F2F26A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145363" y="1562100"/>
            <a:ext cx="2156275" cy="4673600"/>
          </a:xfrm>
          <a:prstGeom prst="rect">
            <a:avLst/>
          </a:prstGeom>
        </p:spPr>
      </p:pic>
    </p:spTree>
    <p:extLst>
      <p:ext uri="{BB962C8B-B14F-4D97-AF65-F5344CB8AC3E}">
        <p14:creationId xmlns:p14="http://schemas.microsoft.com/office/powerpoint/2010/main" val="86864796"/>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80"/>
                                        <p:tgtEl>
                                          <p:spTgt spid="13"/>
                                        </p:tgtEl>
                                      </p:cBhvr>
                                    </p:animEffect>
                                    <p:anim calcmode="lin" valueType="num">
                                      <p:cBhvr>
                                        <p:cTn id="13" dur="580" fill="hold"/>
                                        <p:tgtEl>
                                          <p:spTgt spid="13"/>
                                        </p:tgtEl>
                                        <p:attrNameLst>
                                          <p:attrName>ppt_x</p:attrName>
                                        </p:attrNameLst>
                                      </p:cBhvr>
                                      <p:tavLst>
                                        <p:tav tm="0">
                                          <p:val>
                                            <p:strVal val="#ppt_x"/>
                                          </p:val>
                                        </p:tav>
                                        <p:tav tm="100000">
                                          <p:val>
                                            <p:strVal val="#ppt_x"/>
                                          </p:val>
                                        </p:tav>
                                      </p:tavLst>
                                    </p:anim>
                                    <p:anim calcmode="lin" valueType="num">
                                      <p:cBhvr>
                                        <p:cTn id="14" dur="58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80"/>
                                        <p:tgtEl>
                                          <p:spTgt spid="14"/>
                                        </p:tgtEl>
                                      </p:cBhvr>
                                    </p:animEffect>
                                    <p:anim calcmode="lin" valueType="num">
                                      <p:cBhvr>
                                        <p:cTn id="18" dur="580" fill="hold"/>
                                        <p:tgtEl>
                                          <p:spTgt spid="14"/>
                                        </p:tgtEl>
                                        <p:attrNameLst>
                                          <p:attrName>ppt_x</p:attrName>
                                        </p:attrNameLst>
                                      </p:cBhvr>
                                      <p:tavLst>
                                        <p:tav tm="0">
                                          <p:val>
                                            <p:strVal val="#ppt_x"/>
                                          </p:val>
                                        </p:tav>
                                        <p:tav tm="100000">
                                          <p:val>
                                            <p:strVal val="#ppt_x"/>
                                          </p:val>
                                        </p:tav>
                                      </p:tavLst>
                                    </p:anim>
                                    <p:anim calcmode="lin" valueType="num">
                                      <p:cBhvr>
                                        <p:cTn id="19" dur="58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80"/>
                                        <p:tgtEl>
                                          <p:spTgt spid="15"/>
                                        </p:tgtEl>
                                      </p:cBhvr>
                                    </p:animEffect>
                                    <p:anim calcmode="lin" valueType="num">
                                      <p:cBhvr>
                                        <p:cTn id="25" dur="580" fill="hold"/>
                                        <p:tgtEl>
                                          <p:spTgt spid="15"/>
                                        </p:tgtEl>
                                        <p:attrNameLst>
                                          <p:attrName>ppt_x</p:attrName>
                                        </p:attrNameLst>
                                      </p:cBhvr>
                                      <p:tavLst>
                                        <p:tav tm="0">
                                          <p:val>
                                            <p:strVal val="#ppt_x"/>
                                          </p:val>
                                        </p:tav>
                                        <p:tav tm="100000">
                                          <p:val>
                                            <p:strVal val="#ppt_x"/>
                                          </p:val>
                                        </p:tav>
                                      </p:tavLst>
                                    </p:anim>
                                    <p:anim calcmode="lin" valueType="num">
                                      <p:cBhvr>
                                        <p:cTn id="26" dur="580" fill="hold"/>
                                        <p:tgtEl>
                                          <p:spTgt spid="15"/>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80"/>
                                        <p:tgtEl>
                                          <p:spTgt spid="16"/>
                                        </p:tgtEl>
                                      </p:cBhvr>
                                    </p:animEffect>
                                    <p:anim calcmode="lin" valueType="num">
                                      <p:cBhvr>
                                        <p:cTn id="30" dur="580" fill="hold"/>
                                        <p:tgtEl>
                                          <p:spTgt spid="16"/>
                                        </p:tgtEl>
                                        <p:attrNameLst>
                                          <p:attrName>ppt_x</p:attrName>
                                        </p:attrNameLst>
                                      </p:cBhvr>
                                      <p:tavLst>
                                        <p:tav tm="0">
                                          <p:val>
                                            <p:strVal val="#ppt_x"/>
                                          </p:val>
                                        </p:tav>
                                        <p:tav tm="100000">
                                          <p:val>
                                            <p:strVal val="#ppt_x"/>
                                          </p:val>
                                        </p:tav>
                                      </p:tavLst>
                                    </p:anim>
                                    <p:anim calcmode="lin" valueType="num">
                                      <p:cBhvr>
                                        <p:cTn id="31" dur="58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accel="15000" decel="2500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8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15000" decel="2500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800"/>
                                        <p:tgtEl>
                                          <p:spTgt spid="20"/>
                                        </p:tgtEl>
                                      </p:cBhvr>
                                    </p:animEffect>
                                    <p:animScale>
                                      <p:cBhvr>
                                        <p:cTn id="42" dur="800" fill="hold">
                                          <p:stCondLst>
                                            <p:cond delay="0"/>
                                          </p:stCondLst>
                                        </p:cTn>
                                        <p:tgtEl>
                                          <p:spTgt spid="20"/>
                                        </p:tgtEl>
                                      </p:cBhvr>
                                      <p:from x="96000" y="96000"/>
                                      <p:to x="100000" y="100000"/>
                                    </p:animScale>
                                  </p:childTnLst>
                                </p:cTn>
                              </p:par>
                              <p:par>
                                <p:cTn id="43" presetID="10" presetClass="entr" presetSubtype="0" accel="15000" decel="2500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6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accel="15000" decel="25000" fill="hold"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800"/>
                                        <p:tgtEl>
                                          <p:spTgt spid="23"/>
                                        </p:tgtEl>
                                      </p:cBhvr>
                                    </p:animEffect>
                                    <p:animScale>
                                      <p:cBhvr>
                                        <p:cTn id="51" dur="800" fill="hold">
                                          <p:stCondLst>
                                            <p:cond delay="0"/>
                                          </p:stCondLst>
                                        </p:cTn>
                                        <p:tgtEl>
                                          <p:spTgt spid="23"/>
                                        </p:tgtEl>
                                      </p:cBhvr>
                                      <p:from x="96000" y="96000"/>
                                      <p:to x="100000" y="100000"/>
                                    </p:animScale>
                                  </p:childTnLst>
                                </p:cTn>
                              </p:par>
                              <p:par>
                                <p:cTn id="52" presetID="10" presetClass="entr" presetSubtype="0" accel="15000" decel="2500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4" grpId="0"/>
      <p:bldP spid="15" grpId="0"/>
      <p:bldP spid="16" grpId="0"/>
      <p:bldP spid="17" grpId="0"/>
      <p:bldP spid="18"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2" name="Text Consent-based access for financial institu">
            <a:extLst>
              <a:ext uri="{FF2B5EF4-FFF2-40B4-BE49-F238E27FC236}">
                <a16:creationId xmlns:a16="http://schemas.microsoft.com/office/drawing/2014/main" id="{25FBA5DA-21D1-1C63-5C86-8083C853E455}"/>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Consent-based access for financial institutions</a:t>
            </a:r>
          </a:p>
        </p:txBody>
      </p:sp>
      <p:sp>
        <p:nvSpPr>
          <p:cNvPr id="3" name="Text GreenBiz">
            <a:extLst>
              <a:ext uri="{FF2B5EF4-FFF2-40B4-BE49-F238E27FC236}">
                <a16:creationId xmlns:a16="http://schemas.microsoft.com/office/drawing/2014/main" id="{3F278A29-4F0E-EFBA-A5C0-9E95F38ED9AB}"/>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4" name="Text 19 / 25">
            <a:extLst>
              <a:ext uri="{FF2B5EF4-FFF2-40B4-BE49-F238E27FC236}">
                <a16:creationId xmlns:a16="http://schemas.microsoft.com/office/drawing/2014/main" id="{D1E66BE0-AC23-941C-DA9A-8EC94F75F11A}"/>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19 / 25</a:t>
            </a:r>
          </a:p>
        </p:txBody>
      </p:sp>
      <p:sp>
        <p:nvSpPr>
          <p:cNvPr id="5" name="Screen surround bank-crop">
            <a:extLst>
              <a:ext uri="{FF2B5EF4-FFF2-40B4-BE49-F238E27FC236}">
                <a16:creationId xmlns:a16="http://schemas.microsoft.com/office/drawing/2014/main" id="{EF50BDC1-0AF5-8A25-68AE-306E73791D43}"/>
              </a:ext>
            </a:extLst>
          </p:cNvPr>
          <p:cNvSpPr/>
          <p:nvPr/>
        </p:nvSpPr>
        <p:spPr>
          <a:xfrm>
            <a:off x="558800" y="1574800"/>
            <a:ext cx="11074400" cy="35306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App screen bank-crop" descr="GreenBiz bank-crop screen, fictional sample data">
            <a:extLst>
              <a:ext uri="{FF2B5EF4-FFF2-40B4-BE49-F238E27FC236}">
                <a16:creationId xmlns:a16="http://schemas.microsoft.com/office/drawing/2014/main" id="{C9DC61B2-516F-2E87-8AF2-A7F01AB0DBA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625600"/>
            <a:ext cx="10972800" cy="3429000"/>
          </a:xfrm>
          <a:prstGeom prst="rect">
            <a:avLst/>
          </a:prstGeom>
        </p:spPr>
      </p:pic>
      <p:sp>
        <p:nvSpPr>
          <p:cNvPr id="8" name="Text The owner chooses what to share with a len">
            <a:extLst>
              <a:ext uri="{FF2B5EF4-FFF2-40B4-BE49-F238E27FC236}">
                <a16:creationId xmlns:a16="http://schemas.microsoft.com/office/drawing/2014/main" id="{0AC29B53-1697-4416-3608-5EF393607F7D}"/>
              </a:ext>
            </a:extLst>
          </p:cNvPr>
          <p:cNvSpPr txBox="1"/>
          <p:nvPr/>
        </p:nvSpPr>
        <p:spPr>
          <a:xfrm>
            <a:off x="609600" y="5410200"/>
            <a:ext cx="10972800" cy="5334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The owner chooses what to share with a lending desk.</a:t>
            </a:r>
          </a:p>
        </p:txBody>
      </p:sp>
      <p:sp>
        <p:nvSpPr>
          <p:cNvPr id="9" name="Text Portal UI with fictional data. Partnership">
            <a:extLst>
              <a:ext uri="{FF2B5EF4-FFF2-40B4-BE49-F238E27FC236}">
                <a16:creationId xmlns:a16="http://schemas.microsoft.com/office/drawing/2014/main" id="{DB66C543-9269-938C-0662-729DB1800380}"/>
              </a:ext>
            </a:extLst>
          </p:cNvPr>
          <p:cNvSpPr txBox="1"/>
          <p:nvPr/>
        </p:nvSpPr>
        <p:spPr>
          <a:xfrm>
            <a:off x="609600" y="6070600"/>
            <a:ext cx="10972800" cy="317500"/>
          </a:xfrm>
          <a:prstGeom prst="rect">
            <a:avLst/>
          </a:prstGeom>
          <a:noFill/>
        </p:spPr>
        <p:txBody>
          <a:bodyPr vert="horz" wrap="square" lIns="0" tIns="0" rIns="0" bIns="0" rtlCol="0">
            <a:noAutofit/>
          </a:bodyPr>
          <a:lstStyle/>
          <a:p>
            <a:r>
              <a:rPr lang="en-US" sz="1700">
                <a:solidFill>
                  <a:srgbClr val="8EA7BA"/>
                </a:solidFill>
                <a:latin typeface="Segoe UI" panose="020B0502040204020203" pitchFamily="34" charset="0"/>
              </a:rPr>
              <a:t>Portal UI with fictional data. Partnerships and public hosting remain future work.</a:t>
            </a:r>
          </a:p>
        </p:txBody>
      </p:sp>
    </p:spTree>
    <p:extLst>
      <p:ext uri="{BB962C8B-B14F-4D97-AF65-F5344CB8AC3E}">
        <p14:creationId xmlns:p14="http://schemas.microsoft.com/office/powerpoint/2010/main" val="3258328896"/>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800"/>
                                        <p:tgtEl>
                                          <p:spTgt spid="7"/>
                                        </p:tgtEl>
                                      </p:cBhvr>
                                    </p:animEffect>
                                    <p:animScale>
                                      <p:cBhvr>
                                        <p:cTn id="13" dur="800" fill="hold">
                                          <p:stCondLst>
                                            <p:cond delay="0"/>
                                          </p:stCondLst>
                                        </p:cTn>
                                        <p:tgtEl>
                                          <p:spTgt spid="7"/>
                                        </p:tgtEl>
                                      </p:cBhvr>
                                      <p:from x="96000" y="96000"/>
                                      <p:to x="100000" y="100000"/>
                                    </p:animScale>
                                  </p:childTnLst>
                                </p:cTn>
                              </p:par>
                              <p:par>
                                <p:cTn id="14" presetID="10" presetClass="entr" presetSubtype="0" accel="15000" decel="25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accel="15000" decel="2500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80"/>
                                        <p:tgtEl>
                                          <p:spTgt spid="8"/>
                                        </p:tgtEl>
                                      </p:cBhvr>
                                    </p:animEffect>
                                    <p:anim calcmode="lin" valueType="num">
                                      <p:cBhvr>
                                        <p:cTn id="22" dur="580" fill="hold"/>
                                        <p:tgtEl>
                                          <p:spTgt spid="8"/>
                                        </p:tgtEl>
                                        <p:attrNameLst>
                                          <p:attrName>ppt_x</p:attrName>
                                        </p:attrNameLst>
                                      </p:cBhvr>
                                      <p:tavLst>
                                        <p:tav tm="0">
                                          <p:val>
                                            <p:strVal val="#ppt_x"/>
                                          </p:val>
                                        </p:tav>
                                        <p:tav tm="100000">
                                          <p:val>
                                            <p:strVal val="#ppt_x"/>
                                          </p:val>
                                        </p:tav>
                                      </p:tavLst>
                                    </p:anim>
                                    <p:anim calcmode="lin" valueType="num">
                                      <p:cBhvr>
                                        <p:cTn id="23" dur="58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accel="15000" decel="2500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8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8"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sp>
        <p:nvSpPr>
          <p:cNvPr id="2" name="Text Managed AI without a user API key">
            <a:extLst>
              <a:ext uri="{FF2B5EF4-FFF2-40B4-BE49-F238E27FC236}">
                <a16:creationId xmlns:a16="http://schemas.microsoft.com/office/drawing/2014/main" id="{C1F9A9C9-065A-53A2-4961-5CC31372B476}"/>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Managed AI without a user API key</a:t>
            </a:r>
          </a:p>
        </p:txBody>
      </p:sp>
      <p:sp>
        <p:nvSpPr>
          <p:cNvPr id="3" name="Text GreenBiz">
            <a:extLst>
              <a:ext uri="{FF2B5EF4-FFF2-40B4-BE49-F238E27FC236}">
                <a16:creationId xmlns:a16="http://schemas.microsoft.com/office/drawing/2014/main" id="{5916EC73-094A-5645-0CB0-E6B81C09A1E3}"/>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4" name="Text 20 / 25">
            <a:extLst>
              <a:ext uri="{FF2B5EF4-FFF2-40B4-BE49-F238E27FC236}">
                <a16:creationId xmlns:a16="http://schemas.microsoft.com/office/drawing/2014/main" id="{3E8A54CD-842F-5F67-17BE-CC082E018A42}"/>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20 / 25</a:t>
            </a:r>
          </a:p>
        </p:txBody>
      </p:sp>
      <p:sp>
        <p:nvSpPr>
          <p:cNvPr id="5" name="Text 01">
            <a:extLst>
              <a:ext uri="{FF2B5EF4-FFF2-40B4-BE49-F238E27FC236}">
                <a16:creationId xmlns:a16="http://schemas.microsoft.com/office/drawing/2014/main" id="{1374B963-8E41-0BD0-17D6-7506914F7ED7}"/>
              </a:ext>
            </a:extLst>
          </p:cNvPr>
          <p:cNvSpPr txBox="1"/>
          <p:nvPr/>
        </p:nvSpPr>
        <p:spPr>
          <a:xfrm>
            <a:off x="609600" y="1955800"/>
            <a:ext cx="3302000" cy="977900"/>
          </a:xfrm>
          <a:prstGeom prst="rect">
            <a:avLst/>
          </a:prstGeom>
          <a:noFill/>
        </p:spPr>
        <p:txBody>
          <a:bodyPr vert="horz" wrap="square" lIns="0" tIns="0" rIns="0" bIns="0" rtlCol="0">
            <a:noAutofit/>
          </a:bodyPr>
          <a:lstStyle/>
          <a:p>
            <a:r>
              <a:rPr lang="en-US" sz="5700" b="1">
                <a:solidFill>
                  <a:srgbClr val="4EE6C0"/>
                </a:solidFill>
                <a:latin typeface="Segoe UI" panose="020B0502040204020203" pitchFamily="34" charset="0"/>
              </a:rPr>
              <a:t>01</a:t>
            </a:r>
          </a:p>
        </p:txBody>
      </p:sp>
      <p:sp>
        <p:nvSpPr>
          <p:cNvPr id="6" name="Text Owner selects">
            <a:extLst>
              <a:ext uri="{FF2B5EF4-FFF2-40B4-BE49-F238E27FC236}">
                <a16:creationId xmlns:a16="http://schemas.microsoft.com/office/drawing/2014/main" id="{6FE8588E-222B-828D-0AC4-ADAB996FCA33}"/>
              </a:ext>
            </a:extLst>
          </p:cNvPr>
          <p:cNvSpPr txBox="1"/>
          <p:nvPr/>
        </p:nvSpPr>
        <p:spPr>
          <a:xfrm>
            <a:off x="609600" y="3543300"/>
            <a:ext cx="3302000" cy="762000"/>
          </a:xfrm>
          <a:prstGeom prst="rect">
            <a:avLst/>
          </a:prstGeom>
          <a:noFill/>
        </p:spPr>
        <p:txBody>
          <a:bodyPr vert="horz" wrap="square" lIns="0" tIns="0" rIns="0" bIns="0" rtlCol="0">
            <a:noAutofit/>
          </a:bodyPr>
          <a:lstStyle/>
          <a:p>
            <a:r>
              <a:rPr lang="en-US" sz="2800" b="1">
                <a:solidFill>
                  <a:srgbClr val="F4F8FC"/>
                </a:solidFill>
                <a:latin typeface="Segoe UI" panose="020B0502040204020203" pitchFamily="34" charset="0"/>
              </a:rPr>
              <a:t>Owner selects</a:t>
            </a:r>
          </a:p>
        </p:txBody>
      </p:sp>
      <p:sp>
        <p:nvSpPr>
          <p:cNvPr id="7" name="Text A photo, sale request or business question">
            <a:extLst>
              <a:ext uri="{FF2B5EF4-FFF2-40B4-BE49-F238E27FC236}">
                <a16:creationId xmlns:a16="http://schemas.microsoft.com/office/drawing/2014/main" id="{F1F89DF1-1AD5-B3BB-CB57-CD9F2BDE1189}"/>
              </a:ext>
            </a:extLst>
          </p:cNvPr>
          <p:cNvSpPr txBox="1"/>
          <p:nvPr/>
        </p:nvSpPr>
        <p:spPr>
          <a:xfrm>
            <a:off x="609600" y="4508500"/>
            <a:ext cx="3302000" cy="1143000"/>
          </a:xfrm>
          <a:prstGeom prst="rect">
            <a:avLst/>
          </a:prstGeom>
          <a:noFill/>
        </p:spPr>
        <p:txBody>
          <a:bodyPr vert="horz" wrap="square" lIns="0" tIns="0" rIns="0" bIns="0" rtlCol="0">
            <a:noAutofit/>
          </a:bodyPr>
          <a:lstStyle/>
          <a:p>
            <a:r>
              <a:rPr lang="en-US" sz="2200">
                <a:solidFill>
                  <a:srgbClr val="C2D3DE"/>
                </a:solidFill>
                <a:latin typeface="Segoe UI" panose="020B0502040204020203" pitchFamily="34" charset="0"/>
              </a:rPr>
              <a:t>A photo, sale request or business question</a:t>
            </a:r>
          </a:p>
        </p:txBody>
      </p:sp>
      <p:cxnSp>
        <p:nvCxnSpPr>
          <p:cNvPr id="8" name="Straight Arrow Connector 7">
            <a:extLst>
              <a:ext uri="{FF2B5EF4-FFF2-40B4-BE49-F238E27FC236}">
                <a16:creationId xmlns:a16="http://schemas.microsoft.com/office/drawing/2014/main" id="{0A6B27C9-1AE5-0D08-5AC4-CE0990DD4D5D}"/>
              </a:ext>
            </a:extLst>
          </p:cNvPr>
          <p:cNvCxnSpPr/>
          <p:nvPr/>
        </p:nvCxnSpPr>
        <p:spPr>
          <a:xfrm>
            <a:off x="1955800" y="2628900"/>
            <a:ext cx="21844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Text 02">
            <a:extLst>
              <a:ext uri="{FF2B5EF4-FFF2-40B4-BE49-F238E27FC236}">
                <a16:creationId xmlns:a16="http://schemas.microsoft.com/office/drawing/2014/main" id="{D02BF1CB-F01C-EC6A-8235-354F06B9D691}"/>
              </a:ext>
            </a:extLst>
          </p:cNvPr>
          <p:cNvSpPr txBox="1"/>
          <p:nvPr/>
        </p:nvSpPr>
        <p:spPr>
          <a:xfrm>
            <a:off x="4356100" y="1955800"/>
            <a:ext cx="3302000" cy="977900"/>
          </a:xfrm>
          <a:prstGeom prst="rect">
            <a:avLst/>
          </a:prstGeom>
          <a:noFill/>
        </p:spPr>
        <p:txBody>
          <a:bodyPr vert="horz" wrap="square" lIns="0" tIns="0" rIns="0" bIns="0" rtlCol="0">
            <a:noAutofit/>
          </a:bodyPr>
          <a:lstStyle/>
          <a:p>
            <a:r>
              <a:rPr lang="en-US" sz="5700" b="1">
                <a:solidFill>
                  <a:srgbClr val="4EE6C0"/>
                </a:solidFill>
                <a:latin typeface="Segoe UI" panose="020B0502040204020203" pitchFamily="34" charset="0"/>
              </a:rPr>
              <a:t>02</a:t>
            </a:r>
          </a:p>
        </p:txBody>
      </p:sp>
      <p:sp>
        <p:nvSpPr>
          <p:cNvPr id="10" name="Text Managed service">
            <a:extLst>
              <a:ext uri="{FF2B5EF4-FFF2-40B4-BE49-F238E27FC236}">
                <a16:creationId xmlns:a16="http://schemas.microsoft.com/office/drawing/2014/main" id="{452ABE65-EDA6-CDCC-9FA9-62D6413323D7}"/>
              </a:ext>
            </a:extLst>
          </p:cNvPr>
          <p:cNvSpPr txBox="1"/>
          <p:nvPr/>
        </p:nvSpPr>
        <p:spPr>
          <a:xfrm>
            <a:off x="4356100" y="3543300"/>
            <a:ext cx="3302000" cy="762000"/>
          </a:xfrm>
          <a:prstGeom prst="rect">
            <a:avLst/>
          </a:prstGeom>
          <a:noFill/>
        </p:spPr>
        <p:txBody>
          <a:bodyPr vert="horz" wrap="square" lIns="0" tIns="0" rIns="0" bIns="0" rtlCol="0">
            <a:noAutofit/>
          </a:bodyPr>
          <a:lstStyle/>
          <a:p>
            <a:r>
              <a:rPr lang="en-US" sz="2800" b="1">
                <a:solidFill>
                  <a:srgbClr val="F4F8FC"/>
                </a:solidFill>
                <a:latin typeface="Segoe UI" panose="020B0502040204020203" pitchFamily="34" charset="0"/>
              </a:rPr>
              <a:t>Managed service</a:t>
            </a:r>
          </a:p>
        </p:txBody>
      </p:sp>
      <p:sp>
        <p:nvSpPr>
          <p:cNvPr id="11" name="Text The provider key stays outside the app">
            <a:extLst>
              <a:ext uri="{FF2B5EF4-FFF2-40B4-BE49-F238E27FC236}">
                <a16:creationId xmlns:a16="http://schemas.microsoft.com/office/drawing/2014/main" id="{42288F35-6081-8AB5-35A7-36745C3B4D32}"/>
              </a:ext>
            </a:extLst>
          </p:cNvPr>
          <p:cNvSpPr txBox="1"/>
          <p:nvPr/>
        </p:nvSpPr>
        <p:spPr>
          <a:xfrm>
            <a:off x="4356100" y="4508500"/>
            <a:ext cx="3302000" cy="1143000"/>
          </a:xfrm>
          <a:prstGeom prst="rect">
            <a:avLst/>
          </a:prstGeom>
          <a:noFill/>
        </p:spPr>
        <p:txBody>
          <a:bodyPr vert="horz" wrap="square" lIns="0" tIns="0" rIns="0" bIns="0" rtlCol="0">
            <a:noAutofit/>
          </a:bodyPr>
          <a:lstStyle/>
          <a:p>
            <a:r>
              <a:rPr lang="en-US" sz="2200">
                <a:solidFill>
                  <a:srgbClr val="C2D3DE"/>
                </a:solidFill>
                <a:latin typeface="Segoe UI" panose="020B0502040204020203" pitchFamily="34" charset="0"/>
              </a:rPr>
              <a:t>The provider key stays outside the app</a:t>
            </a:r>
          </a:p>
        </p:txBody>
      </p:sp>
      <p:cxnSp>
        <p:nvCxnSpPr>
          <p:cNvPr id="12" name="Straight Arrow Connector 11">
            <a:extLst>
              <a:ext uri="{FF2B5EF4-FFF2-40B4-BE49-F238E27FC236}">
                <a16:creationId xmlns:a16="http://schemas.microsoft.com/office/drawing/2014/main" id="{0E9E6864-1F76-1C6A-C1CA-8A03C3C3A186}"/>
              </a:ext>
            </a:extLst>
          </p:cNvPr>
          <p:cNvCxnSpPr/>
          <p:nvPr/>
        </p:nvCxnSpPr>
        <p:spPr>
          <a:xfrm>
            <a:off x="5702300" y="2628900"/>
            <a:ext cx="21844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Text 03">
            <a:extLst>
              <a:ext uri="{FF2B5EF4-FFF2-40B4-BE49-F238E27FC236}">
                <a16:creationId xmlns:a16="http://schemas.microsoft.com/office/drawing/2014/main" id="{33D0CD49-4EDD-5F41-AA2E-5A6FC0D782E4}"/>
              </a:ext>
            </a:extLst>
          </p:cNvPr>
          <p:cNvSpPr txBox="1"/>
          <p:nvPr/>
        </p:nvSpPr>
        <p:spPr>
          <a:xfrm>
            <a:off x="8102600" y="1955800"/>
            <a:ext cx="3302000" cy="977900"/>
          </a:xfrm>
          <a:prstGeom prst="rect">
            <a:avLst/>
          </a:prstGeom>
          <a:noFill/>
        </p:spPr>
        <p:txBody>
          <a:bodyPr vert="horz" wrap="square" lIns="0" tIns="0" rIns="0" bIns="0" rtlCol="0">
            <a:noAutofit/>
          </a:bodyPr>
          <a:lstStyle/>
          <a:p>
            <a:r>
              <a:rPr lang="en-US" sz="5700" b="1">
                <a:solidFill>
                  <a:srgbClr val="4EE6C0"/>
                </a:solidFill>
                <a:latin typeface="Segoe UI" panose="020B0502040204020203" pitchFamily="34" charset="0"/>
              </a:rPr>
              <a:t>03</a:t>
            </a:r>
          </a:p>
        </p:txBody>
      </p:sp>
      <p:sp>
        <p:nvSpPr>
          <p:cNvPr id="14" name="Text Owner reviews">
            <a:extLst>
              <a:ext uri="{FF2B5EF4-FFF2-40B4-BE49-F238E27FC236}">
                <a16:creationId xmlns:a16="http://schemas.microsoft.com/office/drawing/2014/main" id="{99234187-40B1-CFAE-9069-7DD967B16315}"/>
              </a:ext>
            </a:extLst>
          </p:cNvPr>
          <p:cNvSpPr txBox="1"/>
          <p:nvPr/>
        </p:nvSpPr>
        <p:spPr>
          <a:xfrm>
            <a:off x="8102600" y="3543300"/>
            <a:ext cx="3302000" cy="762000"/>
          </a:xfrm>
          <a:prstGeom prst="rect">
            <a:avLst/>
          </a:prstGeom>
          <a:noFill/>
        </p:spPr>
        <p:txBody>
          <a:bodyPr vert="horz" wrap="square" lIns="0" tIns="0" rIns="0" bIns="0" rtlCol="0">
            <a:noAutofit/>
          </a:bodyPr>
          <a:lstStyle/>
          <a:p>
            <a:r>
              <a:rPr lang="en-US" sz="2800" b="1">
                <a:solidFill>
                  <a:srgbClr val="F4F8FC"/>
                </a:solidFill>
                <a:latin typeface="Segoe UI" panose="020B0502040204020203" pitchFamily="34" charset="0"/>
              </a:rPr>
              <a:t>Owner reviews</a:t>
            </a:r>
          </a:p>
        </p:txBody>
      </p:sp>
      <p:sp>
        <p:nvSpPr>
          <p:cNvPr id="15" name="Text A suggestion before any business action">
            <a:extLst>
              <a:ext uri="{FF2B5EF4-FFF2-40B4-BE49-F238E27FC236}">
                <a16:creationId xmlns:a16="http://schemas.microsoft.com/office/drawing/2014/main" id="{DE4E387A-9CB6-2CE1-26A6-9B80FDE8A71E}"/>
              </a:ext>
            </a:extLst>
          </p:cNvPr>
          <p:cNvSpPr txBox="1"/>
          <p:nvPr/>
        </p:nvSpPr>
        <p:spPr>
          <a:xfrm>
            <a:off x="8102600" y="4508500"/>
            <a:ext cx="3302000" cy="1143000"/>
          </a:xfrm>
          <a:prstGeom prst="rect">
            <a:avLst/>
          </a:prstGeom>
          <a:noFill/>
        </p:spPr>
        <p:txBody>
          <a:bodyPr vert="horz" wrap="square" lIns="0" tIns="0" rIns="0" bIns="0" rtlCol="0">
            <a:noAutofit/>
          </a:bodyPr>
          <a:lstStyle/>
          <a:p>
            <a:r>
              <a:rPr lang="en-US" sz="2200">
                <a:solidFill>
                  <a:srgbClr val="C2D3DE"/>
                </a:solidFill>
                <a:latin typeface="Segoe UI" panose="020B0502040204020203" pitchFamily="34" charset="0"/>
              </a:rPr>
              <a:t>A suggestion before any business action</a:t>
            </a:r>
          </a:p>
        </p:txBody>
      </p:sp>
      <p:sp>
        <p:nvSpPr>
          <p:cNvPr id="16" name="Text Raw SMS and personal transactions stay out">
            <a:extLst>
              <a:ext uri="{FF2B5EF4-FFF2-40B4-BE49-F238E27FC236}">
                <a16:creationId xmlns:a16="http://schemas.microsoft.com/office/drawing/2014/main" id="{94E32C12-4B96-EBBD-9E3C-196775DAE637}"/>
              </a:ext>
            </a:extLst>
          </p:cNvPr>
          <p:cNvSpPr txBox="1"/>
          <p:nvPr/>
        </p:nvSpPr>
        <p:spPr>
          <a:xfrm>
            <a:off x="609600" y="5930900"/>
            <a:ext cx="10972800" cy="368300"/>
          </a:xfrm>
          <a:prstGeom prst="rect">
            <a:avLst/>
          </a:prstGeom>
          <a:noFill/>
        </p:spPr>
        <p:txBody>
          <a:bodyPr vert="horz" wrap="square" lIns="0" tIns="0" rIns="0" bIns="0" rtlCol="0">
            <a:noAutofit/>
          </a:bodyPr>
          <a:lstStyle/>
          <a:p>
            <a:r>
              <a:rPr lang="en-US" sz="2000" b="1">
                <a:solidFill>
                  <a:srgbClr val="F4B84A"/>
                </a:solidFill>
                <a:latin typeface="Segoe UI" panose="020B0502040204020203" pitchFamily="34" charset="0"/>
              </a:rPr>
              <a:t>Raw SMS and personal transactions stay outside the advice context.</a:t>
            </a:r>
          </a:p>
        </p:txBody>
      </p:sp>
    </p:spTree>
    <p:extLst>
      <p:ext uri="{BB962C8B-B14F-4D97-AF65-F5344CB8AC3E}">
        <p14:creationId xmlns:p14="http://schemas.microsoft.com/office/powerpoint/2010/main" val="2023239993"/>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7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14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par>
                                <p:cTn id="19" presetID="22" presetClass="entr" presetSubtype="8" fill="hold" nodeType="withEffect">
                                  <p:stCondLst>
                                    <p:cond delay="21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par>
                                <p:cTn id="27" presetID="22" presetClass="entr" presetSubtype="8" fill="hold" grpId="0" nodeType="withEffect">
                                  <p:stCondLst>
                                    <p:cond delay="7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22" presetClass="entr" presetSubtype="8" fill="hold" grpId="0" nodeType="withEffect">
                                  <p:stCondLst>
                                    <p:cond delay="14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par>
                                <p:cTn id="33" presetID="22" presetClass="entr" presetSubtype="8" fill="hold" nodeType="withEffect">
                                  <p:stCondLst>
                                    <p:cond delay="21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par>
                                <p:cTn id="41" presetID="22" presetClass="entr" presetSubtype="8" fill="hold" grpId="0" nodeType="withEffect">
                                  <p:stCondLst>
                                    <p:cond delay="7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par>
                                <p:cTn id="44" presetID="22" presetClass="entr" presetSubtype="8" fill="hold" grpId="0" nodeType="withEffect">
                                  <p:stCondLst>
                                    <p:cond delay="140"/>
                                  </p:stCondLst>
                                  <p:childTnLst>
                                    <p:set>
                                      <p:cBhvr>
                                        <p:cTn id="45" dur="1" fill="hold">
                                          <p:stCondLst>
                                            <p:cond delay="0"/>
                                          </p:stCondLst>
                                        </p:cTn>
                                        <p:tgtEl>
                                          <p:spTgt spid="15"/>
                                        </p:tgtEl>
                                        <p:attrNameLst>
                                          <p:attrName>style.visibility</p:attrName>
                                        </p:attrNameLst>
                                      </p:cBhvr>
                                      <p:to>
                                        <p:strVal val="visible"/>
                                      </p:to>
                                    </p:set>
                                    <p:animEffect transition="in" filter="wipe(left)">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accel="15000" decel="2500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8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9" grpId="0"/>
      <p:bldP spid="10" grpId="0"/>
      <p:bldP spid="11" grpId="0"/>
      <p:bldP spid="13" grpId="0"/>
      <p:bldP spid="14" grpId="0"/>
      <p:bldP spid="15"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2" name="Text Device tools and optional cloud services">
            <a:extLst>
              <a:ext uri="{FF2B5EF4-FFF2-40B4-BE49-F238E27FC236}">
                <a16:creationId xmlns:a16="http://schemas.microsoft.com/office/drawing/2014/main" id="{EA1B4D57-8972-10B0-176E-CCCCA78E96B1}"/>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Device tools and optional cloud services</a:t>
            </a:r>
          </a:p>
        </p:txBody>
      </p:sp>
      <p:sp>
        <p:nvSpPr>
          <p:cNvPr id="3" name="Text GreenBiz">
            <a:extLst>
              <a:ext uri="{FF2B5EF4-FFF2-40B4-BE49-F238E27FC236}">
                <a16:creationId xmlns:a16="http://schemas.microsoft.com/office/drawing/2014/main" id="{8DAA162D-14AF-4536-05AA-28C6D44130C8}"/>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4" name="Text 21 / 25">
            <a:extLst>
              <a:ext uri="{FF2B5EF4-FFF2-40B4-BE49-F238E27FC236}">
                <a16:creationId xmlns:a16="http://schemas.microsoft.com/office/drawing/2014/main" id="{B863DD22-3058-DF25-07B0-BDDF7DF26FC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21 / 25</a:t>
            </a:r>
          </a:p>
        </p:txBody>
      </p:sp>
      <p:graphicFrame>
        <p:nvGraphicFramePr>
          <p:cNvPr id="5" name="Editable evidence table">
            <a:extLst>
              <a:ext uri="{FF2B5EF4-FFF2-40B4-BE49-F238E27FC236}">
                <a16:creationId xmlns:a16="http://schemas.microsoft.com/office/drawing/2014/main" id="{11691081-0F24-5D89-339B-BE0C061FE891}"/>
              </a:ext>
            </a:extLst>
          </p:cNvPr>
          <p:cNvGraphicFramePr>
            <a:graphicFrameLocks noGrp="1"/>
          </p:cNvGraphicFramePr>
          <p:nvPr>
            <p:extLst>
              <p:ext uri="{D42A27DB-BD31-4B8C-83A1-F6EECF244321}">
                <p14:modId xmlns:p14="http://schemas.microsoft.com/office/powerpoint/2010/main" val="1500239830"/>
              </p:ext>
            </p:extLst>
          </p:nvPr>
        </p:nvGraphicFramePr>
        <p:xfrm>
          <a:off x="609600" y="1854200"/>
          <a:ext cx="10972800" cy="3200400"/>
        </p:xfrm>
        <a:graphic>
          <a:graphicData uri="http://schemas.openxmlformats.org/drawingml/2006/table">
            <a:tbl>
              <a:tblPr firstRow="1" bandRow="1">
                <a:tableStyleId>{5C22544A-7EE6-4342-B048-85BDC9FD1C3A}</a:tableStyleId>
              </a:tblPr>
              <a:tblGrid>
                <a:gridCol w="2222500">
                  <a:extLst>
                    <a:ext uri="{9D8B030D-6E8A-4147-A177-3AD203B41FA5}">
                      <a16:colId xmlns:a16="http://schemas.microsoft.com/office/drawing/2014/main" val="3165364024"/>
                    </a:ext>
                  </a:extLst>
                </a:gridCol>
                <a:gridCol w="4546600">
                  <a:extLst>
                    <a:ext uri="{9D8B030D-6E8A-4147-A177-3AD203B41FA5}">
                      <a16:colId xmlns:a16="http://schemas.microsoft.com/office/drawing/2014/main" val="3325697383"/>
                    </a:ext>
                  </a:extLst>
                </a:gridCol>
                <a:gridCol w="4203700">
                  <a:extLst>
                    <a:ext uri="{9D8B030D-6E8A-4147-A177-3AD203B41FA5}">
                      <a16:colId xmlns:a16="http://schemas.microsoft.com/office/drawing/2014/main" val="4066146907"/>
                    </a:ext>
                  </a:extLst>
                </a:gridCol>
              </a:tblGrid>
              <a:tr h="800100">
                <a:tc>
                  <a:txBody>
                    <a:bodyPr/>
                    <a:lstStyle/>
                    <a:p>
                      <a:r>
                        <a:rPr lang="en-US" sz="1800" b="1">
                          <a:solidFill>
                            <a:srgbClr val="F4F8FC"/>
                          </a:solidFill>
                          <a:latin typeface="Segoe UI" panose="020B0502040204020203" pitchFamily="34" charset="0"/>
                        </a:rPr>
                        <a:t>Mode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tc>
                  <a:txBody>
                    <a:bodyPr/>
                    <a:lstStyle/>
                    <a:p>
                      <a:r>
                        <a:rPr lang="en-US" sz="1800" b="1">
                          <a:solidFill>
                            <a:srgbClr val="F4F8FC"/>
                          </a:solidFill>
                          <a:latin typeface="Segoe UI" panose="020B0502040204020203" pitchFamily="34" charset="0"/>
                        </a:rPr>
                        <a:t>What it provides</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tc>
                  <a:txBody>
                    <a:bodyPr/>
                    <a:lstStyle/>
                    <a:p>
                      <a:r>
                        <a:rPr lang="en-US" sz="1800" b="1">
                          <a:solidFill>
                            <a:srgbClr val="F4F8FC"/>
                          </a:solidFill>
                          <a:latin typeface="Segoe UI" panose="020B0502040204020203" pitchFamily="34" charset="0"/>
                        </a:rPr>
                        <a:t>What the owner needs</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extLst>
                  <a:ext uri="{0D108BD9-81ED-4DB2-BD59-A6C34878D82A}">
                    <a16:rowId xmlns:a16="http://schemas.microsoft.com/office/drawing/2014/main" val="2907525394"/>
                  </a:ext>
                </a:extLst>
              </a:tr>
              <a:tr h="800100">
                <a:tc>
                  <a:txBody>
                    <a:bodyPr/>
                    <a:lstStyle/>
                    <a:p>
                      <a:r>
                        <a:rPr lang="en-US" sz="1800" b="0">
                          <a:solidFill>
                            <a:srgbClr val="F4F8FC"/>
                          </a:solidFill>
                          <a:latin typeface="Segoe UI" panose="020B0502040204020203" pitchFamily="34" charset="0"/>
                        </a:rPr>
                        <a:t>Device shop</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Core records, stock, sales and reports</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Create a shop on the phone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3680334431"/>
                  </a:ext>
                </a:extLst>
              </a:tr>
              <a:tr h="800100">
                <a:tc>
                  <a:txBody>
                    <a:bodyPr/>
                    <a:lstStyle/>
                    <a:p>
                      <a:r>
                        <a:rPr lang="en-US" sz="1800" b="0">
                          <a:solidFill>
                            <a:srgbClr val="F4F8FC"/>
                          </a:solidFill>
                          <a:latin typeface="Segoe UI" panose="020B0502040204020203" pitchFamily="34" charset="0"/>
                        </a:rPr>
                        <a:t>Managed AI</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Photo, sale and advice assistance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An internet connection</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extLst>
                  <a:ext uri="{0D108BD9-81ED-4DB2-BD59-A6C34878D82A}">
                    <a16:rowId xmlns:a16="http://schemas.microsoft.com/office/drawing/2014/main" val="4198071159"/>
                  </a:ext>
                </a:extLst>
              </a:tr>
              <a:tr h="800100">
                <a:tc>
                  <a:txBody>
                    <a:bodyPr/>
                    <a:lstStyle/>
                    <a:p>
                      <a:r>
                        <a:rPr lang="en-US" sz="1800" b="0">
                          <a:solidFill>
                            <a:srgbClr val="F4F8FC"/>
                          </a:solidFill>
                          <a:latin typeface="Segoe UI" panose="020B0502040204020203" pitchFamily="34" charset="0"/>
                        </a:rPr>
                        <a:t>Optional cloud</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Shared accounts, invoices and bank tools</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An operated business service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658571388"/>
                  </a:ext>
                </a:extLst>
              </a:tr>
            </a:tbl>
          </a:graphicData>
        </a:graphic>
      </p:graphicFrame>
      <p:sp>
        <p:nvSpPr>
          <p:cNvPr id="6" name="Text Offline cloud edits queue and pause on con">
            <a:extLst>
              <a:ext uri="{FF2B5EF4-FFF2-40B4-BE49-F238E27FC236}">
                <a16:creationId xmlns:a16="http://schemas.microsoft.com/office/drawing/2014/main" id="{720D0B8F-E9A7-CA3A-8C7D-7F3995389FCC}"/>
              </a:ext>
            </a:extLst>
          </p:cNvPr>
          <p:cNvSpPr txBox="1"/>
          <p:nvPr/>
        </p:nvSpPr>
        <p:spPr>
          <a:xfrm>
            <a:off x="609600" y="5448300"/>
            <a:ext cx="10972800" cy="5334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Offline cloud edits queue and pause on conflicts.</a:t>
            </a:r>
          </a:p>
        </p:txBody>
      </p:sp>
      <p:sp>
        <p:nvSpPr>
          <p:cNvPr id="7" name="Text Device exports protect records before unin">
            <a:extLst>
              <a:ext uri="{FF2B5EF4-FFF2-40B4-BE49-F238E27FC236}">
                <a16:creationId xmlns:a16="http://schemas.microsoft.com/office/drawing/2014/main" id="{77487DAC-0877-8E64-80F6-B7311BBD6C07}"/>
              </a:ext>
            </a:extLst>
          </p:cNvPr>
          <p:cNvSpPr txBox="1"/>
          <p:nvPr/>
        </p:nvSpPr>
        <p:spPr>
          <a:xfrm>
            <a:off x="609600" y="6045200"/>
            <a:ext cx="10972800" cy="317500"/>
          </a:xfrm>
          <a:prstGeom prst="rect">
            <a:avLst/>
          </a:prstGeom>
          <a:noFill/>
        </p:spPr>
        <p:txBody>
          <a:bodyPr vert="horz" wrap="square" lIns="0" tIns="0" rIns="0" bIns="0" rtlCol="0">
            <a:noAutofit/>
          </a:bodyPr>
          <a:lstStyle/>
          <a:p>
            <a:r>
              <a:rPr lang="en-US">
                <a:solidFill>
                  <a:srgbClr val="8EA7BA"/>
                </a:solidFill>
                <a:latin typeface="Segoe UI" panose="020B0502040204020203" pitchFamily="34" charset="0"/>
              </a:rPr>
              <a:t>Device exports protect records before uninstalling or clearing data.</a:t>
            </a:r>
          </a:p>
        </p:txBody>
      </p:sp>
    </p:spTree>
    <p:extLst>
      <p:ext uri="{BB962C8B-B14F-4D97-AF65-F5344CB8AC3E}">
        <p14:creationId xmlns:p14="http://schemas.microsoft.com/office/powerpoint/2010/main" val="113685950"/>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accel="15000" decel="2500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80"/>
                                        <p:tgtEl>
                                          <p:spTgt spid="6"/>
                                        </p:tgtEl>
                                      </p:cBhvr>
                                    </p:animEffect>
                                    <p:anim calcmode="lin" valueType="num">
                                      <p:cBhvr>
                                        <p:cTn id="18" dur="580" fill="hold"/>
                                        <p:tgtEl>
                                          <p:spTgt spid="6"/>
                                        </p:tgtEl>
                                        <p:attrNameLst>
                                          <p:attrName>ppt_x</p:attrName>
                                        </p:attrNameLst>
                                      </p:cBhvr>
                                      <p:tavLst>
                                        <p:tav tm="0">
                                          <p:val>
                                            <p:strVal val="#ppt_x"/>
                                          </p:val>
                                        </p:tav>
                                        <p:tav tm="100000">
                                          <p:val>
                                            <p:strVal val="#ppt_x"/>
                                          </p:val>
                                        </p:tav>
                                      </p:tavLst>
                                    </p:anim>
                                    <p:anim calcmode="lin" valueType="num">
                                      <p:cBhvr>
                                        <p:cTn id="19" dur="58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accel="15000" decel="25000" fill="hold" grpId="0" nodeType="withEffect">
                                  <p:stCondLst>
                                    <p:cond delay="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80"/>
                                        <p:tgtEl>
                                          <p:spTgt spid="7"/>
                                        </p:tgtEl>
                                      </p:cBhvr>
                                    </p:animEffect>
                                    <p:anim calcmode="lin" valueType="num">
                                      <p:cBhvr>
                                        <p:cTn id="23" dur="580" fill="hold"/>
                                        <p:tgtEl>
                                          <p:spTgt spid="7"/>
                                        </p:tgtEl>
                                        <p:attrNameLst>
                                          <p:attrName>ppt_x</p:attrName>
                                        </p:attrNameLst>
                                      </p:cBhvr>
                                      <p:tavLst>
                                        <p:tav tm="0">
                                          <p:val>
                                            <p:strVal val="#ppt_x"/>
                                          </p:val>
                                        </p:tav>
                                        <p:tav tm="100000">
                                          <p:val>
                                            <p:strVal val="#ppt_x"/>
                                          </p:val>
                                        </p:tav>
                                      </p:tavLst>
                                    </p:anim>
                                    <p:anim calcmode="lin" valueType="num">
                                      <p:cBhvr>
                                        <p:cTn id="24" dur="58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2" name="Text Motion that supports the work">
            <a:extLst>
              <a:ext uri="{FF2B5EF4-FFF2-40B4-BE49-F238E27FC236}">
                <a16:creationId xmlns:a16="http://schemas.microsoft.com/office/drawing/2014/main" id="{FE559BE7-FF3B-A8C5-2126-FC8B99A80FEC}"/>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Motion that supports the work</a:t>
            </a:r>
          </a:p>
        </p:txBody>
      </p:sp>
      <p:sp>
        <p:nvSpPr>
          <p:cNvPr id="3" name="Text GreenBiz">
            <a:extLst>
              <a:ext uri="{FF2B5EF4-FFF2-40B4-BE49-F238E27FC236}">
                <a16:creationId xmlns:a16="http://schemas.microsoft.com/office/drawing/2014/main" id="{796FFC5C-E85E-127E-908E-BF4BB6353F0A}"/>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4" name="Text 22 / 25">
            <a:extLst>
              <a:ext uri="{FF2B5EF4-FFF2-40B4-BE49-F238E27FC236}">
                <a16:creationId xmlns:a16="http://schemas.microsoft.com/office/drawing/2014/main" id="{68EC97AF-67A3-30E2-678A-E778D9EC949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22 / 25</a:t>
            </a:r>
          </a:p>
        </p:txBody>
      </p:sp>
      <p:sp>
        <p:nvSpPr>
          <p:cNvPr id="5" name="Text Responsive feedback">
            <a:extLst>
              <a:ext uri="{FF2B5EF4-FFF2-40B4-BE49-F238E27FC236}">
                <a16:creationId xmlns:a16="http://schemas.microsoft.com/office/drawing/2014/main" id="{E2FFF4BE-116F-041E-BFA3-9A52AA85C966}"/>
              </a:ext>
            </a:extLst>
          </p:cNvPr>
          <p:cNvSpPr txBox="1"/>
          <p:nvPr/>
        </p:nvSpPr>
        <p:spPr>
          <a:xfrm>
            <a:off x="609600" y="19177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Responsive feedback</a:t>
            </a:r>
          </a:p>
        </p:txBody>
      </p:sp>
      <p:sp>
        <p:nvSpPr>
          <p:cNvPr id="6" name="Text Swipe checkout, spring sheets, clear succe">
            <a:extLst>
              <a:ext uri="{FF2B5EF4-FFF2-40B4-BE49-F238E27FC236}">
                <a16:creationId xmlns:a16="http://schemas.microsoft.com/office/drawing/2014/main" id="{CADB4865-09D3-4F8F-9F4F-66EA7DDC4F0F}"/>
              </a:ext>
            </a:extLst>
          </p:cNvPr>
          <p:cNvSpPr txBox="1"/>
          <p:nvPr/>
        </p:nvSpPr>
        <p:spPr>
          <a:xfrm>
            <a:off x="609600" y="2540000"/>
            <a:ext cx="6794500" cy="1397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Swipe checkout, spring sheets, clear success moments and gentle haptics.</a:t>
            </a:r>
          </a:p>
        </p:txBody>
      </p:sp>
      <p:sp>
        <p:nvSpPr>
          <p:cNvPr id="7" name="Text Readable movement">
            <a:extLst>
              <a:ext uri="{FF2B5EF4-FFF2-40B4-BE49-F238E27FC236}">
                <a16:creationId xmlns:a16="http://schemas.microsoft.com/office/drawing/2014/main" id="{65824B25-95D9-B5DD-4D92-5E3F1CAC295C}"/>
              </a:ext>
            </a:extLst>
          </p:cNvPr>
          <p:cNvSpPr txBox="1"/>
          <p:nvPr/>
        </p:nvSpPr>
        <p:spPr>
          <a:xfrm>
            <a:off x="609600" y="36830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Readable movement</a:t>
            </a:r>
          </a:p>
        </p:txBody>
      </p:sp>
      <p:sp>
        <p:nvSpPr>
          <p:cNvPr id="8" name="Text Staged entrances, animated counters, chart">
            <a:extLst>
              <a:ext uri="{FF2B5EF4-FFF2-40B4-BE49-F238E27FC236}">
                <a16:creationId xmlns:a16="http://schemas.microsoft.com/office/drawing/2014/main" id="{54F6BA24-7F6D-20EF-8196-D8AECF3BBDE5}"/>
              </a:ext>
            </a:extLst>
          </p:cNvPr>
          <p:cNvSpPr txBox="1"/>
          <p:nvPr/>
        </p:nvSpPr>
        <p:spPr>
          <a:xfrm>
            <a:off x="609600" y="4305300"/>
            <a:ext cx="6794500" cy="12827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Staged entrances, animated counters, chart reveals and stable navigation.</a:t>
            </a:r>
          </a:p>
        </p:txBody>
      </p:sp>
      <p:sp>
        <p:nvSpPr>
          <p:cNvPr id="9" name="Text User control">
            <a:extLst>
              <a:ext uri="{FF2B5EF4-FFF2-40B4-BE49-F238E27FC236}">
                <a16:creationId xmlns:a16="http://schemas.microsoft.com/office/drawing/2014/main" id="{101DEC4A-E775-04C0-706C-A3DA26E3DC7A}"/>
              </a:ext>
            </a:extLst>
          </p:cNvPr>
          <p:cNvSpPr txBox="1"/>
          <p:nvPr/>
        </p:nvSpPr>
        <p:spPr>
          <a:xfrm>
            <a:off x="609600" y="53467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User control</a:t>
            </a:r>
          </a:p>
        </p:txBody>
      </p:sp>
      <p:sp>
        <p:nvSpPr>
          <p:cNvPr id="10" name="Text Reduced motion and touch-feedback controls">
            <a:extLst>
              <a:ext uri="{FF2B5EF4-FFF2-40B4-BE49-F238E27FC236}">
                <a16:creationId xmlns:a16="http://schemas.microsoft.com/office/drawing/2014/main" id="{A6183963-6A13-E04F-8EB1-4472FE84B904}"/>
              </a:ext>
            </a:extLst>
          </p:cNvPr>
          <p:cNvSpPr txBox="1"/>
          <p:nvPr/>
        </p:nvSpPr>
        <p:spPr>
          <a:xfrm>
            <a:off x="609600" y="5969000"/>
            <a:ext cx="6794500" cy="762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Reduced motion and touch-feedback controls.</a:t>
            </a:r>
          </a:p>
        </p:txBody>
      </p:sp>
      <p:sp>
        <p:nvSpPr>
          <p:cNvPr id="11" name="Screen surround settings">
            <a:extLst>
              <a:ext uri="{FF2B5EF4-FFF2-40B4-BE49-F238E27FC236}">
                <a16:creationId xmlns:a16="http://schemas.microsoft.com/office/drawing/2014/main" id="{B44D5B01-9271-3547-DA82-97364DAA89EA}"/>
              </a:ext>
            </a:extLst>
          </p:cNvPr>
          <p:cNvSpPr/>
          <p:nvPr/>
        </p:nvSpPr>
        <p:spPr>
          <a:xfrm>
            <a:off x="8992472" y="1536700"/>
            <a:ext cx="2246156" cy="47498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App screen settings" descr="GreenBiz settings screen, fictional sample data">
            <a:extLst>
              <a:ext uri="{FF2B5EF4-FFF2-40B4-BE49-F238E27FC236}">
                <a16:creationId xmlns:a16="http://schemas.microsoft.com/office/drawing/2014/main" id="{BDEDB4A3-9A35-41A8-FD06-27FBD2C2DC4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043272" y="1587500"/>
            <a:ext cx="2144556" cy="4648200"/>
          </a:xfrm>
          <a:prstGeom prst="rect">
            <a:avLst/>
          </a:prstGeom>
        </p:spPr>
      </p:pic>
    </p:spTree>
    <p:extLst>
      <p:ext uri="{BB962C8B-B14F-4D97-AF65-F5344CB8AC3E}">
        <p14:creationId xmlns:p14="http://schemas.microsoft.com/office/powerpoint/2010/main" val="3890910616"/>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80"/>
                                        <p:tgtEl>
                                          <p:spTgt spid="5"/>
                                        </p:tgtEl>
                                      </p:cBhvr>
                                    </p:animEffect>
                                    <p:anim calcmode="lin" valueType="num">
                                      <p:cBhvr>
                                        <p:cTn id="13" dur="580" fill="hold"/>
                                        <p:tgtEl>
                                          <p:spTgt spid="5"/>
                                        </p:tgtEl>
                                        <p:attrNameLst>
                                          <p:attrName>ppt_x</p:attrName>
                                        </p:attrNameLst>
                                      </p:cBhvr>
                                      <p:tavLst>
                                        <p:tav tm="0">
                                          <p:val>
                                            <p:strVal val="#ppt_x"/>
                                          </p:val>
                                        </p:tav>
                                        <p:tav tm="100000">
                                          <p:val>
                                            <p:strVal val="#ppt_x"/>
                                          </p:val>
                                        </p:tav>
                                      </p:tavLst>
                                    </p:anim>
                                    <p:anim calcmode="lin" valueType="num">
                                      <p:cBhvr>
                                        <p:cTn id="14" dur="58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80"/>
                                        <p:tgtEl>
                                          <p:spTgt spid="6"/>
                                        </p:tgtEl>
                                      </p:cBhvr>
                                    </p:animEffect>
                                    <p:anim calcmode="lin" valueType="num">
                                      <p:cBhvr>
                                        <p:cTn id="18" dur="580" fill="hold"/>
                                        <p:tgtEl>
                                          <p:spTgt spid="6"/>
                                        </p:tgtEl>
                                        <p:attrNameLst>
                                          <p:attrName>ppt_x</p:attrName>
                                        </p:attrNameLst>
                                      </p:cBhvr>
                                      <p:tavLst>
                                        <p:tav tm="0">
                                          <p:val>
                                            <p:strVal val="#ppt_x"/>
                                          </p:val>
                                        </p:tav>
                                        <p:tav tm="100000">
                                          <p:val>
                                            <p:strVal val="#ppt_x"/>
                                          </p:val>
                                        </p:tav>
                                      </p:tavLst>
                                    </p:anim>
                                    <p:anim calcmode="lin" valueType="num">
                                      <p:cBhvr>
                                        <p:cTn id="19" dur="58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80"/>
                                        <p:tgtEl>
                                          <p:spTgt spid="7"/>
                                        </p:tgtEl>
                                      </p:cBhvr>
                                    </p:animEffect>
                                    <p:anim calcmode="lin" valueType="num">
                                      <p:cBhvr>
                                        <p:cTn id="25" dur="580" fill="hold"/>
                                        <p:tgtEl>
                                          <p:spTgt spid="7"/>
                                        </p:tgtEl>
                                        <p:attrNameLst>
                                          <p:attrName>ppt_x</p:attrName>
                                        </p:attrNameLst>
                                      </p:cBhvr>
                                      <p:tavLst>
                                        <p:tav tm="0">
                                          <p:val>
                                            <p:strVal val="#ppt_x"/>
                                          </p:val>
                                        </p:tav>
                                        <p:tav tm="100000">
                                          <p:val>
                                            <p:strVal val="#ppt_x"/>
                                          </p:val>
                                        </p:tav>
                                      </p:tavLst>
                                    </p:anim>
                                    <p:anim calcmode="lin" valueType="num">
                                      <p:cBhvr>
                                        <p:cTn id="26" dur="58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80"/>
                                        <p:tgtEl>
                                          <p:spTgt spid="8"/>
                                        </p:tgtEl>
                                      </p:cBhvr>
                                    </p:animEffect>
                                    <p:anim calcmode="lin" valueType="num">
                                      <p:cBhvr>
                                        <p:cTn id="30" dur="580" fill="hold"/>
                                        <p:tgtEl>
                                          <p:spTgt spid="8"/>
                                        </p:tgtEl>
                                        <p:attrNameLst>
                                          <p:attrName>ppt_x</p:attrName>
                                        </p:attrNameLst>
                                      </p:cBhvr>
                                      <p:tavLst>
                                        <p:tav tm="0">
                                          <p:val>
                                            <p:strVal val="#ppt_x"/>
                                          </p:val>
                                        </p:tav>
                                        <p:tav tm="100000">
                                          <p:val>
                                            <p:strVal val="#ppt_x"/>
                                          </p:val>
                                        </p:tav>
                                      </p:tavLst>
                                    </p:anim>
                                    <p:anim calcmode="lin" valueType="num">
                                      <p:cBhvr>
                                        <p:cTn id="31" dur="58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accel="15000" decel="2500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80"/>
                                        <p:tgtEl>
                                          <p:spTgt spid="9"/>
                                        </p:tgtEl>
                                      </p:cBhvr>
                                    </p:animEffect>
                                    <p:anim calcmode="lin" valueType="num">
                                      <p:cBhvr>
                                        <p:cTn id="37" dur="580" fill="hold"/>
                                        <p:tgtEl>
                                          <p:spTgt spid="9"/>
                                        </p:tgtEl>
                                        <p:attrNameLst>
                                          <p:attrName>ppt_x</p:attrName>
                                        </p:attrNameLst>
                                      </p:cBhvr>
                                      <p:tavLst>
                                        <p:tav tm="0">
                                          <p:val>
                                            <p:strVal val="#ppt_x"/>
                                          </p:val>
                                        </p:tav>
                                        <p:tav tm="100000">
                                          <p:val>
                                            <p:strVal val="#ppt_x"/>
                                          </p:val>
                                        </p:tav>
                                      </p:tavLst>
                                    </p:anim>
                                    <p:anim calcmode="lin" valueType="num">
                                      <p:cBhvr>
                                        <p:cTn id="38" dur="580" fill="hold"/>
                                        <p:tgtEl>
                                          <p:spTgt spid="9"/>
                                        </p:tgtEl>
                                        <p:attrNameLst>
                                          <p:attrName>ppt_y</p:attrName>
                                        </p:attrNameLst>
                                      </p:cBhvr>
                                      <p:tavLst>
                                        <p:tav tm="0">
                                          <p:val>
                                            <p:strVal val="#ppt_y+.1"/>
                                          </p:val>
                                        </p:tav>
                                        <p:tav tm="100000">
                                          <p:val>
                                            <p:strVal val="#ppt_y"/>
                                          </p:val>
                                        </p:tav>
                                      </p:tavLst>
                                    </p:anim>
                                  </p:childTnLst>
                                </p:cTn>
                              </p:par>
                              <p:par>
                                <p:cTn id="39" presetID="42" presetClass="entr" presetSubtype="0" accel="15000" decel="25000" fill="hold" grpId="0" nodeType="withEffect">
                                  <p:stCondLst>
                                    <p:cond delay="7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80"/>
                                        <p:tgtEl>
                                          <p:spTgt spid="10"/>
                                        </p:tgtEl>
                                      </p:cBhvr>
                                    </p:animEffect>
                                    <p:anim calcmode="lin" valueType="num">
                                      <p:cBhvr>
                                        <p:cTn id="42" dur="580" fill="hold"/>
                                        <p:tgtEl>
                                          <p:spTgt spid="10"/>
                                        </p:tgtEl>
                                        <p:attrNameLst>
                                          <p:attrName>ppt_x</p:attrName>
                                        </p:attrNameLst>
                                      </p:cBhvr>
                                      <p:tavLst>
                                        <p:tav tm="0">
                                          <p:val>
                                            <p:strVal val="#ppt_x"/>
                                          </p:val>
                                        </p:tav>
                                        <p:tav tm="100000">
                                          <p:val>
                                            <p:strVal val="#ppt_x"/>
                                          </p:val>
                                        </p:tav>
                                      </p:tavLst>
                                    </p:anim>
                                    <p:anim calcmode="lin" valueType="num">
                                      <p:cBhvr>
                                        <p:cTn id="43" dur="58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accel="15000" decel="25000" fill="hold"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800"/>
                                        <p:tgtEl>
                                          <p:spTgt spid="13"/>
                                        </p:tgtEl>
                                      </p:cBhvr>
                                    </p:animEffect>
                                    <p:animScale>
                                      <p:cBhvr>
                                        <p:cTn id="49" dur="800" fill="hold">
                                          <p:stCondLst>
                                            <p:cond delay="0"/>
                                          </p:stCondLst>
                                        </p:cTn>
                                        <p:tgtEl>
                                          <p:spTgt spid="13"/>
                                        </p:tgtEl>
                                      </p:cBhvr>
                                      <p:from x="96000" y="96000"/>
                                      <p:to x="100000" y="100000"/>
                                    </p:animScale>
                                  </p:childTnLst>
                                </p:cTn>
                              </p:par>
                              <p:par>
                                <p:cTn id="50" presetID="10" presetClass="entr" presetSubtype="0" accel="15000" decel="2500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8" grpId="0"/>
      <p:bldP spid="9" grpId="0"/>
      <p:bldP spid="10" grpId="0"/>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2" name="Text A global rollout built on a shared core">
            <a:extLst>
              <a:ext uri="{FF2B5EF4-FFF2-40B4-BE49-F238E27FC236}">
                <a16:creationId xmlns:a16="http://schemas.microsoft.com/office/drawing/2014/main" id="{59B4E9BF-D105-5DF0-D97B-D79ABAF39C1A}"/>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A global rollout built on a shared core</a:t>
            </a:r>
          </a:p>
        </p:txBody>
      </p:sp>
      <p:sp>
        <p:nvSpPr>
          <p:cNvPr id="3" name="Text GreenBiz">
            <a:extLst>
              <a:ext uri="{FF2B5EF4-FFF2-40B4-BE49-F238E27FC236}">
                <a16:creationId xmlns:a16="http://schemas.microsoft.com/office/drawing/2014/main" id="{F7C36AB7-E24E-6043-927D-2C2C27DFA61E}"/>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4" name="Text 23 / 25">
            <a:extLst>
              <a:ext uri="{FF2B5EF4-FFF2-40B4-BE49-F238E27FC236}">
                <a16:creationId xmlns:a16="http://schemas.microsoft.com/office/drawing/2014/main" id="{9C9293A5-5C9B-3363-2A1D-AA28E63B6D61}"/>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23 / 25</a:t>
            </a:r>
          </a:p>
        </p:txBody>
      </p:sp>
      <p:sp>
        <p:nvSpPr>
          <p:cNvPr id="5" name="Text 01">
            <a:extLst>
              <a:ext uri="{FF2B5EF4-FFF2-40B4-BE49-F238E27FC236}">
                <a16:creationId xmlns:a16="http://schemas.microsoft.com/office/drawing/2014/main" id="{2E70168C-177E-A076-9363-03F8BF6C5498}"/>
              </a:ext>
            </a:extLst>
          </p:cNvPr>
          <p:cNvSpPr txBox="1"/>
          <p:nvPr/>
        </p:nvSpPr>
        <p:spPr>
          <a:xfrm>
            <a:off x="609600" y="1943100"/>
            <a:ext cx="3302000" cy="9906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01</a:t>
            </a:r>
          </a:p>
        </p:txBody>
      </p:sp>
      <p:sp>
        <p:nvSpPr>
          <p:cNvPr id="6" name="Text Validate the core">
            <a:extLst>
              <a:ext uri="{FF2B5EF4-FFF2-40B4-BE49-F238E27FC236}">
                <a16:creationId xmlns:a16="http://schemas.microsoft.com/office/drawing/2014/main" id="{99150361-9C0B-6600-5D4C-D9DC5A839A88}"/>
              </a:ext>
            </a:extLst>
          </p:cNvPr>
          <p:cNvSpPr txBox="1"/>
          <p:nvPr/>
        </p:nvSpPr>
        <p:spPr>
          <a:xfrm>
            <a:off x="609600" y="3568700"/>
            <a:ext cx="3302000" cy="8890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Validate the core</a:t>
            </a:r>
          </a:p>
        </p:txBody>
      </p:sp>
      <p:sp>
        <p:nvSpPr>
          <p:cNvPr id="7" name="Text Physical-phone checks and a production rel">
            <a:extLst>
              <a:ext uri="{FF2B5EF4-FFF2-40B4-BE49-F238E27FC236}">
                <a16:creationId xmlns:a16="http://schemas.microsoft.com/office/drawing/2014/main" id="{4E47E947-5F26-7240-F3D2-5C208E7A15FD}"/>
              </a:ext>
            </a:extLst>
          </p:cNvPr>
          <p:cNvSpPr txBox="1"/>
          <p:nvPr/>
        </p:nvSpPr>
        <p:spPr>
          <a:xfrm>
            <a:off x="609600" y="4686300"/>
            <a:ext cx="3302000" cy="1295400"/>
          </a:xfrm>
          <a:prstGeom prst="rect">
            <a:avLst/>
          </a:prstGeom>
          <a:noFill/>
        </p:spPr>
        <p:txBody>
          <a:bodyPr vert="horz" wrap="square" lIns="0" tIns="0" rIns="0" bIns="0" rtlCol="0">
            <a:noAutofit/>
          </a:bodyPr>
          <a:lstStyle/>
          <a:p>
            <a:r>
              <a:rPr lang="en-US" sz="2200">
                <a:solidFill>
                  <a:srgbClr val="C2D3DE"/>
                </a:solidFill>
                <a:latin typeface="Segoe UI" panose="020B0502040204020203" pitchFamily="34" charset="0"/>
              </a:rPr>
              <a:t>Physical-phone checks and a production release process</a:t>
            </a:r>
          </a:p>
        </p:txBody>
      </p:sp>
      <p:cxnSp>
        <p:nvCxnSpPr>
          <p:cNvPr id="8" name="Straight Arrow Connector 7">
            <a:extLst>
              <a:ext uri="{FF2B5EF4-FFF2-40B4-BE49-F238E27FC236}">
                <a16:creationId xmlns:a16="http://schemas.microsoft.com/office/drawing/2014/main" id="{AE9B26A7-5640-232A-B8BE-77BEA28A27DF}"/>
              </a:ext>
            </a:extLst>
          </p:cNvPr>
          <p:cNvCxnSpPr/>
          <p:nvPr/>
        </p:nvCxnSpPr>
        <p:spPr>
          <a:xfrm>
            <a:off x="1943100" y="2616200"/>
            <a:ext cx="21971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Text 02">
            <a:extLst>
              <a:ext uri="{FF2B5EF4-FFF2-40B4-BE49-F238E27FC236}">
                <a16:creationId xmlns:a16="http://schemas.microsoft.com/office/drawing/2014/main" id="{3D6CDFB2-2F7F-AACF-4F84-502CBDC079C7}"/>
              </a:ext>
            </a:extLst>
          </p:cNvPr>
          <p:cNvSpPr txBox="1"/>
          <p:nvPr/>
        </p:nvSpPr>
        <p:spPr>
          <a:xfrm>
            <a:off x="4356100" y="1943100"/>
            <a:ext cx="3302000" cy="9906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02</a:t>
            </a:r>
          </a:p>
        </p:txBody>
      </p:sp>
      <p:sp>
        <p:nvSpPr>
          <p:cNvPr id="10" name="Text Adapt each market">
            <a:extLst>
              <a:ext uri="{FF2B5EF4-FFF2-40B4-BE49-F238E27FC236}">
                <a16:creationId xmlns:a16="http://schemas.microsoft.com/office/drawing/2014/main" id="{7D044D53-16CD-2A91-C0D9-65427B762D07}"/>
              </a:ext>
            </a:extLst>
          </p:cNvPr>
          <p:cNvSpPr txBox="1"/>
          <p:nvPr/>
        </p:nvSpPr>
        <p:spPr>
          <a:xfrm>
            <a:off x="4356100" y="3568700"/>
            <a:ext cx="3302000" cy="8890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Adapt each market</a:t>
            </a:r>
          </a:p>
        </p:txBody>
      </p:sp>
      <p:sp>
        <p:nvSpPr>
          <p:cNvPr id="11" name="Text Language, currency, calendar and payment f">
            <a:extLst>
              <a:ext uri="{FF2B5EF4-FFF2-40B4-BE49-F238E27FC236}">
                <a16:creationId xmlns:a16="http://schemas.microsoft.com/office/drawing/2014/main" id="{3D0E35A6-7653-F4B2-C733-E3B1528F3D17}"/>
              </a:ext>
            </a:extLst>
          </p:cNvPr>
          <p:cNvSpPr txBox="1"/>
          <p:nvPr/>
        </p:nvSpPr>
        <p:spPr>
          <a:xfrm>
            <a:off x="4356100" y="4686300"/>
            <a:ext cx="3302000" cy="1295400"/>
          </a:xfrm>
          <a:prstGeom prst="rect">
            <a:avLst/>
          </a:prstGeom>
          <a:noFill/>
        </p:spPr>
        <p:txBody>
          <a:bodyPr vert="horz" wrap="square" lIns="0" tIns="0" rIns="0" bIns="0" rtlCol="0">
            <a:noAutofit/>
          </a:bodyPr>
          <a:lstStyle/>
          <a:p>
            <a:r>
              <a:rPr lang="en-US" sz="2200">
                <a:solidFill>
                  <a:srgbClr val="C2D3DE"/>
                </a:solidFill>
                <a:latin typeface="Segoe UI" panose="020B0502040204020203" pitchFamily="34" charset="0"/>
              </a:rPr>
              <a:t>Language, currency, calendar and payment formats</a:t>
            </a:r>
          </a:p>
        </p:txBody>
      </p:sp>
      <p:cxnSp>
        <p:nvCxnSpPr>
          <p:cNvPr id="12" name="Straight Arrow Connector 11">
            <a:extLst>
              <a:ext uri="{FF2B5EF4-FFF2-40B4-BE49-F238E27FC236}">
                <a16:creationId xmlns:a16="http://schemas.microsoft.com/office/drawing/2014/main" id="{D5F29236-54E1-A15C-B2CE-F7360C2E3B81}"/>
              </a:ext>
            </a:extLst>
          </p:cNvPr>
          <p:cNvCxnSpPr/>
          <p:nvPr/>
        </p:nvCxnSpPr>
        <p:spPr>
          <a:xfrm>
            <a:off x="5689600" y="2616200"/>
            <a:ext cx="21971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Text 03">
            <a:extLst>
              <a:ext uri="{FF2B5EF4-FFF2-40B4-BE49-F238E27FC236}">
                <a16:creationId xmlns:a16="http://schemas.microsoft.com/office/drawing/2014/main" id="{F4D88FDB-3AFF-2792-589B-EC5E733E97E3}"/>
              </a:ext>
            </a:extLst>
          </p:cNvPr>
          <p:cNvSpPr txBox="1"/>
          <p:nvPr/>
        </p:nvSpPr>
        <p:spPr>
          <a:xfrm>
            <a:off x="8102600" y="1943100"/>
            <a:ext cx="3302000" cy="9906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03</a:t>
            </a:r>
          </a:p>
        </p:txBody>
      </p:sp>
      <p:sp>
        <p:nvSpPr>
          <p:cNvPr id="14" name="Text Connect institutions">
            <a:extLst>
              <a:ext uri="{FF2B5EF4-FFF2-40B4-BE49-F238E27FC236}">
                <a16:creationId xmlns:a16="http://schemas.microsoft.com/office/drawing/2014/main" id="{DB0A2F82-3C1B-18FA-83FE-CD44F90DB730}"/>
              </a:ext>
            </a:extLst>
          </p:cNvPr>
          <p:cNvSpPr txBox="1"/>
          <p:nvPr/>
        </p:nvSpPr>
        <p:spPr>
          <a:xfrm>
            <a:off x="8102600" y="3568700"/>
            <a:ext cx="3302000" cy="8890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Connect institutions</a:t>
            </a:r>
          </a:p>
        </p:txBody>
      </p:sp>
      <p:sp>
        <p:nvSpPr>
          <p:cNvPr id="15" name="Text Suitable partners, terms and consent-based">
            <a:extLst>
              <a:ext uri="{FF2B5EF4-FFF2-40B4-BE49-F238E27FC236}">
                <a16:creationId xmlns:a16="http://schemas.microsoft.com/office/drawing/2014/main" id="{0009F78C-F006-41F8-9716-B9C82C023323}"/>
              </a:ext>
            </a:extLst>
          </p:cNvPr>
          <p:cNvSpPr txBox="1"/>
          <p:nvPr/>
        </p:nvSpPr>
        <p:spPr>
          <a:xfrm>
            <a:off x="8102600" y="4686300"/>
            <a:ext cx="3302000" cy="1295400"/>
          </a:xfrm>
          <a:prstGeom prst="rect">
            <a:avLst/>
          </a:prstGeom>
          <a:noFill/>
        </p:spPr>
        <p:txBody>
          <a:bodyPr vert="horz" wrap="square" lIns="0" tIns="0" rIns="0" bIns="0" rtlCol="0">
            <a:noAutofit/>
          </a:bodyPr>
          <a:lstStyle/>
          <a:p>
            <a:r>
              <a:rPr lang="en-US" sz="2200">
                <a:solidFill>
                  <a:srgbClr val="C2D3DE"/>
                </a:solidFill>
                <a:latin typeface="Segoe UI" panose="020B0502040204020203" pitchFamily="34" charset="0"/>
              </a:rPr>
              <a:t>Suitable partners, terms and consent-based workflows</a:t>
            </a:r>
          </a:p>
        </p:txBody>
      </p:sp>
    </p:spTree>
    <p:extLst>
      <p:ext uri="{BB962C8B-B14F-4D97-AF65-F5344CB8AC3E}">
        <p14:creationId xmlns:p14="http://schemas.microsoft.com/office/powerpoint/2010/main" val="3009571572"/>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7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14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par>
                                <p:cTn id="19" presetID="22" presetClass="entr" presetSubtype="8" fill="hold" nodeType="withEffect">
                                  <p:stCondLst>
                                    <p:cond delay="21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par>
                                <p:cTn id="27" presetID="22" presetClass="entr" presetSubtype="8" fill="hold" grpId="0" nodeType="withEffect">
                                  <p:stCondLst>
                                    <p:cond delay="7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22" presetClass="entr" presetSubtype="8" fill="hold" grpId="0" nodeType="withEffect">
                                  <p:stCondLst>
                                    <p:cond delay="14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par>
                                <p:cTn id="33" presetID="22" presetClass="entr" presetSubtype="8" fill="hold" nodeType="withEffect">
                                  <p:stCondLst>
                                    <p:cond delay="21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par>
                                <p:cTn id="41" presetID="22" presetClass="entr" presetSubtype="8" fill="hold" grpId="0" nodeType="withEffect">
                                  <p:stCondLst>
                                    <p:cond delay="7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par>
                                <p:cTn id="44" presetID="22" presetClass="entr" presetSubtype="8" fill="hold" grpId="0" nodeType="withEffect">
                                  <p:stCondLst>
                                    <p:cond delay="140"/>
                                  </p:stCondLst>
                                  <p:childTnLst>
                                    <p:set>
                                      <p:cBhvr>
                                        <p:cTn id="45" dur="1" fill="hold">
                                          <p:stCondLst>
                                            <p:cond delay="0"/>
                                          </p:stCondLst>
                                        </p:cTn>
                                        <p:tgtEl>
                                          <p:spTgt spid="15"/>
                                        </p:tgtEl>
                                        <p:attrNameLst>
                                          <p:attrName>style.visibility</p:attrName>
                                        </p:attrNameLst>
                                      </p:cBhvr>
                                      <p:to>
                                        <p:strVal val="visible"/>
                                      </p:to>
                                    </p:set>
                                    <p:animEffect transition="in" filter="wipe(left)">
                                      <p:cBhvr>
                                        <p:cTn id="4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9" grpId="0"/>
      <p:bldP spid="10" grpId="0"/>
      <p:bldP spid="11" grpId="0"/>
      <p:bldP spid="13" grpId="0"/>
      <p:bldP spid="14" grpId="0"/>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2" name="Text The current release and next checks">
            <a:extLst>
              <a:ext uri="{FF2B5EF4-FFF2-40B4-BE49-F238E27FC236}">
                <a16:creationId xmlns:a16="http://schemas.microsoft.com/office/drawing/2014/main" id="{9DD90C18-3404-FAF1-2BEE-6A6B5F391014}"/>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The current release and next checks</a:t>
            </a:r>
          </a:p>
        </p:txBody>
      </p:sp>
      <p:sp>
        <p:nvSpPr>
          <p:cNvPr id="3" name="Text GreenBiz">
            <a:extLst>
              <a:ext uri="{FF2B5EF4-FFF2-40B4-BE49-F238E27FC236}">
                <a16:creationId xmlns:a16="http://schemas.microsoft.com/office/drawing/2014/main" id="{E8E5B8EE-4AA7-F446-BF9A-0D9D6ED0F2E9}"/>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4" name="Text 24 / 25">
            <a:extLst>
              <a:ext uri="{FF2B5EF4-FFF2-40B4-BE49-F238E27FC236}">
                <a16:creationId xmlns:a16="http://schemas.microsoft.com/office/drawing/2014/main" id="{FB3763F2-0282-87A6-B677-CBB09F91A88F}"/>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24 / 25</a:t>
            </a:r>
          </a:p>
        </p:txBody>
      </p:sp>
      <p:sp>
        <p:nvSpPr>
          <p:cNvPr id="5" name="Text 108">
            <a:extLst>
              <a:ext uri="{FF2B5EF4-FFF2-40B4-BE49-F238E27FC236}">
                <a16:creationId xmlns:a16="http://schemas.microsoft.com/office/drawing/2014/main" id="{30000CE6-5E93-750E-24D1-F4110465CB5A}"/>
              </a:ext>
            </a:extLst>
          </p:cNvPr>
          <p:cNvSpPr txBox="1"/>
          <p:nvPr/>
        </p:nvSpPr>
        <p:spPr>
          <a:xfrm>
            <a:off x="609600" y="1841500"/>
            <a:ext cx="3302000" cy="1244600"/>
          </a:xfrm>
          <a:prstGeom prst="rect">
            <a:avLst/>
          </a:prstGeom>
          <a:noFill/>
        </p:spPr>
        <p:txBody>
          <a:bodyPr vert="horz" wrap="square" lIns="0" tIns="0" rIns="0" bIns="0" rtlCol="0">
            <a:noAutofit/>
          </a:bodyPr>
          <a:lstStyle/>
          <a:p>
            <a:r>
              <a:rPr lang="en-US" sz="7100" b="1">
                <a:solidFill>
                  <a:srgbClr val="4EE6C0"/>
                </a:solidFill>
                <a:latin typeface="Segoe UI" panose="020B0502040204020203" pitchFamily="34" charset="0"/>
              </a:rPr>
              <a:t>1,037</a:t>
            </a:r>
          </a:p>
        </p:txBody>
      </p:sp>
      <p:sp>
        <p:nvSpPr>
          <p:cNvPr id="6" name="Text Unit and API tests">
            <a:extLst>
              <a:ext uri="{FF2B5EF4-FFF2-40B4-BE49-F238E27FC236}">
                <a16:creationId xmlns:a16="http://schemas.microsoft.com/office/drawing/2014/main" id="{86850B15-9F0F-000F-B749-C908ED3D60D8}"/>
              </a:ext>
            </a:extLst>
          </p:cNvPr>
          <p:cNvSpPr txBox="1"/>
          <p:nvPr/>
        </p:nvSpPr>
        <p:spPr>
          <a:xfrm>
            <a:off x="609600" y="3302000"/>
            <a:ext cx="3365500" cy="812800"/>
          </a:xfrm>
          <a:prstGeom prst="rect">
            <a:avLst/>
          </a:prstGeom>
          <a:noFill/>
        </p:spPr>
        <p:txBody>
          <a:bodyPr vert="horz" wrap="square" lIns="0" tIns="0" rIns="0" bIns="0" rtlCol="0">
            <a:noAutofit/>
          </a:bodyPr>
          <a:lstStyle/>
          <a:p>
            <a:r>
              <a:rPr lang="en-US" sz="2300" b="1">
                <a:solidFill>
                  <a:srgbClr val="F4F8FC"/>
                </a:solidFill>
                <a:latin typeface="Segoe UI" panose="020B0502040204020203" pitchFamily="34" charset="0"/>
              </a:rPr>
              <a:t>Unit and API tests</a:t>
            </a:r>
          </a:p>
        </p:txBody>
      </p:sp>
      <p:sp>
        <p:nvSpPr>
          <p:cNvPr id="7" name="Text 23">
            <a:extLst>
              <a:ext uri="{FF2B5EF4-FFF2-40B4-BE49-F238E27FC236}">
                <a16:creationId xmlns:a16="http://schemas.microsoft.com/office/drawing/2014/main" id="{8A06F192-7915-C0C8-F7BC-1424DA0A0A1B}"/>
              </a:ext>
            </a:extLst>
          </p:cNvPr>
          <p:cNvSpPr txBox="1"/>
          <p:nvPr/>
        </p:nvSpPr>
        <p:spPr>
          <a:xfrm>
            <a:off x="4356100" y="1841500"/>
            <a:ext cx="3302000" cy="1244600"/>
          </a:xfrm>
          <a:prstGeom prst="rect">
            <a:avLst/>
          </a:prstGeom>
          <a:noFill/>
        </p:spPr>
        <p:txBody>
          <a:bodyPr vert="horz" wrap="square" lIns="0" tIns="0" rIns="0" bIns="0" rtlCol="0">
            <a:noAutofit/>
          </a:bodyPr>
          <a:lstStyle/>
          <a:p>
            <a:r>
              <a:rPr lang="en-US" sz="7100" b="1">
                <a:solidFill>
                  <a:srgbClr val="4EE6C0"/>
                </a:solidFill>
                <a:latin typeface="Segoe UI" panose="020B0502040204020203" pitchFamily="34" charset="0"/>
              </a:rPr>
              <a:t>68</a:t>
            </a:r>
          </a:p>
        </p:txBody>
      </p:sp>
      <p:sp>
        <p:nvSpPr>
          <p:cNvPr id="8" name="Text Browser journeys">
            <a:extLst>
              <a:ext uri="{FF2B5EF4-FFF2-40B4-BE49-F238E27FC236}">
                <a16:creationId xmlns:a16="http://schemas.microsoft.com/office/drawing/2014/main" id="{5DF04F96-A31B-E304-FF59-8BFA7EEDE336}"/>
              </a:ext>
            </a:extLst>
          </p:cNvPr>
          <p:cNvSpPr txBox="1"/>
          <p:nvPr/>
        </p:nvSpPr>
        <p:spPr>
          <a:xfrm>
            <a:off x="4356100" y="3302000"/>
            <a:ext cx="3365500" cy="812800"/>
          </a:xfrm>
          <a:prstGeom prst="rect">
            <a:avLst/>
          </a:prstGeom>
          <a:noFill/>
        </p:spPr>
        <p:txBody>
          <a:bodyPr vert="horz" wrap="square" lIns="0" tIns="0" rIns="0" bIns="0" rtlCol="0">
            <a:noAutofit/>
          </a:bodyPr>
          <a:lstStyle/>
          <a:p>
            <a:r>
              <a:rPr lang="en-US" sz="2300" b="1">
                <a:solidFill>
                  <a:srgbClr val="F4F8FC"/>
                </a:solidFill>
                <a:latin typeface="Segoe UI" panose="020B0502040204020203" pitchFamily="34" charset="0"/>
              </a:rPr>
              <a:t>Browser journeys</a:t>
            </a:r>
          </a:p>
        </p:txBody>
      </p:sp>
      <p:sp>
        <p:nvSpPr>
          <p:cNvPr id="9" name="Text 4">
            <a:extLst>
              <a:ext uri="{FF2B5EF4-FFF2-40B4-BE49-F238E27FC236}">
                <a16:creationId xmlns:a16="http://schemas.microsoft.com/office/drawing/2014/main" id="{B6BCF1EA-2A0F-B19C-F66D-9B6BD9F297E5}"/>
              </a:ext>
            </a:extLst>
          </p:cNvPr>
          <p:cNvSpPr txBox="1"/>
          <p:nvPr/>
        </p:nvSpPr>
        <p:spPr>
          <a:xfrm>
            <a:off x="8102600" y="1841500"/>
            <a:ext cx="3302000" cy="1244600"/>
          </a:xfrm>
          <a:prstGeom prst="rect">
            <a:avLst/>
          </a:prstGeom>
          <a:noFill/>
        </p:spPr>
        <p:txBody>
          <a:bodyPr vert="horz" wrap="square" lIns="0" tIns="0" rIns="0" bIns="0" rtlCol="0">
            <a:noAutofit/>
          </a:bodyPr>
          <a:lstStyle/>
          <a:p>
            <a:r>
              <a:rPr lang="en-US" sz="7100" b="1">
                <a:solidFill>
                  <a:srgbClr val="4EE6C0"/>
                </a:solidFill>
                <a:latin typeface="Segoe UI" panose="020B0502040204020203" pitchFamily="34" charset="0"/>
              </a:rPr>
              <a:t>27</a:t>
            </a:r>
          </a:p>
        </p:txBody>
      </p:sp>
      <p:sp>
        <p:nvSpPr>
          <p:cNvPr id="10" name="Text Native SMS parser tests">
            <a:extLst>
              <a:ext uri="{FF2B5EF4-FFF2-40B4-BE49-F238E27FC236}">
                <a16:creationId xmlns:a16="http://schemas.microsoft.com/office/drawing/2014/main" id="{FF43CA43-D828-DDC3-D5AB-7790EDE5D1F8}"/>
              </a:ext>
            </a:extLst>
          </p:cNvPr>
          <p:cNvSpPr txBox="1"/>
          <p:nvPr/>
        </p:nvSpPr>
        <p:spPr>
          <a:xfrm>
            <a:off x="8102600" y="3302000"/>
            <a:ext cx="3365500" cy="812800"/>
          </a:xfrm>
          <a:prstGeom prst="rect">
            <a:avLst/>
          </a:prstGeom>
          <a:noFill/>
        </p:spPr>
        <p:txBody>
          <a:bodyPr vert="horz" wrap="square" lIns="0" tIns="0" rIns="0" bIns="0" rtlCol="0">
            <a:noAutofit/>
          </a:bodyPr>
          <a:lstStyle/>
          <a:p>
            <a:r>
              <a:rPr lang="en-US" sz="2300" b="1">
                <a:solidFill>
                  <a:srgbClr val="F4F8FC"/>
                </a:solidFill>
                <a:latin typeface="Segoe UI" panose="020B0502040204020203" pitchFamily="34" charset="0"/>
              </a:rPr>
              <a:t>Native SMS parser tests</a:t>
            </a:r>
          </a:p>
        </p:txBody>
      </p:sp>
      <p:sp>
        <p:nvSpPr>
          <p:cNvPr id="11" name="Text Latest documented build: 2.2.0, debug-sign">
            <a:extLst>
              <a:ext uri="{FF2B5EF4-FFF2-40B4-BE49-F238E27FC236}">
                <a16:creationId xmlns:a16="http://schemas.microsoft.com/office/drawing/2014/main" id="{440990FD-B5E0-9EF3-1BFA-2991D89C6C57}"/>
              </a:ext>
            </a:extLst>
          </p:cNvPr>
          <p:cNvSpPr txBox="1"/>
          <p:nvPr/>
        </p:nvSpPr>
        <p:spPr>
          <a:xfrm>
            <a:off x="609600" y="4610100"/>
            <a:ext cx="10972800" cy="876300"/>
          </a:xfrm>
          <a:prstGeom prst="rect">
            <a:avLst/>
          </a:prstGeom>
          <a:noFill/>
        </p:spPr>
        <p:txBody>
          <a:bodyPr vert="horz" wrap="square" lIns="0" tIns="0" rIns="0" bIns="0" rtlCol="0">
            <a:noAutofit/>
          </a:bodyPr>
          <a:lstStyle/>
          <a:p>
            <a:r>
              <a:rPr lang="en-US" sz="2500">
                <a:solidFill>
                  <a:srgbClr val="C2D3DE"/>
                </a:solidFill>
                <a:latin typeface="Segoe UI" panose="020B0502040204020203" pitchFamily="34" charset="0"/>
              </a:rPr>
              <a:t>Latest documented build: 2.2.0, debug-signed for internal testing</a:t>
            </a:r>
          </a:p>
        </p:txBody>
      </p:sp>
      <p:sp>
        <p:nvSpPr>
          <p:cNvPr id="12" name="Text Next: physical-device validation, release ">
            <a:extLst>
              <a:ext uri="{FF2B5EF4-FFF2-40B4-BE49-F238E27FC236}">
                <a16:creationId xmlns:a16="http://schemas.microsoft.com/office/drawing/2014/main" id="{22FE6FFE-ADA8-1208-911D-2270A36682AE}"/>
              </a:ext>
            </a:extLst>
          </p:cNvPr>
          <p:cNvSpPr txBox="1"/>
          <p:nvPr/>
        </p:nvSpPr>
        <p:spPr>
          <a:xfrm>
            <a:off x="609600" y="5765800"/>
            <a:ext cx="10972800" cy="596900"/>
          </a:xfrm>
          <a:prstGeom prst="rect">
            <a:avLst/>
          </a:prstGeom>
          <a:noFill/>
        </p:spPr>
        <p:txBody>
          <a:bodyPr vert="horz" wrap="square" lIns="0" tIns="0" rIns="0" bIns="0" rtlCol="0">
            <a:noAutofit/>
          </a:bodyPr>
          <a:lstStyle/>
          <a:p>
            <a:r>
              <a:rPr lang="en-US" sz="2400" b="1">
                <a:solidFill>
                  <a:srgbClr val="F4B84A"/>
                </a:solidFill>
                <a:latin typeface="Segoe UI" panose="020B0502040204020203" pitchFamily="34" charset="0"/>
              </a:rPr>
              <a:t>Next: physical-device validation, release signing and store preparation</a:t>
            </a:r>
          </a:p>
        </p:txBody>
      </p:sp>
    </p:spTree>
    <p:extLst>
      <p:ext uri="{BB962C8B-B14F-4D97-AF65-F5344CB8AC3E}">
        <p14:creationId xmlns:p14="http://schemas.microsoft.com/office/powerpoint/2010/main" val="2448573619"/>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800"/>
                                        <p:tgtEl>
                                          <p:spTgt spid="5"/>
                                        </p:tgtEl>
                                      </p:cBhvr>
                                    </p:animEffect>
                                    <p:animScale>
                                      <p:cBhvr>
                                        <p:cTn id="13" dur="800" fill="hold">
                                          <p:stCondLst>
                                            <p:cond delay="0"/>
                                          </p:stCondLst>
                                        </p:cTn>
                                        <p:tgtEl>
                                          <p:spTgt spid="5"/>
                                        </p:tgtEl>
                                      </p:cBhvr>
                                      <p:from x="96000" y="96000"/>
                                      <p:to x="100000" y="100000"/>
                                    </p:animScale>
                                  </p:childTnLst>
                                </p:cTn>
                              </p:par>
                              <p:par>
                                <p:cTn id="14" presetID="10" presetClass="entr" presetSubtype="0" accel="15000" decel="25000" fill="hold" grpId="0" nodeType="withEffect">
                                  <p:stCondLst>
                                    <p:cond delay="8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accel="15000" decel="2500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800"/>
                                        <p:tgtEl>
                                          <p:spTgt spid="7"/>
                                        </p:tgtEl>
                                      </p:cBhvr>
                                    </p:animEffect>
                                    <p:animScale>
                                      <p:cBhvr>
                                        <p:cTn id="22" dur="800" fill="hold">
                                          <p:stCondLst>
                                            <p:cond delay="0"/>
                                          </p:stCondLst>
                                        </p:cTn>
                                        <p:tgtEl>
                                          <p:spTgt spid="7"/>
                                        </p:tgtEl>
                                      </p:cBhvr>
                                      <p:from x="96000" y="96000"/>
                                      <p:to x="100000" y="100000"/>
                                    </p:animScale>
                                  </p:childTnLst>
                                </p:cTn>
                              </p:par>
                              <p:par>
                                <p:cTn id="23" presetID="10" presetClass="entr" presetSubtype="0" accel="15000" decel="25000" fill="hold" grpId="0" nodeType="withEffect">
                                  <p:stCondLst>
                                    <p:cond delay="8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accel="15000" decel="2500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800"/>
                                        <p:tgtEl>
                                          <p:spTgt spid="9"/>
                                        </p:tgtEl>
                                      </p:cBhvr>
                                    </p:animEffect>
                                    <p:animScale>
                                      <p:cBhvr>
                                        <p:cTn id="31" dur="800" fill="hold">
                                          <p:stCondLst>
                                            <p:cond delay="0"/>
                                          </p:stCondLst>
                                        </p:cTn>
                                        <p:tgtEl>
                                          <p:spTgt spid="9"/>
                                        </p:tgtEl>
                                      </p:cBhvr>
                                      <p:from x="96000" y="96000"/>
                                      <p:to x="100000" y="100000"/>
                                    </p:animScale>
                                  </p:childTnLst>
                                </p:cTn>
                              </p:par>
                              <p:par>
                                <p:cTn id="32" presetID="10" presetClass="entr" presetSubtype="0" accel="15000" decel="25000" fill="hold" grpId="0" nodeType="withEffect">
                                  <p:stCondLst>
                                    <p:cond delay="8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accel="15000" decel="2500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80"/>
                                        <p:tgtEl>
                                          <p:spTgt spid="11"/>
                                        </p:tgtEl>
                                      </p:cBhvr>
                                    </p:animEffect>
                                    <p:anim calcmode="lin" valueType="num">
                                      <p:cBhvr>
                                        <p:cTn id="40" dur="580" fill="hold"/>
                                        <p:tgtEl>
                                          <p:spTgt spid="11"/>
                                        </p:tgtEl>
                                        <p:attrNameLst>
                                          <p:attrName>ppt_x</p:attrName>
                                        </p:attrNameLst>
                                      </p:cBhvr>
                                      <p:tavLst>
                                        <p:tav tm="0">
                                          <p:val>
                                            <p:strVal val="#ppt_x"/>
                                          </p:val>
                                        </p:tav>
                                        <p:tav tm="100000">
                                          <p:val>
                                            <p:strVal val="#ppt_x"/>
                                          </p:val>
                                        </p:tav>
                                      </p:tavLst>
                                    </p:anim>
                                    <p:anim calcmode="lin" valueType="num">
                                      <p:cBhvr>
                                        <p:cTn id="41" dur="58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accel="15000" decel="2500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8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8" grpId="0"/>
      <p:bldP spid="9" grpId="0"/>
      <p:bldP spid="10" grpId="0"/>
      <p:bldP spid="11" grpId="0"/>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sp>
        <p:nvSpPr>
          <p:cNvPr id="2" name="Text GreenBiz">
            <a:extLst>
              <a:ext uri="{FF2B5EF4-FFF2-40B4-BE49-F238E27FC236}">
                <a16:creationId xmlns:a16="http://schemas.microsoft.com/office/drawing/2014/main" id="{4C3BC828-514D-ABCC-E515-BBAE90D2F2BE}"/>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3" name="Text 25 / 25">
            <a:extLst>
              <a:ext uri="{FF2B5EF4-FFF2-40B4-BE49-F238E27FC236}">
                <a16:creationId xmlns:a16="http://schemas.microsoft.com/office/drawing/2014/main" id="{D833D480-6E83-47C3-EA87-7D24128A5E1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25 / 25</a:t>
            </a:r>
          </a:p>
        </p:txBody>
      </p:sp>
      <p:sp>
        <p:nvSpPr>
          <p:cNvPr id="4" name="Text Every small business&#10;deserves a financial ">
            <a:extLst>
              <a:ext uri="{FF2B5EF4-FFF2-40B4-BE49-F238E27FC236}">
                <a16:creationId xmlns:a16="http://schemas.microsoft.com/office/drawing/2014/main" id="{023EBDFB-C9A0-B5C1-5B60-3102DF5D2A9A}"/>
              </a:ext>
            </a:extLst>
          </p:cNvPr>
          <p:cNvSpPr txBox="1"/>
          <p:nvPr/>
        </p:nvSpPr>
        <p:spPr>
          <a:xfrm>
            <a:off x="609600" y="1397000"/>
            <a:ext cx="10972800" cy="2070100"/>
          </a:xfrm>
          <a:prstGeom prst="rect">
            <a:avLst/>
          </a:prstGeom>
          <a:noFill/>
        </p:spPr>
        <p:txBody>
          <a:bodyPr vert="horz" wrap="square" lIns="0" tIns="0" rIns="0" bIns="0" rtlCol="0">
            <a:noAutofit/>
          </a:bodyPr>
          <a:lstStyle/>
          <a:p>
            <a:r>
              <a:rPr lang="en-US" sz="5600" b="1">
                <a:solidFill>
                  <a:srgbClr val="F4F8FC"/>
                </a:solidFill>
                <a:latin typeface="Segoe UI" panose="020B0502040204020203" pitchFamily="34" charset="0"/>
              </a:rPr>
              <a:t>Every small business</a:t>
            </a:r>
          </a:p>
          <a:p>
            <a:r>
              <a:rPr lang="en-US" sz="5600" b="1">
                <a:solidFill>
                  <a:srgbClr val="F4F8FC"/>
                </a:solidFill>
                <a:latin typeface="Segoe UI" panose="020B0502040204020203" pitchFamily="34" charset="0"/>
              </a:rPr>
              <a:t>deserves a financial history.</a:t>
            </a:r>
          </a:p>
        </p:txBody>
      </p:sp>
      <p:sp>
        <p:nvSpPr>
          <p:cNvPr id="5" name="Text GreenBiz builds it through everyday busine">
            <a:extLst>
              <a:ext uri="{FF2B5EF4-FFF2-40B4-BE49-F238E27FC236}">
                <a16:creationId xmlns:a16="http://schemas.microsoft.com/office/drawing/2014/main" id="{525D5987-8AC2-2890-F99B-3ED3A04DE93E}"/>
              </a:ext>
            </a:extLst>
          </p:cNvPr>
          <p:cNvSpPr txBox="1"/>
          <p:nvPr/>
        </p:nvSpPr>
        <p:spPr>
          <a:xfrm>
            <a:off x="673100" y="4279900"/>
            <a:ext cx="10414000" cy="1168400"/>
          </a:xfrm>
          <a:prstGeom prst="rect">
            <a:avLst/>
          </a:prstGeom>
          <a:noFill/>
        </p:spPr>
        <p:txBody>
          <a:bodyPr vert="horz" wrap="square" lIns="0" tIns="0" rIns="0" bIns="0" rtlCol="0">
            <a:noAutofit/>
          </a:bodyPr>
          <a:lstStyle/>
          <a:p>
            <a:r>
              <a:rPr lang="en-US" sz="3400" b="1">
                <a:solidFill>
                  <a:srgbClr val="4EE6C0"/>
                </a:solidFill>
                <a:latin typeface="Segoe UI" panose="020B0502040204020203" pitchFamily="34" charset="0"/>
              </a:rPr>
              <a:t>GreenBiz builds it through everyday business activity.</a:t>
            </a:r>
          </a:p>
        </p:txBody>
      </p:sp>
      <p:sp>
        <p:nvSpPr>
          <p:cNvPr id="6" name="Text The goal is better decisions today and a c">
            <a:extLst>
              <a:ext uri="{FF2B5EF4-FFF2-40B4-BE49-F238E27FC236}">
                <a16:creationId xmlns:a16="http://schemas.microsoft.com/office/drawing/2014/main" id="{A1CE764C-2939-7CCB-31A0-5A82CC4BAA3B}"/>
              </a:ext>
            </a:extLst>
          </p:cNvPr>
          <p:cNvSpPr txBox="1"/>
          <p:nvPr/>
        </p:nvSpPr>
        <p:spPr>
          <a:xfrm>
            <a:off x="673100" y="5778500"/>
            <a:ext cx="10414000" cy="622300"/>
          </a:xfrm>
          <a:prstGeom prst="rect">
            <a:avLst/>
          </a:prstGeom>
          <a:noFill/>
        </p:spPr>
        <p:txBody>
          <a:bodyPr vert="horz" wrap="square" lIns="0" tIns="0" rIns="0" bIns="0" rtlCol="0">
            <a:noAutofit/>
          </a:bodyPr>
          <a:lstStyle/>
          <a:p>
            <a:r>
              <a:rPr lang="en-US" sz="2300">
                <a:solidFill>
                  <a:srgbClr val="C2D3DE"/>
                </a:solidFill>
                <a:latin typeface="Segoe UI" panose="020B0502040204020203" pitchFamily="34" charset="0"/>
              </a:rPr>
              <a:t>The goal is better decisions today and a clearer path to financial inclusion.</a:t>
            </a:r>
          </a:p>
        </p:txBody>
      </p:sp>
    </p:spTree>
    <p:extLst>
      <p:ext uri="{BB962C8B-B14F-4D97-AF65-F5344CB8AC3E}">
        <p14:creationId xmlns:p14="http://schemas.microsoft.com/office/powerpoint/2010/main" val="2695748715"/>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animScale>
                                      <p:cBhvr>
                                        <p:cTn id="8" dur="800" fill="hold">
                                          <p:stCondLst>
                                            <p:cond delay="0"/>
                                          </p:stCondLst>
                                        </p:cTn>
                                        <p:tgtEl>
                                          <p:spTgt spid="4"/>
                                        </p:tgtEl>
                                      </p:cBhvr>
                                      <p:from x="96000" y="96000"/>
                                      <p:to x="100000" y="100000"/>
                                    </p:animScale>
                                  </p:childTnLst>
                                </p:cTn>
                              </p:par>
                            </p:childTnLst>
                          </p:cTn>
                        </p:par>
                      </p:childTnLst>
                    </p:cTn>
                  </p:par>
                  <p:par>
                    <p:cTn id="9" fill="hold">
                      <p:stCondLst>
                        <p:cond delay="indefinite"/>
                      </p:stCondLst>
                      <p:childTnLst>
                        <p:par>
                          <p:cTn id="10" fill="hold">
                            <p:stCondLst>
                              <p:cond delay="0"/>
                            </p:stCondLst>
                            <p:childTnLst>
                              <p:par>
                                <p:cTn id="11" presetID="42" presetClass="entr" presetSubtype="0" accel="15000" decel="2500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80"/>
                                        <p:tgtEl>
                                          <p:spTgt spid="5"/>
                                        </p:tgtEl>
                                      </p:cBhvr>
                                    </p:animEffect>
                                    <p:anim calcmode="lin" valueType="num">
                                      <p:cBhvr>
                                        <p:cTn id="14" dur="580" fill="hold"/>
                                        <p:tgtEl>
                                          <p:spTgt spid="5"/>
                                        </p:tgtEl>
                                        <p:attrNameLst>
                                          <p:attrName>ppt_x</p:attrName>
                                        </p:attrNameLst>
                                      </p:cBhvr>
                                      <p:tavLst>
                                        <p:tav tm="0">
                                          <p:val>
                                            <p:strVal val="#ppt_x"/>
                                          </p:val>
                                        </p:tav>
                                        <p:tav tm="100000">
                                          <p:val>
                                            <p:strVal val="#ppt_x"/>
                                          </p:val>
                                        </p:tav>
                                      </p:tavLst>
                                    </p:anim>
                                    <p:anim calcmode="lin" valueType="num">
                                      <p:cBhvr>
                                        <p:cTn id="15" dur="58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accel="15000" decel="2500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8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4129</Words>
  <Application>Microsoft Office PowerPoint</Application>
  <DocSecurity>0</DocSecurity>
  <PresentationFormat>Widescreen</PresentationFormat>
  <Paragraphs>315</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Aptos</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Nobita Nobi</cp:lastModifiedBy>
  <cp:revision>2</cp:revision>
  <dcterms:created xsi:type="dcterms:W3CDTF">2026-10-19T10:31:41Z</dcterms:created>
  <dcterms:modified xsi:type="dcterms:W3CDTF">2026-10-19T12:48:48Z</dcterms:modified>
</cp:coreProperties>
</file>